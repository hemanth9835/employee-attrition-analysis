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slides/charts/chart1.xml" ContentType="application/vnd.openxmlformats-officedocument.drawingml.chart+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2.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3.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fcc649ddc454c91" /><Relationship Type="http://schemas.openxmlformats.org/officeDocument/2006/relationships/extended-properties" Target="/docProps/app.xml" Id="Rdafa482e6e6a4de5" /><Relationship Type="http://schemas.openxmlformats.org/officeDocument/2006/relationships/officeDocument" Target="/ppt/presentation.xml" Id="R1a84b593669443d1" /></Relationships>
</file>

<file path=ppt/presentation.xml><?xml version="1.0" encoding="utf-8"?>
<p:presentation xmlns:p="http://schemas.openxmlformats.org/presentationml/2006/main">
  <p:sldMasterIdLst>
    <p:sldMasterId xmlns:r="http://schemas.openxmlformats.org/officeDocument/2006/relationships" id="2147483648" r:id="Rcfb7ab6577cc4b13"/>
  </p:sldMasterIdLst>
  <p:notesMasterIdLst>
    <p:notesMasterId xmlns:r="http://schemas.openxmlformats.org/officeDocument/2006/relationships" r:id="R0157295185e54954"/>
  </p:notesMasterIdLst>
  <p:sldIdLst>
    <p:sldId xmlns:r="http://schemas.openxmlformats.org/officeDocument/2006/relationships" id="256" r:id="R8eb964a9839e47fb"/>
    <p:sldId xmlns:r="http://schemas.openxmlformats.org/officeDocument/2006/relationships" id="257" r:id="Rb119b562a5fe454d"/>
    <p:sldId xmlns:r="http://schemas.openxmlformats.org/officeDocument/2006/relationships" id="258" r:id="R7ad909628d7947aa"/>
    <p:sldId xmlns:r="http://schemas.openxmlformats.org/officeDocument/2006/relationships" id="259" r:id="Ra9c9a218c3a1416e"/>
    <p:sldId xmlns:r="http://schemas.openxmlformats.org/officeDocument/2006/relationships" id="260" r:id="Rf14d51fc596144cd"/>
    <p:sldId xmlns:r="http://schemas.openxmlformats.org/officeDocument/2006/relationships" id="261" r:id="Re5f8c8c6e1684195"/>
    <p:sldId xmlns:r="http://schemas.openxmlformats.org/officeDocument/2006/relationships" id="262" r:id="R95cc86bfdc56442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47f42f2e1644395" /><Relationship Type="http://schemas.openxmlformats.org/officeDocument/2006/relationships/slideMaster" Target="/ppt/slideMasters/slideMaster1.xml" Id="Rcfb7ab6577cc4b13" /><Relationship Type="http://schemas.openxmlformats.org/officeDocument/2006/relationships/notesMaster" Target="/ppt/notesMasters/notesMaster1.xml" Id="R0157295185e54954" /><Relationship Type="http://schemas.openxmlformats.org/officeDocument/2006/relationships/presProps" Target="/ppt/presProps.xml" Id="Rab3b02a36f8d4aee" /><Relationship Type="http://schemas.openxmlformats.org/officeDocument/2006/relationships/tableStyles" Target="/ppt/tableStyles.xml" Id="Rc1fac9252cca4ab2" /><Relationship Type="http://schemas.openxmlformats.org/officeDocument/2006/relationships/slide" Target="/ppt/slides/slide1.xml" Id="R8eb964a9839e47fb" /><Relationship Type="http://schemas.openxmlformats.org/officeDocument/2006/relationships/slide" Target="/ppt/slides/slide2.xml" Id="Rb119b562a5fe454d" /><Relationship Type="http://schemas.openxmlformats.org/officeDocument/2006/relationships/slide" Target="/ppt/slides/slide3.xml" Id="R7ad909628d7947aa" /><Relationship Type="http://schemas.openxmlformats.org/officeDocument/2006/relationships/slide" Target="/ppt/slides/slide4.xml" Id="Ra9c9a218c3a1416e" /><Relationship Type="http://schemas.openxmlformats.org/officeDocument/2006/relationships/slide" Target="/ppt/slides/slide5.xml" Id="Rf14d51fc596144cd" /><Relationship Type="http://schemas.openxmlformats.org/officeDocument/2006/relationships/slide" Target="/ppt/slides/slide6.xml" Id="Re5f8c8c6e1684195" /><Relationship Type="http://schemas.openxmlformats.org/officeDocument/2006/relationships/slide" Target="/ppt/slides/slide7.xml" Id="R95cc86bfdc56442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a609b4eb2944fa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b079efc4cc04f5d" /><Relationship Type="http://schemas.openxmlformats.org/officeDocument/2006/relationships/notesMaster" Target="/ppt/notesMasters/notesMaster1.xml" Id="Ra1d994377ebf497b" /></Relationships>
</file>

<file path=ppt/notesSlides/_rels/notesSlide2.xml.rels>&#65279;<?xml version="1.0" encoding="utf-8"?><Relationships xmlns="http://schemas.openxmlformats.org/package/2006/relationships"><Relationship Type="http://schemas.openxmlformats.org/officeDocument/2006/relationships/slide" Target="/ppt/slides/slide2.xml" Id="R2e19f7981dab485f" /><Relationship Type="http://schemas.openxmlformats.org/officeDocument/2006/relationships/notesMaster" Target="/ppt/notesMasters/notesMaster1.xml" Id="R345a83eea96c4d43" /></Relationships>
</file>

<file path=ppt/notesSlides/_rels/notesSlide3.xml.rels>&#65279;<?xml version="1.0" encoding="utf-8"?><Relationships xmlns="http://schemas.openxmlformats.org/package/2006/relationships"><Relationship Type="http://schemas.openxmlformats.org/officeDocument/2006/relationships/slide" Target="/ppt/slides/slide3.xml" Id="Re7a968dba75a416e" /><Relationship Type="http://schemas.openxmlformats.org/officeDocument/2006/relationships/notesMaster" Target="/ppt/notesMasters/notesMaster1.xml" Id="R268671f1179e445a" /></Relationships>
</file>

<file path=ppt/notesSlides/_rels/notesSlide4.xml.rels>&#65279;<?xml version="1.0" encoding="utf-8"?><Relationships xmlns="http://schemas.openxmlformats.org/package/2006/relationships"><Relationship Type="http://schemas.openxmlformats.org/officeDocument/2006/relationships/slide" Target="/ppt/slides/slide4.xml" Id="R5e34bc4fd7284e9b" /><Relationship Type="http://schemas.openxmlformats.org/officeDocument/2006/relationships/notesMaster" Target="/ppt/notesMasters/notesMaster1.xml" Id="Rae9b15821aca4a41" /></Relationships>
</file>

<file path=ppt/notesSlides/_rels/notesSlide5.xml.rels>&#65279;<?xml version="1.0" encoding="utf-8"?><Relationships xmlns="http://schemas.openxmlformats.org/package/2006/relationships"><Relationship Type="http://schemas.openxmlformats.org/officeDocument/2006/relationships/slide" Target="/ppt/slides/slide5.xml" Id="Ra7dfa176a79842ab" /><Relationship Type="http://schemas.openxmlformats.org/officeDocument/2006/relationships/notesMaster" Target="/ppt/notesMasters/notesMaster1.xml" Id="R800da7da5ed44ba1" /></Relationships>
</file>

<file path=ppt/notesSlides/_rels/notesSlide6.xml.rels>&#65279;<?xml version="1.0" encoding="utf-8"?><Relationships xmlns="http://schemas.openxmlformats.org/package/2006/relationships"><Relationship Type="http://schemas.openxmlformats.org/officeDocument/2006/relationships/slide" Target="/ppt/slides/slide6.xml" Id="R305ee5af051644c7" /><Relationship Type="http://schemas.openxmlformats.org/officeDocument/2006/relationships/notesMaster" Target="/ppt/notesMasters/notesMaster1.xml" Id="R71c974f30e2a4d5a" /></Relationships>
</file>

<file path=ppt/notesSlides/_rels/notesSlide7.xml.rels>&#65279;<?xml version="1.0" encoding="utf-8"?><Relationships xmlns="http://schemas.openxmlformats.org/package/2006/relationships"><Relationship Type="http://schemas.openxmlformats.org/officeDocument/2006/relationships/slide" Target="/ppt/slides/slide7.xml" Id="Rd7dbc11819924f45" /><Relationship Type="http://schemas.openxmlformats.org/officeDocument/2006/relationships/notesMaster" Target="/ppt/notesMasters/notesMaster1.xml" Id="R9f3b13ce6653434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Business objective: rank attrition risk and choose a review policy that HR can support. Observed prevalence after deduplication: 817/5000 = 16.34%. No monetary benefit or prevented attrition has been measured. Employee support requires human judgment.</a:t>
            </a:r>
          </a:p>
          <a:p xmlns:a="http://schemas.openxmlformats.org/drawingml/2006/main">
            <a:r>
              <a:t>Sources: 02_Feature_Engineering_and_Preprocessing.ipynb, split summary and raw data audit. Final policy results are shown on slide 7.</a:t>
            </a:r>
          </a:p>
          <a:p xmlns:a="http://schemas.openxmlformats.org/drawingml/2006/main">
            <a:r>
              <a:t/>
            </a:r>
          </a:p>
          <a:p xmlns:a="http://schemas.openxmlformats.org/drawingml/2006/main">
            <a:r>
              <a:t>Data source: Kaggle, yangjiu/employee-attrition-early-warning-dataset. https://www.kaggle.com/datasets/yangjiu/employee-attrition-early-warning-dataset/data</a:t>
            </a:r>
          </a:p>
          <a:p xmlns:a="http://schemas.openxmlformats.org/drawingml/2006/main">
            <a:r>
              <a:t>Project root: E:/Praxis/Term 3/AAB/</a:t>
            </a:r>
          </a:p>
          <a:p xmlns:a="http://schemas.openxmlformats.org/drawingml/2006/main">
            <a:r>
              <a:t/>
            </a:r>
          </a:p>
          <a:p xmlns:a="http://schemas.openxmlformats.org/drawingml/2006/main">
            <a:r>
              <a:t>Class balance chart: 4183 stayers and 817 leavers after removing exact duplicates. 4183/5000=83.66%. An all-stay classifier would achieve83.66% accuracy while detecting no leavers. Source: 02_Feature_Engineering_and_Preprocessing.ipynb.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Raw data has 5030 rows and 27 columns. Thirty exact duplicates are removed before modelling. 5000 unique employees, 25 predictors, six categorical and nineteen numerical columns. Raw missing predictor values total 377 and deduplicated missing values total 373. No missing employee ID or target.</a:t>
            </a:r>
          </a:p>
          <a:p xmlns:a="http://schemas.openxmlformats.org/drawingml/2006/main">
            <a:r>
              <a:t>Stratified train/validation/test split: train 3000 (490 attrition), validation 1000 (164), test 1000 (163). Numeric median imputation, nominal Missing category and ordinal mode imputation. LR and NN numeric/ordinal columns are standardised; one-hot values remain 0/1. Trees use unscaled inputs.</a:t>
            </a:r>
          </a:p>
          <a:p xmlns:a="http://schemas.openxmlformats.org/drawingml/2006/main">
            <a:r>
              <a:t>Four notebooks implement the illustrated process. 02 saves separate processed CSVs for linear/NN and tree experiments. Pipeline preprocessing is refitted within each CV fold to prevent leakage. Full one-hot 43 columns, reference encoding 39.</a:t>
            </a:r>
          </a:p>
          <a:p xmlns:a="http://schemas.openxmlformats.org/drawingml/2006/main">
            <a:r>
              <a:t>Sources: 01_EDA.ipynb and 02_Feature_Engineering_and_Preprocessing.ipynb.</a:t>
            </a:r>
          </a:p>
          <a:p xmlns:a="http://schemas.openxmlformats.org/drawingml/2006/main">
            <a:r>
              <a:t/>
            </a:r>
          </a:p>
          <a:p xmlns:a="http://schemas.openxmlformats.org/drawingml/2006/main">
            <a:r>
              <a:t>Data source: Kaggle, yangjiu/employee-attrition-early-warning-dataset. https://www.kaggle.com/datasets/yangjiu/employee-attrition-early-warning-dataset/data</a:t>
            </a:r>
          </a:p>
          <a:p xmlns:a="http://schemas.openxmlformats.org/drawingml/2006/main">
            <a:r>
              <a:t>Project root: E:/Praxis/Term 3/AAB/</a:t>
            </a:r>
          </a:p>
          <a:p xmlns:a="http://schemas.openxmlformats.org/drawingml/2006/main">
            <a:r>
              <a:t/>
            </a:r>
          </a:p>
          <a:p xmlns:a="http://schemas.openxmlformats.org/drawingml/2006/main">
            <a:r>
              <a:t>Leavers by stratified split: train490 of3000, validation164 of1000, test163 of1000. Source: fixed split audit in 02_Feature_Engineering_and_Preprocessing.ipynb.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Historical statistical tests were calculated on 5030 raw rows, including 30 exact duplicates, with missing observations excluded per test. This is retained to accurately represent the original EDA. Modelling subsequently uses 5000 deduplicated rows. Duplicates and unverified assumptions limit inference. Holm correction covers the family of eight tests.</a:t>
            </a:r>
          </a:p>
          <a:p xmlns:a="http://schemas.openxmlformats.org/drawingml/2006/main">
            <a:r>
              <a:t>Complete eight-test results, statistic / raw p / adjusted p:</a:t>
            </a:r>
          </a:p>
          <a:p xmlns:a="http://schemas.openxmlformats.org/drawingml/2006/main">
            <a:r>
              <a:t>One-sample overtime among leavers against 20: -10.4626873957 / 3.94852995e-24 / 2.763970965e-23.</a:t>
            </a:r>
          </a:p>
          <a:p xmlns:a="http://schemas.openxmlformats.org/drawingml/2006/main">
            <a:r>
              <a:t>One-sample tenure among leavers against 3: -33.3660435471 / 1.236244934e-154 / 9.889959469e-154.</a:t>
            </a:r>
          </a:p>
          <a:p xmlns:a="http://schemas.openxmlformats.org/drawingml/2006/main">
            <a:r>
              <a:t>Welch salary, stayed minus left: 6.2350885252 / 6.202360045e-10 / 3.101180022e-09. Means stayed 14875.87 and left 13224.36, in dataset salary units.</a:t>
            </a:r>
          </a:p>
          <a:p xmlns:a="http://schemas.openxmlformats.org/drawingml/2006/main">
            <a:r>
              <a:t>Welch overtime, stayed minus left: -2.7198664743 / .0066387442 / .0132774884. Means stayed 12.60 and left 14.21 hours.</a:t>
            </a:r>
          </a:p>
          <a:p xmlns:a="http://schemas.openxmlformats.org/drawingml/2006/main">
            <a:r>
              <a:t>Chi-square department vs attrition: 10.653418775, df7 / .1544674403 / .1544674403. Cramer V .046.</a:t>
            </a:r>
          </a:p>
          <a:p xmlns:a="http://schemas.openxmlformats.org/drawingml/2006/main">
            <a:r>
              <a:t>Chi-square travel vs attrition: 16.42565802, df2 / .000271152542 / .000813457626. Cramer V .057.</a:t>
            </a:r>
          </a:p>
          <a:p xmlns:a="http://schemas.openxmlformats.org/drawingml/2006/main">
            <a:r>
              <a:t>ANOVA leavers salary by department: 5.872158764 / 1.147676988e-06 / 4.590707951e-06.</a:t>
            </a:r>
          </a:p>
          <a:p xmlns:a="http://schemas.openxmlformats.org/drawingml/2006/main">
            <a:r>
              <a:t>ANOVA leavers overtime by department: 11.779322976 / 2.471137215e-14 / 1.482682329e-13. ANOVA is conditional on attrition and does not test whether department causes exits.</a:t>
            </a:r>
          </a:p>
          <a:p xmlns:a="http://schemas.openxmlformats.org/drawingml/2006/main">
            <a:r>
              <a:t>Source: original AAB26_HRA_Assignment_Hemanth_Kumar_Akunuri.ipynb, hypothesis-test cell, and 01_EDA.ipynb.</a:t>
            </a:r>
          </a:p>
          <a:p xmlns:a="http://schemas.openxmlformats.org/drawingml/2006/main">
            <a:r>
              <a:t/>
            </a:r>
          </a:p>
          <a:p xmlns:a="http://schemas.openxmlformats.org/drawingml/2006/main">
            <a:r>
              <a:t>Data source: Kaggle, yangjiu/employee-attrition-early-warning-dataset. https://www.kaggle.com/datasets/yangjiu/employee-attrition-early-warning-dataset/data</a:t>
            </a:r>
          </a:p>
          <a:p xmlns:a="http://schemas.openxmlformats.org/drawingml/2006/main">
            <a:r>
              <a:t>Project root: E:/Praxis/Term 3/AAB/</a:t>
            </a:r>
          </a:p>
          <a:p xmlns:a="http://schemas.openxmlformats.org/drawingml/2006/main">
            <a:r>
              <a:t/>
            </a:r>
          </a:p>
          <a:p xmlns:a="http://schemas.openxmlformats.org/drawingml/2006/main">
            <a:r>
              <a:t>Effect size alongside hypothesis tests: Cramer V .057 for travel and .046 for department. These are weak associations, so significance alone does not establish strong practical or causal impact. Source: hypothesis-test EDA.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03_Modelling_and_Experiments.ipynb, feature importance, GVIF omnibus tests, regularised logistic ablations, engineered feature and removal experiments.</a:t>
            </a:r>
          </a:p>
          <a:p xmlns:a="http://schemas.openxmlformats.org/drawingml/2006/main">
            <a:r>
              <a:t>Permutation importance: job_satisfaction mean AP drop .0187 std .0073; salary .0141 std .0059; env_satisfaction .0098 std .0186; salary_hike_pct .0094 std .0046. These are permutation AP decreases, not impurity shares or causal importance. Environment importance was variable.</a:t>
            </a:r>
          </a:p>
          <a:p xmlns:a="http://schemas.openxmlformats.org/drawingml/2006/main">
            <a:r>
              <a:t>Maximum individual VIF 31.44 for Junior job level, salary VIF 19.45. Salary adjusted GVIF 4.410, job level adjusted GVIF 1.317 (df5). Omnibus training GLM: job level LR 8.6375 df5 p .1244, salary LR 1.2413 df1 p .2652, both LR 28.3306 df6 p about .0001. Joint evidence and prediction results do not support dropping both just because individual tests are weak.</a:t>
            </a:r>
          </a:p>
          <a:p xmlns:a="http://schemas.openxmlformats.org/drawingml/2006/main">
            <a:r>
              <a:t>Ridge ablation: all CV AP .326, validation .292; without salary .326/.294; without job level .328/.292; without both .318/.280.</a:t>
            </a:r>
          </a:p>
          <a:p xmlns:a="http://schemas.openxmlformats.org/drawingml/2006/main">
            <a:r>
              <a:t>Dissatisfaction interactions CV AP change +.0011, validation AP change -.0028. Dropping gender/work_life_balance/num_companies raised CV AP .3262 to .3306 but validation only .2916 to .2925. Removing job/environment satisfaction hurt all five CV folds.</a:t>
            </a:r>
          </a:p>
          <a:p xmlns:a="http://schemas.openxmlformats.org/drawingml/2006/main">
            <a:r>
              <a:t>NN original/reference CV AP .3039 versus engineered .2559. Both validation AP about .2895. Engineering kept original predictors and added two dissatisfaction interactions plus relative salary. Ensemble validation AP .2964 but no uniform precision-recall dominance. Final models use original predictors with reference encoding, 39 inputs.</a:t>
            </a:r>
          </a:p>
          <a:p xmlns:a="http://schemas.openxmlformats.org/drawingml/2006/main">
            <a:r>
              <a:t/>
            </a:r>
          </a:p>
          <a:p xmlns:a="http://schemas.openxmlformats.org/drawingml/2006/main">
            <a:r>
              <a:t>Data source: Kaggle, yangjiu/employee-attrition-early-warning-dataset. https://www.kaggle.com/datasets/yangjiu/employee-attrition-early-warning-dataset/data</a:t>
            </a:r>
          </a:p>
          <a:p xmlns:a="http://schemas.openxmlformats.org/drawingml/2006/main">
            <a:r>
              <a:t>Project root: E:/Praxis/Term 3/AAB/</a:t>
            </a:r>
          </a:p>
          <a:p xmlns:a="http://schemas.openxmlformats.org/drawingml/2006/main">
            <a:r>
              <a:t/>
            </a:r>
          </a:p>
          <a:p xmlns:a="http://schemas.openxmlformats.org/drawingml/2006/main">
            <a:r>
              <a:t>Feature engineering validation table from fresh_tables/feature_comparison.csv: L2 baseline CV .3261701383/validation .2915942119, dissatisfaction interactions .3272683983/.2887874604, relative salary added .3261842833/.2913403108. Original predictors remain in these additive variants.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attrition/artifacts/execution_audit/fresh_tables/validation_comparison.csv, tuned_comparison.csv, and execution_audit/03_Modelling_and_Experiments.ipynb.json. Initial baseline and initial tuned comparisons share their initial preprocessing. Later reference-encoding/focused results are separate and shown on slide 6.</a:t>
            </a:r>
          </a:p>
          <a:p xmlns:a="http://schemas.openxmlformats.org/drawingml/2006/main">
            <a:r>
              <a:t>Baseline CV AP: Dummy .163, LR .326, DT .179, RF .307. Initial tuned CV AP LR .3298757003, DT .2543637657, RF .3199139030.</a:t>
            </a:r>
          </a:p>
          <a:p xmlns:a="http://schemas.openxmlformats.org/drawingml/2006/main">
            <a:r>
              <a:t>Validation baseline to tuned: LR .292104 to .296830 (+.004726), DT .175532 to .244880 (+.069348), RF .250871 to .266345 (+.015474). Baseline dummy .164.</a:t>
            </a:r>
          </a:p>
          <a:p xmlns:a="http://schemas.openxmlformats.org/drawingml/2006/main">
            <a:r>
              <a:t>Whole search cell wall times from latest sequential notebook run: LR 49.340s, DT 11.823s, RF 93.659s. Search budgets differ, so wall time is descriptive rather than a controlled efficiency ranking. LR42*5 fits, DT24*5, RF16*5, plus refits.</a:t>
            </a:r>
          </a:p>
          <a:p xmlns:a="http://schemas.openxmlformats.org/drawingml/2006/main">
            <a:r>
              <a:t>Selected initial LR C=.1, penalty elasticnet, l1_ratio=.25, solver=saga, class_weight=None. DT max_depth=3, min_samples_leaf=50, class_weight=None. RF n_estimators=200, max_depth=5, min_samples_leaf=15, max_features=.5, class_weight=balanced_subsample.</a:t>
            </a:r>
          </a:p>
          <a:p xmlns:a="http://schemas.openxmlformats.org/drawingml/2006/main">
            <a:r>
              <a:t>Benefits: constraints strongly reduce tree overfitting and improve held-out ranking. Tuning gives smaller LR AP gain. AP evaluates ranking across precision/recall thresholds, which matters with imbalanced attrition. These validation results do not guarantee production retention gains.</a:t>
            </a:r>
          </a:p>
          <a:p xmlns:a="http://schemas.openxmlformats.org/drawingml/2006/main">
            <a:r>
              <a:t/>
            </a:r>
          </a:p>
          <a:p xmlns:a="http://schemas.openxmlformats.org/drawingml/2006/main">
            <a:r>
              <a:t>Data source: Kaggle, yangjiu/employee-attrition-early-warning-dataset. https://www.kaggle.com/datasets/yangjiu/employee-attrition-early-warning-dataset/data</a:t>
            </a:r>
          </a:p>
          <a:p xmlns:a="http://schemas.openxmlformats.org/drawingml/2006/main">
            <a:r>
              <a:t>Project root: E:/Praxis/Term 3/AAB/</a:t>
            </a:r>
          </a:p>
          <a:p xmlns:a="http://schemas.openxmlformats.org/drawingml/2006/main">
            <a:r>
              <a:t/>
            </a:r>
          </a:p>
          <a:p xmlns:a="http://schemas.openxmlformats.org/drawingml/2006/main">
            <a:r>
              <a:t>Initial validation AP gains from fresh_tables/validation_comparison.csv and tuned_comparison.csv. LR baseline .292104 versus tuned .296830, absolute gain .004726, relative1.618%. DT .175532 versus .244880, gain .069348, relative39.507%. RF .250871 versus .266345, gain .015474, relative6.168%. Relative improvement uses baseline AP as denominator and is not an accuracy or retention improvement.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fresh_tables/focused_comparison.csv, nn_comparison.csv, final_test_ranking.csv and paired bootstrap output in 04_Final_Models_and_Test_Inferences.ipynb.</a:t>
            </a:r>
          </a:p>
          <a:p xmlns:a="http://schemas.openxmlformats.org/drawingml/2006/main">
            <a:r>
              <a:t>Focused LR best: C=.1, elasticnet, l1_ratio=.25, class_weight=None, solver=saga, max_iter=5000. CV AP .3308098033 std .041728, validation AP .297344, ROC .698565. Final fit .139186s, prediction34.3517ms/1000, 40 coefficients including intercept, 32iterations.</a:t>
            </a:r>
          </a:p>
          <a:p xmlns:a="http://schemas.openxmlformats.org/drawingml/2006/main">
            <a:r>
              <a:t>NN8 economical: one hidden layer of8, alpha1.0, learning_rate_init=.001, early_stopping=False, n_iter_no_change10, max_iter300, batch64, relu/adam. CVAP .318359 std .030066, validationAP .300047. Fit .661774s, prediction31.7395ms/1000, 329learned parameters,35epochs.</a:t>
            </a:r>
          </a:p>
          <a:p xmlns:a="http://schemas.openxmlformats.org/drawingml/2006/main">
            <a:r>
              <a:t>NN16 CV best uses16units with the same chosen regularisation and stopping: CVAP .320196 std .038868, validation .293626, fit .631726, prediction31.6603ms,657parameters,33epochs. NN16 not selected for final test. NN8 is half the size but was not faster in this run.</a:t>
            </a:r>
          </a:p>
          <a:p xmlns:a="http://schemas.openxmlformats.org/drawingml/2006/main">
            <a:r>
              <a:t>Original/reference NN baseline CVAP .303902834 and validation .289464733. Tuning improved those to .318359 and .300047 for NN8, while the focused NN CV best is16units. Do not confuse economical choice with bestCV.</a:t>
            </a:r>
          </a:p>
          <a:p xmlns:a="http://schemas.openxmlformats.org/drawingml/2006/main">
            <a:r>
              <a:t>Focused search wall/CPU seconds: LR33.680/33.938,24configurations; NN37.993/38.047,12configurations,5foldCV,n_jobs1,oneBLASthread. Convergence warnings0both. Search time and final fit time are different measurements. Timings are hardware/run dependent. No energy or electricity measurement.</a:t>
            </a:r>
          </a:p>
          <a:p xmlns:a="http://schemas.openxmlformats.org/drawingml/2006/main">
            <a:r>
              <a:t>Final testAP LR .2695 and NN8 .2746. TestROC-AUC .7078 vs .7100. AP difference .0051, stratified paired bootstrap500replicates interval[-.0082,.0190], not clear evidence of advantage. One NNseed and repeated validation use limit certainty. Test is already viewed, so further selection requires fresh evaluation data.</a:t>
            </a:r>
          </a:p>
          <a:p xmlns:a="http://schemas.openxmlformats.org/drawingml/2006/main">
            <a:r>
              <a:t/>
            </a:r>
          </a:p>
          <a:p xmlns:a="http://schemas.openxmlformats.org/drawingml/2006/main">
            <a:r>
              <a:t>Data source: Kaggle, yangjiu/employee-attrition-early-warning-dataset. https://www.kaggle.com/datasets/yangjiu/employee-attrition-early-warning-dataset/data</a:t>
            </a:r>
          </a:p>
          <a:p xmlns:a="http://schemas.openxmlformats.org/drawingml/2006/main">
            <a:r>
              <a:t>Project root: E:/Praxis/Term 3/AAB/</a:t>
            </a:r>
          </a:p>
          <a:p xmlns:a="http://schemas.openxmlformats.org/drawingml/2006/main">
            <a:r>
              <a:t/>
            </a:r>
          </a:p>
          <a:p xmlns:a="http://schemas.openxmlformats.org/drawingml/2006/main">
            <a:r>
              <a:t>Illustration disclosure: AI-generated editorial photograph used only for illustration. People, papers and screens are not project evidence. Mode: built-in image_gen. Saved asset: attrition/results/presentation/assets/slide_6.png</a:t>
            </a:r>
          </a:p>
          <a:p xmlns:a="http://schemas.openxmlformats.org/drawingml/2006/main">
            <a:r>
              <a:t>Exact image prompt: Macro editorial photograph of a computer processor and subtle circuit-board detail in navy and teal light, physically realistic, clean simple composition, no readable branding or writing, landscape 4:3. An illustrative stock-style photograph about computation cost.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attrition/results/tables/final_test_decisions.csv, final_test_ranking.csv, test_evaluation_plan.json and 04_Final_Models_and_Test_Inferences.ipynb.</a:t>
            </a:r>
          </a:p>
          <a:p xmlns:a="http://schemas.openxmlformats.org/drawingml/2006/main">
            <a:r>
              <a:t>Select logistic regression as practical pilot candidate based on stronger training CV AP, lower final fit time and simpler parameter count, while test rankings are similar. This is not a production deployment or causal evidence of retention improvement.</a:t>
            </a:r>
          </a:p>
          <a:p xmlns:a="http://schemas.openxmlformats.org/drawingml/2006/main">
            <a:r>
              <a:t>All policies were fixed on validation before test evaluation. Lower workload policy was designed for validation recall40%, LRthreshold .24040021257. Test TP65,FP145,FN98,TN692,total1000;210alerts. Precision30.95%,recall39.88%,F1.3485. NN at its comparable frozen policy: TP70,FP149,FN93,TN688,219reviews,precision31.96%,recall42.94%. NN marginally outperformed here but did not uniformly dominate all policies.</a:t>
            </a:r>
          </a:p>
          <a:p xmlns:a="http://schemas.openxmlformats.org/drawingml/2006/main">
            <a:r>
              <a:t>Higher recall policy targeted validation recall60%, LRthreshold .16985838589. Test TP107,FP291,FN56,TN546,398alerts. Precision26.88%,recall65.64%. NN: TP102,FP279,FN61,TN558,381alerts,precision26.77%,recall62.58%. Choose policy by capacity and cost, not one metric. Default .5 LR detects only3/163leavers, NN0/163, showing why default accuracy obscures the business trade-off.</a:t>
            </a:r>
          </a:p>
          <a:p xmlns:a="http://schemas.openxmlformats.org/drawingml/2006/main">
            <a:r>
              <a:t>Review yield65/210=.3095238 divided by testprevalence163/1000=.163 gives1.8989times concentration. This is a descriptive prioritisation benefit, not proof of avoided exits. At the lower workload policy98actualleavers remain missed.</a:t>
            </a:r>
          </a:p>
          <a:p xmlns:a="http://schemas.openxmlformats.org/drawingml/2006/main">
            <a:r>
              <a:t>Business hypothesis: more targeted support may reduce avoidable departures and replacement costs. Before monetising, measure intervention uptake, retention lift using a suitable pilot/control comparison, review time, intervention cost, missed cases and fairness across relevant groups. Net benefit equals avoided exit costs minus review and support costs. No savings amounts invented.</a:t>
            </a:r>
          </a:p>
          <a:p xmlns:a="http://schemas.openxmlformats.org/drawingml/2006/main">
            <a:r>
              <a:t>Dataset is an assignment sample and may not represent a specific employer. Validate prospectively before operational use. Human review should support employees and should not automatically make employment decisions.</a:t>
            </a:r>
          </a:p>
          <a:p xmlns:a="http://schemas.openxmlformats.org/drawingml/2006/main">
            <a:r>
              <a:t/>
            </a:r>
          </a:p>
          <a:p xmlns:a="http://schemas.openxmlformats.org/drawingml/2006/main">
            <a:r>
              <a:t>Data source: Kaggle, yangjiu/employee-attrition-early-warning-dataset. https://www.kaggle.com/datasets/yangjiu/employee-attrition-early-warning-dataset/data</a:t>
            </a:r>
          </a:p>
          <a:p xmlns:a="http://schemas.openxmlformats.org/drawingml/2006/main">
            <a:r>
              <a:t>Project root: E:/Praxis/Term 3/AAB/</a:t>
            </a:r>
          </a:p>
          <a:p xmlns:a="http://schemas.openxmlformats.org/drawingml/2006/main">
            <a:r>
              <a:t/>
            </a:r>
          </a:p>
          <a:p xmlns:a="http://schemas.openxmlformats.org/drawingml/2006/main">
            <a:r>
              <a:t>Business comparison uses the same review budget of210 out of1000 test employees. Random review expectation210*(163/1000)=34.23leavers, versus65 observed in model flags. Difference65-34.23=30.77, about31 more cases, and65/34.23=1.8989times yield. Random figure is a mathematical expectation, not a measured random-control experiment. 145false alerts and98missed leavers remain at this policy. Detecting additional risk cases does not imply preventing those departures. Retention lift and monetary benefit need a prospective intervention pilot. Final_test_decisions.csv is the source for the model counts.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99d43bbd52146d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7ce282a29564b5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1d17cbafea1447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4c3e3d1223b462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8bf4d19d127445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01626909bd7419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C51E41D-A918-4721-A58C-D9D6B28803A7}"/>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6D68B1AF-4376-4FD4-8C6D-B1AE2108CC74}"/>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28665866-EEE9-4C94-BD83-C8BD54BF291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B707696-1BE8-4AA6-AA91-15F24D0965D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B263124D-FE86-424B-BABB-62AB359C52C0}"/>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F4B92EF-0FB9-479B-AD68-01514B989B3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41AC0ED-F73E-43AA-A731-57B9CE3B15F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22ECE3CB-7711-48C5-9E41-BC1E19ECFAB5}"/>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2AEC31A-51BF-4726-955A-2D8613065C6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DDC7005-8643-45F3-A437-D38B22D044A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d1ef4bd2a504b6c" /><Relationship Type="http://schemas.openxmlformats.org/officeDocument/2006/relationships/slideLayout" Target="/ppt/slideLayouts/slideLayout1.xml" Id="Ra54a6ce0f0d3404c" /><Relationship Type="http://schemas.openxmlformats.org/officeDocument/2006/relationships/slideLayout" Target="/ppt/slideLayouts/slideLayout2.xml" Id="R013df24d8f274ac9" /><Relationship Type="http://schemas.openxmlformats.org/officeDocument/2006/relationships/slideLayout" Target="/ppt/slideLayouts/slideLayout3.xml" Id="R6dd696dbbf3d45f1" /><Relationship Type="http://schemas.openxmlformats.org/officeDocument/2006/relationships/slideLayout" Target="/ppt/slideLayouts/slideLayout4.xml" Id="R0d6b186b71124445" /><Relationship Type="http://schemas.openxmlformats.org/officeDocument/2006/relationships/slideLayout" Target="/ppt/slideLayouts/slideLayout5.xml" Id="R91a4f0c67cfc451a" /><Relationship Type="http://schemas.openxmlformats.org/officeDocument/2006/relationships/slideLayout" Target="/ppt/slideLayouts/slideLayout6.xml" Id="R00872ec83a0a4a7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54a6ce0f0d3404c"/>
    <p:sldLayoutId xmlns:r="http://schemas.openxmlformats.org/officeDocument/2006/relationships" id="2147483650" r:id="R013df24d8f274ac9"/>
    <p:sldLayoutId xmlns:r="http://schemas.openxmlformats.org/officeDocument/2006/relationships" id="2147483651" r:id="R6dd696dbbf3d45f1"/>
    <p:sldLayoutId xmlns:r="http://schemas.openxmlformats.org/officeDocument/2006/relationships" id="2147483652" r:id="R0d6b186b71124445"/>
    <p:sldLayoutId xmlns:r="http://schemas.openxmlformats.org/officeDocument/2006/relationships" id="2147483653" r:id="R91a4f0c67cfc451a"/>
    <p:sldLayoutId xmlns:r="http://schemas.openxmlformats.org/officeDocument/2006/relationships" id="2147483654" r:id="R00872ec83a0a4a7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941e91b58cc3412c" /><Relationship Type="http://schemas.openxmlformats.org/officeDocument/2006/relationships/chart" Target="/ppt/slides/charts/chart1.xml" Id="Red8190c363554ba7" /><Relationship Type="http://schemas.openxmlformats.org/officeDocument/2006/relationships/notesSlide" Target="/ppt/notesSlides/notesSlide1.xml" Id="Rca7a722173824979"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b2dbb33cca8f46ee" /><Relationship Type="http://schemas.openxmlformats.org/officeDocument/2006/relationships/notesSlide" Target="/ppt/notesSlides/notesSlide2.xml" Id="R5ae0afc3d0684d51"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18bd15bc995c405d" /><Relationship Type="http://schemas.openxmlformats.org/officeDocument/2006/relationships/notesSlide" Target="/ppt/notesSlides/notesSlide3.xml" Id="R6698505c545e468f"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d4e97361c5104b60" /><Relationship Type="http://schemas.openxmlformats.org/officeDocument/2006/relationships/chart" Target="/ppt/slides/charts/chart2.xml" Id="Rf02dba3807944bc7" /><Relationship Type="http://schemas.openxmlformats.org/officeDocument/2006/relationships/notesSlide" Target="/ppt/notesSlides/notesSlide4.xml" Id="R3005b6cd1efa4afb"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0189057e1a3447be" /><Relationship Type="http://schemas.openxmlformats.org/officeDocument/2006/relationships/chart" Target="/ppt/slides/charts/chart3.xml" Id="Rca771acc065b4c68" /><Relationship Type="http://schemas.openxmlformats.org/officeDocument/2006/relationships/notesSlide" Target="/ppt/notesSlides/notesSlide5.xml" Id="Rf2bf2d38e88549a9"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09f3dd695d8c457b" /><Relationship Type="http://schemas.openxmlformats.org/officeDocument/2006/relationships/image" Target="/ppt/media/image.png" Id="R53b9bb8255c34e73" /><Relationship Type="http://schemas.openxmlformats.org/officeDocument/2006/relationships/notesSlide" Target="/ppt/notesSlides/notesSlide6.xml" Id="R05867d69390a41a4"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cf63c746f48e4ca4" /><Relationship Type="http://schemas.openxmlformats.org/officeDocument/2006/relationships/notesSlide" Target="/ppt/notesSlides/notesSlide7.xml" Id="Rb6a4bb8182b54586" /></Relationships>
</file>

<file path=ppt/slides/charts/chart1.xml><?xml version="1.0" encoding="utf-8"?>
<c:chartSpace xmlns:c="http://schemas.openxmlformats.org/drawingml/2006/chart">
  <c:lang val="en-US"/>
  <c:chart>
    <c:plotArea>
      <c:barChart>
        <c:barDir val="bar"/>
        <c:grouping val="clustered"/>
        <c:varyColors val="0"/>
        <c:ser>
          <c:idx val="0"/>
          <c:order val="0"/>
          <c:tx>
            <c:v>Employees</c:v>
          </c:tx>
          <c:spPr>
            <a:solidFill xmlns:a="http://schemas.openxmlformats.org/drawingml/2006/main">
              <a:srgbClr val="087E8B"/>
            </a:solidFill>
          </c:spPr>
          <c:invertIfNegative val="0"/>
          <c:cat>
            <c:strLit>
              <c:ptCount val="2"/>
              <c:pt idx="0">
                <c:v>Stay</c:v>
              </c:pt>
              <c:pt idx="1">
                <c:v>Leave</c:v>
              </c:pt>
            </c:strLit>
          </c:cat>
          <c:val>
            <c:numLit>
              <c:formatCode>0</c:formatCode>
              <c:ptCount val="2"/>
              <c:pt idx="0">
                <c:v>4183</c:v>
              </c:pt>
              <c:pt idx="1">
                <c:v>817</c:v>
              </c:pt>
            </c:numLit>
          </c:val>
        </c:ser>
        <c:dLbls>
          <c:numFmt formatCode="#,##0" sourceLinked="0"/>
          <c:txPr>
            <a:bodyPr xmlns:a="http://schemas.openxmlformats.org/drawingml/2006/main" anchorCtr="1"/>
            <a:lstStyle xmlns:a="http://schemas.openxmlformats.org/drawingml/2006/main"/>
            <a:p xmlns:a="http://schemas.openxmlformats.org/drawingml/2006/main">
              <a:pPr>
                <a:defRPr sz="1875" b="1">
                  <a:solidFill>
                    <a:srgbClr val="122C43"/>
                  </a:solidFill>
                  <a:latin typeface="Arial"/>
                  <a:ea typeface="Arial"/>
                  <a:cs typeface="Arial"/>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l"/>
        <c:majorGridlines>
          <c:spPr>
            <a:ln xmlns:a="http://schemas.openxmlformats.org/drawingml/2006/main" w="9525">
              <a:solidFill>
                <a:srgbClr val="CCDADD"/>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526879"/>
                </a:solidFill>
                <a:latin typeface="Arial"/>
                <a:ea typeface="Arial"/>
                <a:cs typeface="Arial"/>
              </a:defRPr>
            </a:pPr>
          </a:p>
        </c:txPr>
        <c:crossAx val="48672768"/>
      </c:catAx>
      <c:valAx>
        <c:axId val="48672768"/>
        <c:scaling>
          <c:orientation val="minMax"/>
          <c:max val="5000"/>
          <c:min val="0"/>
        </c:scaling>
        <c:delete val="0"/>
        <c:axPos val="b"/>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00">
                <a:solidFill>
                  <a:srgbClr val="17334A"/>
                </a:solidFill>
                <a:latin typeface="Arial"/>
                <a:ea typeface="Arial"/>
                <a:cs typeface="Arial"/>
              </a:defRPr>
            </a:pPr>
          </a:p>
        </c:txPr>
        <c:crossAx val="48650112"/>
        <c:crossBetween val="between"/>
        <c:majorUnit val="1000"/>
      </c:valAx>
    </c:plotArea>
    <c:plotVisOnly val="1"/>
  </c:chart>
  <c:spPr>
    <a:solidFill xmlns:a="http://schemas.openxmlformats.org/drawingml/2006/main">
      <a:srgbClr val="FFFFFF"/>
    </a:solidFill>
  </c:spPr>
</c:chartSpace>
</file>

<file path=ppt/slides/charts/chart2.xml><?xml version="1.0" encoding="utf-8"?>
<c:chartSpace xmlns:c="http://schemas.openxmlformats.org/drawingml/2006/chart">
  <c:lang val="en-US"/>
  <c:chart>
    <c:plotArea>
      <c:barChart>
        <c:barDir val="bar"/>
        <c:grouping val="clustered"/>
        <c:varyColors val="0"/>
        <c:ser>
          <c:idx val="0"/>
          <c:order val="0"/>
          <c:tx>
            <c:v>AP decrease in percentage points</c:v>
          </c:tx>
          <c:spPr>
            <a:solidFill xmlns:a="http://schemas.openxmlformats.org/drawingml/2006/main">
              <a:srgbClr val="087E8B"/>
            </a:solidFill>
          </c:spPr>
          <c:invertIfNegative val="0"/>
          <c:cat>
            <c:strLit>
              <c:ptCount val="4"/>
              <c:pt idx="0">
                <c:v>Salary hike</c:v>
              </c:pt>
              <c:pt idx="1">
                <c:v>Environment satisfaction</c:v>
              </c:pt>
              <c:pt idx="2">
                <c:v>Salary</c:v>
              </c:pt>
              <c:pt idx="3">
                <c:v>Job satisfaction</c:v>
              </c:pt>
            </c:strLit>
          </c:cat>
          <c:val>
            <c:numLit>
              <c:formatCode>0.00</c:formatCode>
              <c:ptCount val="4"/>
              <c:pt idx="0">
                <c:v>0.94</c:v>
              </c:pt>
              <c:pt idx="1">
                <c:v>0.98</c:v>
              </c:pt>
              <c:pt idx="2">
                <c:v>1.41</c:v>
              </c:pt>
              <c:pt idx="3">
                <c:v>1.87</c:v>
              </c:pt>
            </c:numLit>
          </c:val>
        </c:ser>
        <c:dLbls>
          <c:numFmt formatCode="0.00" sourceLinked="0"/>
          <c:txPr>
            <a:bodyPr xmlns:a="http://schemas.openxmlformats.org/drawingml/2006/main" anchorCtr="1"/>
            <a:lstStyle xmlns:a="http://schemas.openxmlformats.org/drawingml/2006/main"/>
            <a:p xmlns:a="http://schemas.openxmlformats.org/drawingml/2006/main">
              <a:pPr>
                <a:defRPr sz="1575" b="1">
                  <a:solidFill>
                    <a:srgbClr val="122C43"/>
                  </a:solidFill>
                  <a:latin typeface="Arial"/>
                  <a:ea typeface="Arial"/>
                  <a:cs typeface="Arial"/>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l"/>
        <c:majorGridlines>
          <c:spPr>
            <a:ln xmlns:a="http://schemas.openxmlformats.org/drawingml/2006/main" w="9525">
              <a:solidFill>
                <a:srgbClr val="CCDADD"/>
              </a:solidFill>
            </a:ln>
          </c:spPr>
        </c:majorGridlines>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526879"/>
                </a:solidFill>
                <a:latin typeface="Arial"/>
                <a:ea typeface="Arial"/>
                <a:cs typeface="Arial"/>
              </a:defRPr>
            </a:pPr>
          </a:p>
        </c:txPr>
        <c:crossAx val="48672768"/>
      </c:catAx>
      <c:valAx>
        <c:axId val="48672768"/>
        <c:scaling>
          <c:orientation val="minMax"/>
          <c:max val="2.5"/>
          <c:min val="0"/>
        </c:scaling>
        <c:delete val="0"/>
        <c:axPos val="b"/>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17334A"/>
                </a:solidFill>
                <a:latin typeface="Arial"/>
                <a:ea typeface="Arial"/>
                <a:cs typeface="Arial"/>
              </a:defRPr>
            </a:pPr>
          </a:p>
        </c:txPr>
        <c:crossAx val="48650112"/>
        <c:crossBetween val="between"/>
        <c:majorUnit val="0.5"/>
      </c:valAx>
    </c:plotArea>
    <c:plotVisOnly val="1"/>
  </c:chart>
  <c:spPr>
    <a:solidFill xmlns:a="http://schemas.openxmlformats.org/drawingml/2006/main">
      <a:srgbClr val="FFFFFF"/>
    </a:solidFill>
  </c:spPr>
</c:chartSpace>
</file>

<file path=ppt/slides/charts/chart3.xml><?xml version="1.0" encoding="utf-8"?>
<c:chartSpace xmlns:c="http://schemas.openxmlformats.org/drawingml/2006/chart">
  <c:lang val="en-US"/>
  <c:chart>
    <c:plotArea>
      <c:barChart>
        <c:barDir val="col"/>
        <c:grouping val="clustered"/>
        <c:varyColors val="0"/>
        <c:ser>
          <c:idx val="0"/>
          <c:order val="0"/>
          <c:tx>
            <c:v>Baseline</c:v>
          </c:tx>
          <c:spPr>
            <a:solidFill xmlns:a="http://schemas.openxmlformats.org/drawingml/2006/main">
              <a:srgbClr val="A9BEC9"/>
            </a:solidFill>
          </c:spPr>
          <c:invertIfNegative val="0"/>
          <c:cat>
            <c:strLit>
              <c:ptCount val="3"/>
              <c:pt idx="0">
                <c:v>Logistic regression</c:v>
              </c:pt>
              <c:pt idx="1">
                <c:v>Decision tree</c:v>
              </c:pt>
              <c:pt idx="2">
                <c:v>Random forest</c:v>
              </c:pt>
            </c:strLit>
          </c:cat>
          <c:val>
            <c:numLit>
              <c:formatCode>0.00</c:formatCode>
              <c:ptCount val="3"/>
              <c:pt idx="0">
                <c:v>0.292104</c:v>
              </c:pt>
              <c:pt idx="1">
                <c:v>0.175532</c:v>
              </c:pt>
              <c:pt idx="2">
                <c:v>0.250871</c:v>
              </c:pt>
            </c:numLit>
          </c:val>
        </c:ser>
        <c:ser>
          <c:idx val="1"/>
          <c:order val="1"/>
          <c:tx>
            <c:v>Tuned</c:v>
          </c:tx>
          <c:spPr>
            <a:solidFill xmlns:a="http://schemas.openxmlformats.org/drawingml/2006/main">
              <a:srgbClr val="087E8B"/>
            </a:solidFill>
          </c:spPr>
          <c:invertIfNegative val="0"/>
          <c:cat>
            <c:strLit>
              <c:ptCount val="3"/>
              <c:pt idx="0">
                <c:v>Logistic regression</c:v>
              </c:pt>
              <c:pt idx="1">
                <c:v>Decision tree</c:v>
              </c:pt>
              <c:pt idx="2">
                <c:v>Random forest</c:v>
              </c:pt>
            </c:strLit>
          </c:cat>
          <c:val>
            <c:numLit>
              <c:formatCode>0.00</c:formatCode>
              <c:ptCount val="3"/>
              <c:pt idx="0">
                <c:v>0.29683</c:v>
              </c:pt>
              <c:pt idx="1">
                <c:v>0.24488</c:v>
              </c:pt>
              <c:pt idx="2">
                <c:v>0.266345</c:v>
              </c:pt>
            </c:numLit>
          </c:val>
        </c:ser>
        <c:dLbls>
          <c:numFmt formatCode="0.000" sourceLinked="0"/>
          <c:txPr>
            <a:bodyPr xmlns:a="http://schemas.openxmlformats.org/drawingml/2006/main" anchorCtr="1"/>
            <a:lstStyle xmlns:a="http://schemas.openxmlformats.org/drawingml/2006/main"/>
            <a:p xmlns:a="http://schemas.openxmlformats.org/drawingml/2006/main">
              <a:pPr>
                <a:defRPr sz="1575" b="1">
                  <a:solidFill>
                    <a:srgbClr val="122C43"/>
                  </a:solidFill>
                  <a:latin typeface="Arial"/>
                  <a:ea typeface="Arial"/>
                  <a:cs typeface="Arial"/>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17334A"/>
                </a:solidFill>
                <a:latin typeface="Arial"/>
                <a:ea typeface="Arial"/>
                <a:cs typeface="Arial"/>
              </a:defRPr>
            </a:pPr>
          </a:p>
        </c:txPr>
        <c:crossAx val="48672768"/>
      </c:catAx>
      <c:valAx>
        <c:axId val="48672768"/>
        <c:scaling>
          <c:orientation val="minMax"/>
          <c:max val="0.35"/>
          <c:min val="0"/>
        </c:scaling>
        <c:delete val="0"/>
        <c:axPos val="l"/>
        <c:majorGridlines>
          <c:spPr>
            <a:ln xmlns:a="http://schemas.openxmlformats.org/drawingml/2006/main" w="9525">
              <a:solidFill>
                <a:srgbClr val="CCDADD"/>
              </a:solidFill>
            </a:ln>
          </c:spPr>
        </c:majorGridlines>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526879"/>
                </a:solidFill>
                <a:latin typeface="Arial"/>
                <a:ea typeface="Arial"/>
                <a:cs typeface="Arial"/>
              </a:defRPr>
            </a:pPr>
          </a:p>
        </c:txPr>
        <c:crossAx val="48650112"/>
        <c:crossBetween val="between"/>
        <c:majorUnit val="0.1"/>
      </c:valAx>
    </c:plotArea>
    <c:legend>
      <c:legendPos val="b"/>
      <c:overlay val="0"/>
      <c:txPr>
        <a:bodyPr xmlns:a="http://schemas.openxmlformats.org/drawingml/2006/main" anchorCtr="1"/>
        <a:lstStyle xmlns:a="http://schemas.openxmlformats.org/drawingml/2006/main"/>
        <a:p xmlns:a="http://schemas.openxmlformats.org/drawingml/2006/main">
          <a:pPr>
            <a:defRPr sz="1575">
              <a:solidFill>
                <a:srgbClr val="17334A"/>
              </a:solidFill>
              <a:latin typeface="Arial"/>
              <a:ea typeface="Arial"/>
              <a:cs typeface="Arial"/>
            </a:defRPr>
          </a:pPr>
        </a:p>
      </c:txPr>
    </c:legend>
    <c:plotVisOnly val="1"/>
  </c:chart>
  <c:spPr>
    <a:solidFill xmlns:a="http://schemas.openxmlformats.org/drawingml/2006/main">
      <a:srgbClr val="FFFFFF"/>
    </a:solidFill>
  </c:spPr>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3732D8F0-5519-4702-94E0-B0C2382203F3}"/>
              </a:ext>
            </a:extLst>
          </p:cNvPr>
          <p:cNvSpPr>
            <a:spLocks xmlns:a="http://schemas.openxmlformats.org/drawingml/2006/main" noGrp="1"/>
          </p:cNvSpPr>
          <p:nvPr/>
        </p:nvSpPr>
        <p:spPr>
          <a:xfrm xmlns:a="http://schemas.openxmlformats.org/drawingml/2006/main">
            <a:off x="495300" y="2476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087E8B"/>
                </a:solidFill>
                <a:latin typeface="Arial"/>
                <a:ea typeface="Arial"/>
                <a:cs typeface="Arial"/>
              </a:defRPr>
            </a:defPPr>
            <a:lvl1pPr>
              <a:defRPr sz="1275" b="1">
                <a:solidFill>
                  <a:srgbClr val="087E8B"/>
                </a:solidFill>
                <a:latin typeface="Arial"/>
                <a:ea typeface="Arial"/>
                <a:cs typeface="Arial"/>
              </a:defRPr>
            </a:lvl1pPr>
            <a:lvl2pPr>
              <a:defRPr sz="1275" b="1">
                <a:solidFill>
                  <a:srgbClr val="087E8B"/>
                </a:solidFill>
                <a:latin typeface="Arial"/>
                <a:ea typeface="Arial"/>
                <a:cs typeface="Arial"/>
              </a:defRPr>
            </a:lvl2pPr>
            <a:lvl3pPr>
              <a:defRPr sz="1275" b="1">
                <a:solidFill>
                  <a:srgbClr val="087E8B"/>
                </a:solidFill>
                <a:latin typeface="Arial"/>
                <a:ea typeface="Arial"/>
                <a:cs typeface="Arial"/>
              </a:defRPr>
            </a:lvl3pPr>
            <a:lvl4pPr>
              <a:defRPr sz="1275" b="1">
                <a:solidFill>
                  <a:srgbClr val="087E8B"/>
                </a:solidFill>
                <a:latin typeface="Arial"/>
                <a:ea typeface="Arial"/>
                <a:cs typeface="Arial"/>
              </a:defRPr>
            </a:lvl4pPr>
            <a:lvl5pPr>
              <a:defRPr sz="1275" b="1">
                <a:solidFill>
                  <a:srgbClr val="087E8B"/>
                </a:solidFill>
                <a:latin typeface="Arial"/>
                <a:ea typeface="Arial"/>
                <a:cs typeface="Arial"/>
              </a:defRPr>
            </a:lvl5pPr>
            <a:lvl6pPr>
              <a:defRPr sz="1275" b="1">
                <a:solidFill>
                  <a:srgbClr val="087E8B"/>
                </a:solidFill>
                <a:latin typeface="Arial"/>
                <a:ea typeface="Arial"/>
                <a:cs typeface="Arial"/>
              </a:defRPr>
            </a:lvl6pPr>
            <a:lvl7pPr>
              <a:defRPr sz="1275" b="1">
                <a:solidFill>
                  <a:srgbClr val="087E8B"/>
                </a:solidFill>
                <a:latin typeface="Arial"/>
                <a:ea typeface="Arial"/>
                <a:cs typeface="Arial"/>
              </a:defRPr>
            </a:lvl7pPr>
            <a:lvl8pPr>
              <a:defRPr sz="1275" b="1">
                <a:solidFill>
                  <a:srgbClr val="087E8B"/>
                </a:solidFill>
                <a:latin typeface="Arial"/>
                <a:ea typeface="Arial"/>
                <a:cs typeface="Arial"/>
              </a:defRPr>
            </a:lvl8pPr>
            <a:lvl9pPr>
              <a:defRPr sz="1275" b="1">
                <a:solidFill>
                  <a:srgbClr val="087E8B"/>
                </a:solidFill>
                <a:latin typeface="Arial"/>
                <a:ea typeface="Arial"/>
                <a:cs typeface="Arial"/>
              </a:defRPr>
            </a:lvl9pPr>
          </a:lstStyle>
          <a:p xmlns:a="http://schemas.openxmlformats.org/drawingml/2006/main">
            <a:pPr>
              <a:defRPr sz="1275" b="1">
                <a:solidFill>
                  <a:srgbClr val="087E8B"/>
                </a:solidFill>
                <a:latin typeface="Arial"/>
                <a:ea typeface="Arial"/>
                <a:cs typeface="Arial"/>
              </a:defRPr>
            </a:pPr>
            <a:r>
              <a:rPr sz="1275" b="1">
                <a:solidFill>
                  <a:srgbClr val="087E8B"/>
                </a:solidFill>
                <a:latin typeface="Arial"/>
                <a:ea typeface="Arial"/>
                <a:cs typeface="Arial"/>
              </a:rPr>
              <a:t>EMPLOYEE ATTRITION</a:t>
            </a:r>
          </a:p>
        </p:txBody>
      </p:sp>
      <p:sp>
        <p:nvSpPr>
          <p:cNvPr id="3" name="">
            <a:extLst xmlns:a="http://schemas.openxmlformats.org/drawingml/2006/main">
              <a:ext uri="{FF2B5EF4-FFF2-40B4-BE49-F238E27FC236}">
                <a16:creationId xmlns:a16="http://schemas.microsoft.com/office/drawing/2014/main" id="{9732076C-A5DC-40D4-B9E3-B7CF2681A095}"/>
              </a:ext>
            </a:extLst>
          </p:cNvPr>
          <p:cNvSpPr>
            <a:spLocks xmlns:a="http://schemas.openxmlformats.org/drawingml/2006/main" noGrp="1"/>
          </p:cNvSpPr>
          <p:nvPr/>
        </p:nvSpPr>
        <p:spPr>
          <a:xfrm xmlns:a="http://schemas.openxmlformats.org/drawingml/2006/main">
            <a:off x="495300" y="619125"/>
            <a:ext cx="11201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22C43"/>
                </a:solidFill>
                <a:latin typeface="Arial"/>
                <a:ea typeface="Arial"/>
                <a:cs typeface="Arial"/>
              </a:defRPr>
            </a:defPPr>
            <a:lvl1pPr>
              <a:defRPr sz="3300" b="1">
                <a:solidFill>
                  <a:srgbClr val="122C43"/>
                </a:solidFill>
                <a:latin typeface="Arial"/>
                <a:ea typeface="Arial"/>
                <a:cs typeface="Arial"/>
              </a:defRPr>
            </a:lvl1pPr>
            <a:lvl2pPr>
              <a:defRPr sz="3300" b="1">
                <a:solidFill>
                  <a:srgbClr val="122C43"/>
                </a:solidFill>
                <a:latin typeface="Arial"/>
                <a:ea typeface="Arial"/>
                <a:cs typeface="Arial"/>
              </a:defRPr>
            </a:lvl2pPr>
            <a:lvl3pPr>
              <a:defRPr sz="3300" b="1">
                <a:solidFill>
                  <a:srgbClr val="122C43"/>
                </a:solidFill>
                <a:latin typeface="Arial"/>
                <a:ea typeface="Arial"/>
                <a:cs typeface="Arial"/>
              </a:defRPr>
            </a:lvl3pPr>
            <a:lvl4pPr>
              <a:defRPr sz="3300" b="1">
                <a:solidFill>
                  <a:srgbClr val="122C43"/>
                </a:solidFill>
                <a:latin typeface="Arial"/>
                <a:ea typeface="Arial"/>
                <a:cs typeface="Arial"/>
              </a:defRPr>
            </a:lvl4pPr>
            <a:lvl5pPr>
              <a:defRPr sz="3300" b="1">
                <a:solidFill>
                  <a:srgbClr val="122C43"/>
                </a:solidFill>
                <a:latin typeface="Arial"/>
                <a:ea typeface="Arial"/>
                <a:cs typeface="Arial"/>
              </a:defRPr>
            </a:lvl5pPr>
            <a:lvl6pPr>
              <a:defRPr sz="3300" b="1">
                <a:solidFill>
                  <a:srgbClr val="122C43"/>
                </a:solidFill>
                <a:latin typeface="Arial"/>
                <a:ea typeface="Arial"/>
                <a:cs typeface="Arial"/>
              </a:defRPr>
            </a:lvl6pPr>
            <a:lvl7pPr>
              <a:defRPr sz="3300" b="1">
                <a:solidFill>
                  <a:srgbClr val="122C43"/>
                </a:solidFill>
                <a:latin typeface="Arial"/>
                <a:ea typeface="Arial"/>
                <a:cs typeface="Arial"/>
              </a:defRPr>
            </a:lvl7pPr>
            <a:lvl8pPr>
              <a:defRPr sz="3300" b="1">
                <a:solidFill>
                  <a:srgbClr val="122C43"/>
                </a:solidFill>
                <a:latin typeface="Arial"/>
                <a:ea typeface="Arial"/>
                <a:cs typeface="Arial"/>
              </a:defRPr>
            </a:lvl8pPr>
            <a:lvl9pPr>
              <a:defRPr sz="3300" b="1">
                <a:solidFill>
                  <a:srgbClr val="122C43"/>
                </a:solidFill>
                <a:latin typeface="Arial"/>
                <a:ea typeface="Arial"/>
                <a:cs typeface="Arial"/>
              </a:defRPr>
            </a:lvl9pPr>
          </a:lstStyle>
          <a:p xmlns:a="http://schemas.openxmlformats.org/drawingml/2006/main">
            <a:pPr>
              <a:defRPr sz="3300" b="1">
                <a:solidFill>
                  <a:srgbClr val="122C43"/>
                </a:solidFill>
                <a:latin typeface="Arial"/>
                <a:ea typeface="Arial"/>
                <a:cs typeface="Arial"/>
              </a:defRPr>
            </a:pPr>
            <a:r>
              <a:rPr sz="3300" b="1">
                <a:solidFill>
                  <a:srgbClr val="122C43"/>
                </a:solidFill>
                <a:latin typeface="Arial"/>
                <a:ea typeface="Arial"/>
                <a:cs typeface="Arial"/>
              </a:rPr>
              <a:t>Employee attrition early warning</a:t>
            </a:r>
          </a:p>
        </p:txBody>
      </p:sp>
      <p:sp>
        <p:nvSpPr>
          <p:cNvPr id="4" name="">
            <a:extLst xmlns:a="http://schemas.openxmlformats.org/drawingml/2006/main">
              <a:ext uri="{FF2B5EF4-FFF2-40B4-BE49-F238E27FC236}">
                <a16:creationId xmlns:a16="http://schemas.microsoft.com/office/drawing/2014/main" id="{2E0A3123-F689-4979-BAC6-35B34F6FF74E}"/>
              </a:ext>
            </a:extLst>
          </p:cNvPr>
          <p:cNvSpPr>
            <a:spLocks xmlns:a="http://schemas.openxmlformats.org/drawingml/2006/main" noGrp="1"/>
          </p:cNvSpPr>
          <p:nvPr/>
        </p:nvSpPr>
        <p:spPr>
          <a:xfrm xmlns:a="http://schemas.openxmlformats.org/drawingml/2006/main">
            <a:off x="495300" y="1219200"/>
            <a:ext cx="11201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26879"/>
                </a:solidFill>
                <a:latin typeface="Arial"/>
                <a:ea typeface="Arial"/>
                <a:cs typeface="Arial"/>
              </a:defRPr>
            </a:defPPr>
            <a:lvl1pPr>
              <a:defRPr sz="1725" b="0">
                <a:solidFill>
                  <a:srgbClr val="526879"/>
                </a:solidFill>
                <a:latin typeface="Arial"/>
                <a:ea typeface="Arial"/>
                <a:cs typeface="Arial"/>
              </a:defRPr>
            </a:lvl1pPr>
            <a:lvl2pPr>
              <a:defRPr sz="1725" b="0">
                <a:solidFill>
                  <a:srgbClr val="526879"/>
                </a:solidFill>
                <a:latin typeface="Arial"/>
                <a:ea typeface="Arial"/>
                <a:cs typeface="Arial"/>
              </a:defRPr>
            </a:lvl2pPr>
            <a:lvl3pPr>
              <a:defRPr sz="1725" b="0">
                <a:solidFill>
                  <a:srgbClr val="526879"/>
                </a:solidFill>
                <a:latin typeface="Arial"/>
                <a:ea typeface="Arial"/>
                <a:cs typeface="Arial"/>
              </a:defRPr>
            </a:lvl3pPr>
            <a:lvl4pPr>
              <a:defRPr sz="1725" b="0">
                <a:solidFill>
                  <a:srgbClr val="526879"/>
                </a:solidFill>
                <a:latin typeface="Arial"/>
                <a:ea typeface="Arial"/>
                <a:cs typeface="Arial"/>
              </a:defRPr>
            </a:lvl4pPr>
            <a:lvl5pPr>
              <a:defRPr sz="1725" b="0">
                <a:solidFill>
                  <a:srgbClr val="526879"/>
                </a:solidFill>
                <a:latin typeface="Arial"/>
                <a:ea typeface="Arial"/>
                <a:cs typeface="Arial"/>
              </a:defRPr>
            </a:lvl5pPr>
            <a:lvl6pPr>
              <a:defRPr sz="1725" b="0">
                <a:solidFill>
                  <a:srgbClr val="526879"/>
                </a:solidFill>
                <a:latin typeface="Arial"/>
                <a:ea typeface="Arial"/>
                <a:cs typeface="Arial"/>
              </a:defRPr>
            </a:lvl6pPr>
            <a:lvl7pPr>
              <a:defRPr sz="1725" b="0">
                <a:solidFill>
                  <a:srgbClr val="526879"/>
                </a:solidFill>
                <a:latin typeface="Arial"/>
                <a:ea typeface="Arial"/>
                <a:cs typeface="Arial"/>
              </a:defRPr>
            </a:lvl7pPr>
            <a:lvl8pPr>
              <a:defRPr sz="1725" b="0">
                <a:solidFill>
                  <a:srgbClr val="526879"/>
                </a:solidFill>
                <a:latin typeface="Arial"/>
                <a:ea typeface="Arial"/>
                <a:cs typeface="Arial"/>
              </a:defRPr>
            </a:lvl8pPr>
            <a:lvl9pPr>
              <a:defRPr sz="1725" b="0">
                <a:solidFill>
                  <a:srgbClr val="526879"/>
                </a:solidFill>
                <a:latin typeface="Arial"/>
                <a:ea typeface="Arial"/>
                <a:cs typeface="Arial"/>
              </a:defRPr>
            </a:lvl9pPr>
          </a:lstStyle>
          <a:p xmlns:a="http://schemas.openxmlformats.org/drawingml/2006/main">
            <a:pPr>
              <a:defRPr sz="1725" b="0">
                <a:solidFill>
                  <a:srgbClr val="526879"/>
                </a:solidFill>
                <a:latin typeface="Arial"/>
                <a:ea typeface="Arial"/>
                <a:cs typeface="Arial"/>
              </a:defRPr>
            </a:pPr>
            <a:r>
              <a:rPr sz="1725" b="0">
                <a:solidFill>
                  <a:srgbClr val="526879"/>
                </a:solidFill>
                <a:latin typeface="Arial"/>
                <a:ea typeface="Arial"/>
                <a:cs typeface="Arial"/>
              </a:rPr>
              <a:t>A classification project to support focused HR conversations</a:t>
            </a:r>
          </a:p>
        </p:txBody>
      </p:sp>
      <p:sp>
        <p:nvSpPr>
          <p:cNvPr id="5" name="">
            <a:extLst xmlns:a="http://schemas.openxmlformats.org/drawingml/2006/main">
              <a:ext uri="{FF2B5EF4-FFF2-40B4-BE49-F238E27FC236}">
                <a16:creationId xmlns:a16="http://schemas.microsoft.com/office/drawing/2014/main" id="{7F1FB8A5-A009-4AAD-841A-D8E73434F126}"/>
              </a:ext>
            </a:extLst>
          </p:cNvPr>
          <p:cNvSpPr>
            <a:spLocks xmlns:a="http://schemas.openxmlformats.org/drawingml/2006/main" noGrp="1"/>
          </p:cNvSpPr>
          <p:nvPr/>
        </p:nvSpPr>
        <p:spPr>
          <a:xfrm xmlns:a="http://schemas.openxmlformats.org/drawingml/2006/main">
            <a:off x="495300" y="6486525"/>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879"/>
                </a:solidFill>
                <a:latin typeface="Arial"/>
                <a:ea typeface="Arial"/>
                <a:cs typeface="Arial"/>
              </a:defRPr>
            </a:defPPr>
            <a:lvl1pPr>
              <a:defRPr sz="1200" b="0">
                <a:solidFill>
                  <a:srgbClr val="526879"/>
                </a:solidFill>
                <a:latin typeface="Arial"/>
                <a:ea typeface="Arial"/>
                <a:cs typeface="Arial"/>
              </a:defRPr>
            </a:lvl1pPr>
            <a:lvl2pPr>
              <a:defRPr sz="1200" b="0">
                <a:solidFill>
                  <a:srgbClr val="526879"/>
                </a:solidFill>
                <a:latin typeface="Arial"/>
                <a:ea typeface="Arial"/>
                <a:cs typeface="Arial"/>
              </a:defRPr>
            </a:lvl2pPr>
            <a:lvl3pPr>
              <a:defRPr sz="1200" b="0">
                <a:solidFill>
                  <a:srgbClr val="526879"/>
                </a:solidFill>
                <a:latin typeface="Arial"/>
                <a:ea typeface="Arial"/>
                <a:cs typeface="Arial"/>
              </a:defRPr>
            </a:lvl3pPr>
            <a:lvl4pPr>
              <a:defRPr sz="1200" b="0">
                <a:solidFill>
                  <a:srgbClr val="526879"/>
                </a:solidFill>
                <a:latin typeface="Arial"/>
                <a:ea typeface="Arial"/>
                <a:cs typeface="Arial"/>
              </a:defRPr>
            </a:lvl4pPr>
            <a:lvl5pPr>
              <a:defRPr sz="1200" b="0">
                <a:solidFill>
                  <a:srgbClr val="526879"/>
                </a:solidFill>
                <a:latin typeface="Arial"/>
                <a:ea typeface="Arial"/>
                <a:cs typeface="Arial"/>
              </a:defRPr>
            </a:lvl5pPr>
            <a:lvl6pPr>
              <a:defRPr sz="1200" b="0">
                <a:solidFill>
                  <a:srgbClr val="526879"/>
                </a:solidFill>
                <a:latin typeface="Arial"/>
                <a:ea typeface="Arial"/>
                <a:cs typeface="Arial"/>
              </a:defRPr>
            </a:lvl6pPr>
            <a:lvl7pPr>
              <a:defRPr sz="1200" b="0">
                <a:solidFill>
                  <a:srgbClr val="526879"/>
                </a:solidFill>
                <a:latin typeface="Arial"/>
                <a:ea typeface="Arial"/>
                <a:cs typeface="Arial"/>
              </a:defRPr>
            </a:lvl7pPr>
            <a:lvl8pPr>
              <a:defRPr sz="1200" b="0">
                <a:solidFill>
                  <a:srgbClr val="526879"/>
                </a:solidFill>
                <a:latin typeface="Arial"/>
                <a:ea typeface="Arial"/>
                <a:cs typeface="Arial"/>
              </a:defRPr>
            </a:lvl8pPr>
            <a:lvl9pPr>
              <a:defRPr sz="1200" b="0">
                <a:solidFill>
                  <a:srgbClr val="526879"/>
                </a:solidFill>
                <a:latin typeface="Arial"/>
                <a:ea typeface="Arial"/>
                <a:cs typeface="Arial"/>
              </a:defRPr>
            </a:lvl9pPr>
          </a:lstStyle>
          <a:p xmlns:a="http://schemas.openxmlformats.org/drawingml/2006/main">
            <a:pPr>
              <a:defRPr sz="1200" b="0">
                <a:solidFill>
                  <a:srgbClr val="526879"/>
                </a:solidFill>
                <a:latin typeface="Arial"/>
                <a:ea typeface="Arial"/>
                <a:cs typeface="Arial"/>
              </a:defRPr>
            </a:pPr>
            <a:r>
              <a:rPr sz="1200" b="0">
                <a:solidFill>
                  <a:srgbClr val="526879"/>
                </a:solidFill>
                <a:latin typeface="Arial"/>
                <a:ea typeface="Arial"/>
                <a:cs typeface="Arial"/>
              </a:rPr>
              <a:t>Hemanth Kumar Akunuri</a:t>
            </a:r>
          </a:p>
        </p:txBody>
      </p:sp>
      <p:sp>
        <p:nvSpPr>
          <p:cNvPr id="6" name="">
            <a:extLst xmlns:a="http://schemas.openxmlformats.org/drawingml/2006/main">
              <a:ext uri="{FF2B5EF4-FFF2-40B4-BE49-F238E27FC236}">
                <a16:creationId xmlns:a16="http://schemas.microsoft.com/office/drawing/2014/main" id="{F8329E76-E8DB-4876-9CAD-CC9CF56B9808}"/>
              </a:ext>
            </a:extLst>
          </p:cNvPr>
          <p:cNvSpPr>
            <a:spLocks xmlns:a="http://schemas.openxmlformats.org/drawingml/2006/main" noGrp="1"/>
          </p:cNvSpPr>
          <p:nvPr/>
        </p:nvSpPr>
        <p:spPr>
          <a:xfrm xmlns:a="http://schemas.openxmlformats.org/drawingml/2006/main">
            <a:off x="10763250" y="6486525"/>
            <a:ext cx="933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879"/>
                </a:solidFill>
                <a:latin typeface="Arial"/>
                <a:ea typeface="Arial"/>
                <a:cs typeface="Arial"/>
              </a:defRPr>
            </a:defPPr>
            <a:lvl1pPr>
              <a:defRPr sz="1200" b="0">
                <a:solidFill>
                  <a:srgbClr val="526879"/>
                </a:solidFill>
                <a:latin typeface="Arial"/>
                <a:ea typeface="Arial"/>
                <a:cs typeface="Arial"/>
              </a:defRPr>
            </a:lvl1pPr>
            <a:lvl2pPr>
              <a:defRPr sz="1200" b="0">
                <a:solidFill>
                  <a:srgbClr val="526879"/>
                </a:solidFill>
                <a:latin typeface="Arial"/>
                <a:ea typeface="Arial"/>
                <a:cs typeface="Arial"/>
              </a:defRPr>
            </a:lvl2pPr>
            <a:lvl3pPr>
              <a:defRPr sz="1200" b="0">
                <a:solidFill>
                  <a:srgbClr val="526879"/>
                </a:solidFill>
                <a:latin typeface="Arial"/>
                <a:ea typeface="Arial"/>
                <a:cs typeface="Arial"/>
              </a:defRPr>
            </a:lvl3pPr>
            <a:lvl4pPr>
              <a:defRPr sz="1200" b="0">
                <a:solidFill>
                  <a:srgbClr val="526879"/>
                </a:solidFill>
                <a:latin typeface="Arial"/>
                <a:ea typeface="Arial"/>
                <a:cs typeface="Arial"/>
              </a:defRPr>
            </a:lvl4pPr>
            <a:lvl5pPr>
              <a:defRPr sz="1200" b="0">
                <a:solidFill>
                  <a:srgbClr val="526879"/>
                </a:solidFill>
                <a:latin typeface="Arial"/>
                <a:ea typeface="Arial"/>
                <a:cs typeface="Arial"/>
              </a:defRPr>
            </a:lvl5pPr>
            <a:lvl6pPr>
              <a:defRPr sz="1200" b="0">
                <a:solidFill>
                  <a:srgbClr val="526879"/>
                </a:solidFill>
                <a:latin typeface="Arial"/>
                <a:ea typeface="Arial"/>
                <a:cs typeface="Arial"/>
              </a:defRPr>
            </a:lvl6pPr>
            <a:lvl7pPr>
              <a:defRPr sz="1200" b="0">
                <a:solidFill>
                  <a:srgbClr val="526879"/>
                </a:solidFill>
                <a:latin typeface="Arial"/>
                <a:ea typeface="Arial"/>
                <a:cs typeface="Arial"/>
              </a:defRPr>
            </a:lvl7pPr>
            <a:lvl8pPr>
              <a:defRPr sz="1200" b="0">
                <a:solidFill>
                  <a:srgbClr val="526879"/>
                </a:solidFill>
                <a:latin typeface="Arial"/>
                <a:ea typeface="Arial"/>
                <a:cs typeface="Arial"/>
              </a:defRPr>
            </a:lvl8pPr>
            <a:lvl9pPr>
              <a:defRPr sz="1200" b="0">
                <a:solidFill>
                  <a:srgbClr val="526879"/>
                </a:solidFill>
                <a:latin typeface="Arial"/>
                <a:ea typeface="Arial"/>
                <a:cs typeface="Arial"/>
              </a:defRPr>
            </a:lvl9pPr>
          </a:lstStyle>
          <a:p xmlns:a="http://schemas.openxmlformats.org/drawingml/2006/main">
            <a:pPr>
              <a:defRPr sz="1200" b="0">
                <a:solidFill>
                  <a:srgbClr val="526879"/>
                </a:solidFill>
                <a:latin typeface="Arial"/>
                <a:ea typeface="Arial"/>
                <a:cs typeface="Arial"/>
              </a:defRPr>
            </a:pPr>
            <a:r>
              <a:rPr sz="1200" b="0">
                <a:solidFill>
                  <a:srgbClr val="526879"/>
                </a:solidFill>
                <a:latin typeface="Arial"/>
                <a:ea typeface="Arial"/>
                <a:cs typeface="Arial"/>
              </a:rPr>
              <a:t>01 / 07</a:t>
            </a:r>
          </a:p>
        </p:txBody>
      </p:sp>
      <p:sp>
        <p:nvSpPr>
          <p:cNvPr id="7" name="">
            <a:extLst xmlns:a="http://schemas.openxmlformats.org/drawingml/2006/main">
              <a:ext uri="{FF2B5EF4-FFF2-40B4-BE49-F238E27FC236}">
                <a16:creationId xmlns:a16="http://schemas.microsoft.com/office/drawing/2014/main" id="{6B52E59C-67E9-49EF-8347-2D52F0BBF9EE}"/>
              </a:ext>
            </a:extLst>
          </p:cNvPr>
          <p:cNvSpPr>
            <a:spLocks xmlns:a="http://schemas.openxmlformats.org/drawingml/2006/main" noGrp="1"/>
          </p:cNvSpPr>
          <p:nvPr/>
        </p:nvSpPr>
        <p:spPr>
          <a:xfrm xmlns:a="http://schemas.openxmlformats.org/drawingml/2006/main">
            <a:off x="495300" y="1924050"/>
            <a:ext cx="6096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00" b="1">
                <a:solidFill>
                  <a:srgbClr val="122C43"/>
                </a:solidFill>
                <a:latin typeface="Arial"/>
                <a:ea typeface="Arial"/>
                <a:cs typeface="Arial"/>
              </a:defRPr>
            </a:defPPr>
            <a:lvl1pPr>
              <a:defRPr sz="3000" b="1">
                <a:solidFill>
                  <a:srgbClr val="122C43"/>
                </a:solidFill>
                <a:latin typeface="Arial"/>
                <a:ea typeface="Arial"/>
                <a:cs typeface="Arial"/>
              </a:defRPr>
            </a:lvl1pPr>
            <a:lvl2pPr>
              <a:defRPr sz="3000" b="1">
                <a:solidFill>
                  <a:srgbClr val="122C43"/>
                </a:solidFill>
                <a:latin typeface="Arial"/>
                <a:ea typeface="Arial"/>
                <a:cs typeface="Arial"/>
              </a:defRPr>
            </a:lvl2pPr>
            <a:lvl3pPr>
              <a:defRPr sz="3000" b="1">
                <a:solidFill>
                  <a:srgbClr val="122C43"/>
                </a:solidFill>
                <a:latin typeface="Arial"/>
                <a:ea typeface="Arial"/>
                <a:cs typeface="Arial"/>
              </a:defRPr>
            </a:lvl3pPr>
            <a:lvl4pPr>
              <a:defRPr sz="3000" b="1">
                <a:solidFill>
                  <a:srgbClr val="122C43"/>
                </a:solidFill>
                <a:latin typeface="Arial"/>
                <a:ea typeface="Arial"/>
                <a:cs typeface="Arial"/>
              </a:defRPr>
            </a:lvl4pPr>
            <a:lvl5pPr>
              <a:defRPr sz="3000" b="1">
                <a:solidFill>
                  <a:srgbClr val="122C43"/>
                </a:solidFill>
                <a:latin typeface="Arial"/>
                <a:ea typeface="Arial"/>
                <a:cs typeface="Arial"/>
              </a:defRPr>
            </a:lvl5pPr>
            <a:lvl6pPr>
              <a:defRPr sz="3000" b="1">
                <a:solidFill>
                  <a:srgbClr val="122C43"/>
                </a:solidFill>
                <a:latin typeface="Arial"/>
                <a:ea typeface="Arial"/>
                <a:cs typeface="Arial"/>
              </a:defRPr>
            </a:lvl6pPr>
            <a:lvl7pPr>
              <a:defRPr sz="3000" b="1">
                <a:solidFill>
                  <a:srgbClr val="122C43"/>
                </a:solidFill>
                <a:latin typeface="Arial"/>
                <a:ea typeface="Arial"/>
                <a:cs typeface="Arial"/>
              </a:defRPr>
            </a:lvl7pPr>
            <a:lvl8pPr>
              <a:defRPr sz="3000" b="1">
                <a:solidFill>
                  <a:srgbClr val="122C43"/>
                </a:solidFill>
                <a:latin typeface="Arial"/>
                <a:ea typeface="Arial"/>
                <a:cs typeface="Arial"/>
              </a:defRPr>
            </a:lvl8pPr>
            <a:lvl9pPr>
              <a:defRPr sz="3000" b="1">
                <a:solidFill>
                  <a:srgbClr val="122C43"/>
                </a:solidFill>
                <a:latin typeface="Arial"/>
                <a:ea typeface="Arial"/>
                <a:cs typeface="Arial"/>
              </a:defRPr>
            </a:lvl9pPr>
          </a:lstStyle>
          <a:p xmlns:a="http://schemas.openxmlformats.org/drawingml/2006/main">
            <a:pPr>
              <a:defRPr sz="3000" b="1">
                <a:solidFill>
                  <a:srgbClr val="122C43"/>
                </a:solidFill>
                <a:latin typeface="Arial"/>
                <a:ea typeface="Arial"/>
                <a:cs typeface="Arial"/>
              </a:defRPr>
            </a:pPr>
            <a:r>
              <a:rPr sz="3000" b="1">
                <a:solidFill>
                  <a:srgbClr val="122C43"/>
                </a:solidFill>
                <a:latin typeface="Arial"/>
                <a:ea typeface="Arial"/>
                <a:cs typeface="Arial"/>
              </a:rPr>
              <a:t>Which employees should HR</a:t>
            </a:r>
          </a:p>
          <a:p xmlns:a="http://schemas.openxmlformats.org/drawingml/2006/main">
            <a:pPr>
              <a:defRPr sz="3000" b="1">
                <a:solidFill>
                  <a:srgbClr val="122C43"/>
                </a:solidFill>
                <a:latin typeface="Arial"/>
                <a:ea typeface="Arial"/>
                <a:cs typeface="Arial"/>
              </a:defRPr>
            </a:pPr>
            <a:r>
              <a:rPr sz="3000" b="1">
                <a:solidFill>
                  <a:srgbClr val="122C43"/>
                </a:solidFill>
                <a:latin typeface="Arial"/>
                <a:ea typeface="Arial"/>
                <a:cs typeface="Arial"/>
              </a:rPr>
              <a:t>review first?</a:t>
            </a:r>
          </a:p>
        </p:txBody>
      </p:sp>
      <p:sp>
        <p:nvSpPr>
          <p:cNvPr id="8" name="">
            <a:extLst xmlns:a="http://schemas.openxmlformats.org/drawingml/2006/main">
              <a:ext uri="{FF2B5EF4-FFF2-40B4-BE49-F238E27FC236}">
                <a16:creationId xmlns:a16="http://schemas.microsoft.com/office/drawing/2014/main" id="{65FF3F52-B6F0-44A2-86D0-F84ECCB04E72}"/>
              </a:ext>
            </a:extLst>
          </p:cNvPr>
          <p:cNvSpPr>
            <a:spLocks xmlns:a="http://schemas.openxmlformats.org/drawingml/2006/main" noGrp="1"/>
          </p:cNvSpPr>
          <p:nvPr/>
        </p:nvSpPr>
        <p:spPr>
          <a:xfrm xmlns:a="http://schemas.openxmlformats.org/drawingml/2006/main">
            <a:off x="495300" y="3086100"/>
            <a:ext cx="6000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7334A"/>
                </a:solidFill>
                <a:latin typeface="Arial"/>
                <a:ea typeface="Arial"/>
                <a:cs typeface="Arial"/>
              </a:defRPr>
            </a:defPPr>
            <a:lvl1pPr>
              <a:defRPr sz="2025" b="0">
                <a:solidFill>
                  <a:srgbClr val="17334A"/>
                </a:solidFill>
                <a:latin typeface="Arial"/>
                <a:ea typeface="Arial"/>
                <a:cs typeface="Arial"/>
              </a:defRPr>
            </a:lvl1pPr>
            <a:lvl2pPr>
              <a:defRPr sz="2025" b="0">
                <a:solidFill>
                  <a:srgbClr val="17334A"/>
                </a:solidFill>
                <a:latin typeface="Arial"/>
                <a:ea typeface="Arial"/>
                <a:cs typeface="Arial"/>
              </a:defRPr>
            </a:lvl2pPr>
            <a:lvl3pPr>
              <a:defRPr sz="2025" b="0">
                <a:solidFill>
                  <a:srgbClr val="17334A"/>
                </a:solidFill>
                <a:latin typeface="Arial"/>
                <a:ea typeface="Arial"/>
                <a:cs typeface="Arial"/>
              </a:defRPr>
            </a:lvl3pPr>
            <a:lvl4pPr>
              <a:defRPr sz="2025" b="0">
                <a:solidFill>
                  <a:srgbClr val="17334A"/>
                </a:solidFill>
                <a:latin typeface="Arial"/>
                <a:ea typeface="Arial"/>
                <a:cs typeface="Arial"/>
              </a:defRPr>
            </a:lvl4pPr>
            <a:lvl5pPr>
              <a:defRPr sz="2025" b="0">
                <a:solidFill>
                  <a:srgbClr val="17334A"/>
                </a:solidFill>
                <a:latin typeface="Arial"/>
                <a:ea typeface="Arial"/>
                <a:cs typeface="Arial"/>
              </a:defRPr>
            </a:lvl5pPr>
            <a:lvl6pPr>
              <a:defRPr sz="2025" b="0">
                <a:solidFill>
                  <a:srgbClr val="17334A"/>
                </a:solidFill>
                <a:latin typeface="Arial"/>
                <a:ea typeface="Arial"/>
                <a:cs typeface="Arial"/>
              </a:defRPr>
            </a:lvl6pPr>
            <a:lvl7pPr>
              <a:defRPr sz="2025" b="0">
                <a:solidFill>
                  <a:srgbClr val="17334A"/>
                </a:solidFill>
                <a:latin typeface="Arial"/>
                <a:ea typeface="Arial"/>
                <a:cs typeface="Arial"/>
              </a:defRPr>
            </a:lvl7pPr>
            <a:lvl8pPr>
              <a:defRPr sz="2025" b="0">
                <a:solidFill>
                  <a:srgbClr val="17334A"/>
                </a:solidFill>
                <a:latin typeface="Arial"/>
                <a:ea typeface="Arial"/>
                <a:cs typeface="Arial"/>
              </a:defRPr>
            </a:lvl8pPr>
            <a:lvl9pPr>
              <a:defRPr sz="2025" b="0">
                <a:solidFill>
                  <a:srgbClr val="17334A"/>
                </a:solidFill>
                <a:latin typeface="Arial"/>
                <a:ea typeface="Arial"/>
                <a:cs typeface="Arial"/>
              </a:defRPr>
            </a:lvl9pPr>
          </a:lstStyle>
          <a:p xmlns:a="http://schemas.openxmlformats.org/drawingml/2006/main">
            <a:pPr>
              <a:defRPr sz="2025" b="0">
                <a:solidFill>
                  <a:srgbClr val="17334A"/>
                </a:solidFill>
                <a:latin typeface="Arial"/>
                <a:ea typeface="Arial"/>
                <a:cs typeface="Arial"/>
              </a:defRPr>
            </a:pPr>
            <a:r>
              <a:rPr sz="2025" b="0">
                <a:solidFill>
                  <a:srgbClr val="17334A"/>
                </a:solidFill>
                <a:latin typeface="Arial"/>
                <a:ea typeface="Arial"/>
                <a:cs typeface="Arial"/>
              </a:rPr>
              <a:t>Prioritise limited review capacity and identify</a:t>
            </a:r>
          </a:p>
          <a:p xmlns:a="http://schemas.openxmlformats.org/drawingml/2006/main">
            <a:pPr>
              <a:defRPr sz="2025" b="0">
                <a:solidFill>
                  <a:srgbClr val="17334A"/>
                </a:solidFill>
                <a:latin typeface="Arial"/>
                <a:ea typeface="Arial"/>
                <a:cs typeface="Arial"/>
              </a:defRPr>
            </a:pPr>
            <a:r>
              <a:rPr sz="2025" b="0">
                <a:solidFill>
                  <a:srgbClr val="17334A"/>
                </a:solidFill>
                <a:latin typeface="Arial"/>
                <a:ea typeface="Arial"/>
                <a:cs typeface="Arial"/>
              </a:rPr>
              <a:t>potential needs for retention support.</a:t>
            </a:r>
          </a:p>
        </p:txBody>
      </p:sp>
      <p:sp>
        <p:nvSpPr>
          <p:cNvPr id="9" name="">
            <a:extLst xmlns:a="http://schemas.openxmlformats.org/drawingml/2006/main">
              <a:ext uri="{FF2B5EF4-FFF2-40B4-BE49-F238E27FC236}">
                <a16:creationId xmlns:a16="http://schemas.microsoft.com/office/drawing/2014/main" id="{A3D35990-F753-4211-9026-B9CF12D59000}"/>
              </a:ext>
            </a:extLst>
          </p:cNvPr>
          <p:cNvSpPr>
            <a:spLocks xmlns:a="http://schemas.openxmlformats.org/drawingml/2006/main" noGrp="1"/>
          </p:cNvSpPr>
          <p:nvPr/>
        </p:nvSpPr>
        <p:spPr>
          <a:xfrm xmlns:a="http://schemas.openxmlformats.org/drawingml/2006/main">
            <a:off x="495300" y="4210050"/>
            <a:ext cx="276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650" b="1">
                <a:solidFill>
                  <a:srgbClr val="087E8B"/>
                </a:solidFill>
                <a:latin typeface="Arial"/>
                <a:ea typeface="Arial"/>
                <a:cs typeface="Arial"/>
              </a:defRPr>
            </a:defPPr>
            <a:lvl1pPr>
              <a:defRPr sz="4650" b="1">
                <a:solidFill>
                  <a:srgbClr val="087E8B"/>
                </a:solidFill>
                <a:latin typeface="Arial"/>
                <a:ea typeface="Arial"/>
                <a:cs typeface="Arial"/>
              </a:defRPr>
            </a:lvl1pPr>
            <a:lvl2pPr>
              <a:defRPr sz="4650" b="1">
                <a:solidFill>
                  <a:srgbClr val="087E8B"/>
                </a:solidFill>
                <a:latin typeface="Arial"/>
                <a:ea typeface="Arial"/>
                <a:cs typeface="Arial"/>
              </a:defRPr>
            </a:lvl2pPr>
            <a:lvl3pPr>
              <a:defRPr sz="4650" b="1">
                <a:solidFill>
                  <a:srgbClr val="087E8B"/>
                </a:solidFill>
                <a:latin typeface="Arial"/>
                <a:ea typeface="Arial"/>
                <a:cs typeface="Arial"/>
              </a:defRPr>
            </a:lvl3pPr>
            <a:lvl4pPr>
              <a:defRPr sz="4650" b="1">
                <a:solidFill>
                  <a:srgbClr val="087E8B"/>
                </a:solidFill>
                <a:latin typeface="Arial"/>
                <a:ea typeface="Arial"/>
                <a:cs typeface="Arial"/>
              </a:defRPr>
            </a:lvl4pPr>
            <a:lvl5pPr>
              <a:defRPr sz="4650" b="1">
                <a:solidFill>
                  <a:srgbClr val="087E8B"/>
                </a:solidFill>
                <a:latin typeface="Arial"/>
                <a:ea typeface="Arial"/>
                <a:cs typeface="Arial"/>
              </a:defRPr>
            </a:lvl5pPr>
            <a:lvl6pPr>
              <a:defRPr sz="4650" b="1">
                <a:solidFill>
                  <a:srgbClr val="087E8B"/>
                </a:solidFill>
                <a:latin typeface="Arial"/>
                <a:ea typeface="Arial"/>
                <a:cs typeface="Arial"/>
              </a:defRPr>
            </a:lvl6pPr>
            <a:lvl7pPr>
              <a:defRPr sz="4650" b="1">
                <a:solidFill>
                  <a:srgbClr val="087E8B"/>
                </a:solidFill>
                <a:latin typeface="Arial"/>
                <a:ea typeface="Arial"/>
                <a:cs typeface="Arial"/>
              </a:defRPr>
            </a:lvl7pPr>
            <a:lvl8pPr>
              <a:defRPr sz="4650" b="1">
                <a:solidFill>
                  <a:srgbClr val="087E8B"/>
                </a:solidFill>
                <a:latin typeface="Arial"/>
                <a:ea typeface="Arial"/>
                <a:cs typeface="Arial"/>
              </a:defRPr>
            </a:lvl8pPr>
            <a:lvl9pPr>
              <a:defRPr sz="4650" b="1">
                <a:solidFill>
                  <a:srgbClr val="087E8B"/>
                </a:solidFill>
                <a:latin typeface="Arial"/>
                <a:ea typeface="Arial"/>
                <a:cs typeface="Arial"/>
              </a:defRPr>
            </a:lvl9pPr>
          </a:lstStyle>
          <a:p xmlns:a="http://schemas.openxmlformats.org/drawingml/2006/main">
            <a:pPr>
              <a:defRPr sz="4650" b="1">
                <a:solidFill>
                  <a:srgbClr val="087E8B"/>
                </a:solidFill>
                <a:latin typeface="Arial"/>
                <a:ea typeface="Arial"/>
                <a:cs typeface="Arial"/>
              </a:defRPr>
            </a:pPr>
            <a:r>
              <a:rPr sz="4650" b="1">
                <a:solidFill>
                  <a:srgbClr val="087E8B"/>
                </a:solidFill>
                <a:latin typeface="Arial"/>
                <a:ea typeface="Arial"/>
                <a:cs typeface="Arial"/>
              </a:rPr>
              <a:t>5,000</a:t>
            </a:r>
          </a:p>
        </p:txBody>
      </p:sp>
      <p:sp>
        <p:nvSpPr>
          <p:cNvPr id="10" name="">
            <a:extLst xmlns:a="http://schemas.openxmlformats.org/drawingml/2006/main">
              <a:ext uri="{FF2B5EF4-FFF2-40B4-BE49-F238E27FC236}">
                <a16:creationId xmlns:a16="http://schemas.microsoft.com/office/drawing/2014/main" id="{5E7568E1-0DD5-4796-9936-9EACF329DF80}"/>
              </a:ext>
            </a:extLst>
          </p:cNvPr>
          <p:cNvSpPr>
            <a:spLocks xmlns:a="http://schemas.openxmlformats.org/drawingml/2006/main" noGrp="1"/>
          </p:cNvSpPr>
          <p:nvPr/>
        </p:nvSpPr>
        <p:spPr>
          <a:xfrm xmlns:a="http://schemas.openxmlformats.org/drawingml/2006/main">
            <a:off x="495300" y="4933950"/>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17334A"/>
                </a:solidFill>
                <a:latin typeface="Arial"/>
                <a:ea typeface="Arial"/>
                <a:cs typeface="Arial"/>
              </a:defRPr>
            </a:defPPr>
            <a:lvl1pPr>
              <a:defRPr sz="1725" b="0">
                <a:solidFill>
                  <a:srgbClr val="17334A"/>
                </a:solidFill>
                <a:latin typeface="Arial"/>
                <a:ea typeface="Arial"/>
                <a:cs typeface="Arial"/>
              </a:defRPr>
            </a:lvl1pPr>
            <a:lvl2pPr>
              <a:defRPr sz="1725" b="0">
                <a:solidFill>
                  <a:srgbClr val="17334A"/>
                </a:solidFill>
                <a:latin typeface="Arial"/>
                <a:ea typeface="Arial"/>
                <a:cs typeface="Arial"/>
              </a:defRPr>
            </a:lvl2pPr>
            <a:lvl3pPr>
              <a:defRPr sz="1725" b="0">
                <a:solidFill>
                  <a:srgbClr val="17334A"/>
                </a:solidFill>
                <a:latin typeface="Arial"/>
                <a:ea typeface="Arial"/>
                <a:cs typeface="Arial"/>
              </a:defRPr>
            </a:lvl3pPr>
            <a:lvl4pPr>
              <a:defRPr sz="1725" b="0">
                <a:solidFill>
                  <a:srgbClr val="17334A"/>
                </a:solidFill>
                <a:latin typeface="Arial"/>
                <a:ea typeface="Arial"/>
                <a:cs typeface="Arial"/>
              </a:defRPr>
            </a:lvl4pPr>
            <a:lvl5pPr>
              <a:defRPr sz="1725" b="0">
                <a:solidFill>
                  <a:srgbClr val="17334A"/>
                </a:solidFill>
                <a:latin typeface="Arial"/>
                <a:ea typeface="Arial"/>
                <a:cs typeface="Arial"/>
              </a:defRPr>
            </a:lvl5pPr>
            <a:lvl6pPr>
              <a:defRPr sz="1725" b="0">
                <a:solidFill>
                  <a:srgbClr val="17334A"/>
                </a:solidFill>
                <a:latin typeface="Arial"/>
                <a:ea typeface="Arial"/>
                <a:cs typeface="Arial"/>
              </a:defRPr>
            </a:lvl6pPr>
            <a:lvl7pPr>
              <a:defRPr sz="1725" b="0">
                <a:solidFill>
                  <a:srgbClr val="17334A"/>
                </a:solidFill>
                <a:latin typeface="Arial"/>
                <a:ea typeface="Arial"/>
                <a:cs typeface="Arial"/>
              </a:defRPr>
            </a:lvl7pPr>
            <a:lvl8pPr>
              <a:defRPr sz="1725" b="0">
                <a:solidFill>
                  <a:srgbClr val="17334A"/>
                </a:solidFill>
                <a:latin typeface="Arial"/>
                <a:ea typeface="Arial"/>
                <a:cs typeface="Arial"/>
              </a:defRPr>
            </a:lvl8pPr>
            <a:lvl9pPr>
              <a:defRPr sz="1725" b="0">
                <a:solidFill>
                  <a:srgbClr val="17334A"/>
                </a:solidFill>
                <a:latin typeface="Arial"/>
                <a:ea typeface="Arial"/>
                <a:cs typeface="Arial"/>
              </a:defRPr>
            </a:lvl9pPr>
          </a:lstStyle>
          <a:p xmlns:a="http://schemas.openxmlformats.org/drawingml/2006/main">
            <a:pPr>
              <a:defRPr sz="1725" b="0">
                <a:solidFill>
                  <a:srgbClr val="17334A"/>
                </a:solidFill>
                <a:latin typeface="Arial"/>
                <a:ea typeface="Arial"/>
                <a:cs typeface="Arial"/>
              </a:defRPr>
            </a:pPr>
            <a:r>
              <a:rPr sz="1725" b="0">
                <a:solidFill>
                  <a:srgbClr val="17334A"/>
                </a:solidFill>
                <a:latin typeface="Arial"/>
                <a:ea typeface="Arial"/>
                <a:cs typeface="Arial"/>
              </a:rPr>
              <a:t>unique employee records</a:t>
            </a:r>
          </a:p>
        </p:txBody>
      </p:sp>
      <p:sp>
        <p:nvSpPr>
          <p:cNvPr id="11" name="">
            <a:extLst xmlns:a="http://schemas.openxmlformats.org/drawingml/2006/main">
              <a:ext uri="{FF2B5EF4-FFF2-40B4-BE49-F238E27FC236}">
                <a16:creationId xmlns:a16="http://schemas.microsoft.com/office/drawing/2014/main" id="{F3FC410F-4158-4694-8CB7-8924EB18FF38}"/>
              </a:ext>
            </a:extLst>
          </p:cNvPr>
          <p:cNvSpPr>
            <a:spLocks xmlns:a="http://schemas.openxmlformats.org/drawingml/2006/main" noGrp="1"/>
          </p:cNvSpPr>
          <p:nvPr/>
        </p:nvSpPr>
        <p:spPr>
          <a:xfrm xmlns:a="http://schemas.openxmlformats.org/drawingml/2006/main">
            <a:off x="3667125" y="4210050"/>
            <a:ext cx="29051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650" b="1">
                <a:solidFill>
                  <a:srgbClr val="087E8B"/>
                </a:solidFill>
                <a:latin typeface="Arial"/>
                <a:ea typeface="Arial"/>
                <a:cs typeface="Arial"/>
              </a:defRPr>
            </a:defPPr>
            <a:lvl1pPr>
              <a:defRPr sz="4650" b="1">
                <a:solidFill>
                  <a:srgbClr val="087E8B"/>
                </a:solidFill>
                <a:latin typeface="Arial"/>
                <a:ea typeface="Arial"/>
                <a:cs typeface="Arial"/>
              </a:defRPr>
            </a:lvl1pPr>
            <a:lvl2pPr>
              <a:defRPr sz="4650" b="1">
                <a:solidFill>
                  <a:srgbClr val="087E8B"/>
                </a:solidFill>
                <a:latin typeface="Arial"/>
                <a:ea typeface="Arial"/>
                <a:cs typeface="Arial"/>
              </a:defRPr>
            </a:lvl2pPr>
            <a:lvl3pPr>
              <a:defRPr sz="4650" b="1">
                <a:solidFill>
                  <a:srgbClr val="087E8B"/>
                </a:solidFill>
                <a:latin typeface="Arial"/>
                <a:ea typeface="Arial"/>
                <a:cs typeface="Arial"/>
              </a:defRPr>
            </a:lvl3pPr>
            <a:lvl4pPr>
              <a:defRPr sz="4650" b="1">
                <a:solidFill>
                  <a:srgbClr val="087E8B"/>
                </a:solidFill>
                <a:latin typeface="Arial"/>
                <a:ea typeface="Arial"/>
                <a:cs typeface="Arial"/>
              </a:defRPr>
            </a:lvl4pPr>
            <a:lvl5pPr>
              <a:defRPr sz="4650" b="1">
                <a:solidFill>
                  <a:srgbClr val="087E8B"/>
                </a:solidFill>
                <a:latin typeface="Arial"/>
                <a:ea typeface="Arial"/>
                <a:cs typeface="Arial"/>
              </a:defRPr>
            </a:lvl5pPr>
            <a:lvl6pPr>
              <a:defRPr sz="4650" b="1">
                <a:solidFill>
                  <a:srgbClr val="087E8B"/>
                </a:solidFill>
                <a:latin typeface="Arial"/>
                <a:ea typeface="Arial"/>
                <a:cs typeface="Arial"/>
              </a:defRPr>
            </a:lvl6pPr>
            <a:lvl7pPr>
              <a:defRPr sz="4650" b="1">
                <a:solidFill>
                  <a:srgbClr val="087E8B"/>
                </a:solidFill>
                <a:latin typeface="Arial"/>
                <a:ea typeface="Arial"/>
                <a:cs typeface="Arial"/>
              </a:defRPr>
            </a:lvl7pPr>
            <a:lvl8pPr>
              <a:defRPr sz="4650" b="1">
                <a:solidFill>
                  <a:srgbClr val="087E8B"/>
                </a:solidFill>
                <a:latin typeface="Arial"/>
                <a:ea typeface="Arial"/>
                <a:cs typeface="Arial"/>
              </a:defRPr>
            </a:lvl8pPr>
            <a:lvl9pPr>
              <a:defRPr sz="4650" b="1">
                <a:solidFill>
                  <a:srgbClr val="087E8B"/>
                </a:solidFill>
                <a:latin typeface="Arial"/>
                <a:ea typeface="Arial"/>
                <a:cs typeface="Arial"/>
              </a:defRPr>
            </a:lvl9pPr>
          </a:lstStyle>
          <a:p xmlns:a="http://schemas.openxmlformats.org/drawingml/2006/main">
            <a:pPr>
              <a:defRPr sz="4650" b="1">
                <a:solidFill>
                  <a:srgbClr val="087E8B"/>
                </a:solidFill>
                <a:latin typeface="Arial"/>
                <a:ea typeface="Arial"/>
                <a:cs typeface="Arial"/>
              </a:defRPr>
            </a:pPr>
            <a:r>
              <a:rPr sz="4650" b="1">
                <a:solidFill>
                  <a:srgbClr val="087E8B"/>
                </a:solidFill>
                <a:latin typeface="Arial"/>
                <a:ea typeface="Arial"/>
                <a:cs typeface="Arial"/>
              </a:rPr>
              <a:t>16.34%</a:t>
            </a:r>
          </a:p>
        </p:txBody>
      </p:sp>
      <p:sp>
        <p:nvSpPr>
          <p:cNvPr id="12" name="">
            <a:extLst xmlns:a="http://schemas.openxmlformats.org/drawingml/2006/main">
              <a:ext uri="{FF2B5EF4-FFF2-40B4-BE49-F238E27FC236}">
                <a16:creationId xmlns:a16="http://schemas.microsoft.com/office/drawing/2014/main" id="{119D2FBA-793A-4959-81DD-8521D89C3E4D}"/>
              </a:ext>
            </a:extLst>
          </p:cNvPr>
          <p:cNvSpPr>
            <a:spLocks xmlns:a="http://schemas.openxmlformats.org/drawingml/2006/main" noGrp="1"/>
          </p:cNvSpPr>
          <p:nvPr/>
        </p:nvSpPr>
        <p:spPr>
          <a:xfrm xmlns:a="http://schemas.openxmlformats.org/drawingml/2006/main">
            <a:off x="3667125" y="4933950"/>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17334A"/>
                </a:solidFill>
                <a:latin typeface="Arial"/>
                <a:ea typeface="Arial"/>
                <a:cs typeface="Arial"/>
              </a:defRPr>
            </a:defPPr>
            <a:lvl1pPr>
              <a:defRPr sz="1725" b="0">
                <a:solidFill>
                  <a:srgbClr val="17334A"/>
                </a:solidFill>
                <a:latin typeface="Arial"/>
                <a:ea typeface="Arial"/>
                <a:cs typeface="Arial"/>
              </a:defRPr>
            </a:lvl1pPr>
            <a:lvl2pPr>
              <a:defRPr sz="1725" b="0">
                <a:solidFill>
                  <a:srgbClr val="17334A"/>
                </a:solidFill>
                <a:latin typeface="Arial"/>
                <a:ea typeface="Arial"/>
                <a:cs typeface="Arial"/>
              </a:defRPr>
            </a:lvl2pPr>
            <a:lvl3pPr>
              <a:defRPr sz="1725" b="0">
                <a:solidFill>
                  <a:srgbClr val="17334A"/>
                </a:solidFill>
                <a:latin typeface="Arial"/>
                <a:ea typeface="Arial"/>
                <a:cs typeface="Arial"/>
              </a:defRPr>
            </a:lvl3pPr>
            <a:lvl4pPr>
              <a:defRPr sz="1725" b="0">
                <a:solidFill>
                  <a:srgbClr val="17334A"/>
                </a:solidFill>
                <a:latin typeface="Arial"/>
                <a:ea typeface="Arial"/>
                <a:cs typeface="Arial"/>
              </a:defRPr>
            </a:lvl4pPr>
            <a:lvl5pPr>
              <a:defRPr sz="1725" b="0">
                <a:solidFill>
                  <a:srgbClr val="17334A"/>
                </a:solidFill>
                <a:latin typeface="Arial"/>
                <a:ea typeface="Arial"/>
                <a:cs typeface="Arial"/>
              </a:defRPr>
            </a:lvl5pPr>
            <a:lvl6pPr>
              <a:defRPr sz="1725" b="0">
                <a:solidFill>
                  <a:srgbClr val="17334A"/>
                </a:solidFill>
                <a:latin typeface="Arial"/>
                <a:ea typeface="Arial"/>
                <a:cs typeface="Arial"/>
              </a:defRPr>
            </a:lvl6pPr>
            <a:lvl7pPr>
              <a:defRPr sz="1725" b="0">
                <a:solidFill>
                  <a:srgbClr val="17334A"/>
                </a:solidFill>
                <a:latin typeface="Arial"/>
                <a:ea typeface="Arial"/>
                <a:cs typeface="Arial"/>
              </a:defRPr>
            </a:lvl7pPr>
            <a:lvl8pPr>
              <a:defRPr sz="1725" b="0">
                <a:solidFill>
                  <a:srgbClr val="17334A"/>
                </a:solidFill>
                <a:latin typeface="Arial"/>
                <a:ea typeface="Arial"/>
                <a:cs typeface="Arial"/>
              </a:defRPr>
            </a:lvl8pPr>
            <a:lvl9pPr>
              <a:defRPr sz="1725" b="0">
                <a:solidFill>
                  <a:srgbClr val="17334A"/>
                </a:solidFill>
                <a:latin typeface="Arial"/>
                <a:ea typeface="Arial"/>
                <a:cs typeface="Arial"/>
              </a:defRPr>
            </a:lvl9pPr>
          </a:lstStyle>
          <a:p xmlns:a="http://schemas.openxmlformats.org/drawingml/2006/main">
            <a:pPr>
              <a:defRPr sz="1725" b="0">
                <a:solidFill>
                  <a:srgbClr val="17334A"/>
                </a:solidFill>
                <a:latin typeface="Arial"/>
                <a:ea typeface="Arial"/>
                <a:cs typeface="Arial"/>
              </a:defRPr>
            </a:pPr>
            <a:r>
              <a:rPr sz="1725" b="0">
                <a:solidFill>
                  <a:srgbClr val="17334A"/>
                </a:solidFill>
                <a:latin typeface="Arial"/>
                <a:ea typeface="Arial"/>
                <a:cs typeface="Arial"/>
              </a:rPr>
              <a:t>observed attrition</a:t>
            </a:r>
          </a:p>
        </p:txBody>
      </p:sp>
      <p:sp>
        <p:nvSpPr>
          <p:cNvPr id="13" name="">
            <a:extLst xmlns:a="http://schemas.openxmlformats.org/drawingml/2006/main">
              <a:ext uri="{FF2B5EF4-FFF2-40B4-BE49-F238E27FC236}">
                <a16:creationId xmlns:a16="http://schemas.microsoft.com/office/drawing/2014/main" id="{6C775456-CA7D-46C5-AC38-7EB22C3F4219}"/>
              </a:ext>
            </a:extLst>
          </p:cNvPr>
          <p:cNvSpPr>
            <a:spLocks xmlns:a="http://schemas.openxmlformats.org/drawingml/2006/main" noGrp="1"/>
          </p:cNvSpPr>
          <p:nvPr/>
        </p:nvSpPr>
        <p:spPr>
          <a:xfrm xmlns:a="http://schemas.openxmlformats.org/drawingml/2006/main">
            <a:off x="495300" y="5591175"/>
            <a:ext cx="6000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26879"/>
                </a:solidFill>
                <a:latin typeface="Arial"/>
                <a:ea typeface="Arial"/>
                <a:cs typeface="Arial"/>
              </a:defRPr>
            </a:defPPr>
            <a:lvl1pPr>
              <a:defRPr sz="1800" b="0">
                <a:solidFill>
                  <a:srgbClr val="526879"/>
                </a:solidFill>
                <a:latin typeface="Arial"/>
                <a:ea typeface="Arial"/>
                <a:cs typeface="Arial"/>
              </a:defRPr>
            </a:lvl1pPr>
            <a:lvl2pPr>
              <a:defRPr sz="1800" b="0">
                <a:solidFill>
                  <a:srgbClr val="526879"/>
                </a:solidFill>
                <a:latin typeface="Arial"/>
                <a:ea typeface="Arial"/>
                <a:cs typeface="Arial"/>
              </a:defRPr>
            </a:lvl2pPr>
            <a:lvl3pPr>
              <a:defRPr sz="1800" b="0">
                <a:solidFill>
                  <a:srgbClr val="526879"/>
                </a:solidFill>
                <a:latin typeface="Arial"/>
                <a:ea typeface="Arial"/>
                <a:cs typeface="Arial"/>
              </a:defRPr>
            </a:lvl3pPr>
            <a:lvl4pPr>
              <a:defRPr sz="1800" b="0">
                <a:solidFill>
                  <a:srgbClr val="526879"/>
                </a:solidFill>
                <a:latin typeface="Arial"/>
                <a:ea typeface="Arial"/>
                <a:cs typeface="Arial"/>
              </a:defRPr>
            </a:lvl4pPr>
            <a:lvl5pPr>
              <a:defRPr sz="1800" b="0">
                <a:solidFill>
                  <a:srgbClr val="526879"/>
                </a:solidFill>
                <a:latin typeface="Arial"/>
                <a:ea typeface="Arial"/>
                <a:cs typeface="Arial"/>
              </a:defRPr>
            </a:lvl5pPr>
            <a:lvl6pPr>
              <a:defRPr sz="1800" b="0">
                <a:solidFill>
                  <a:srgbClr val="526879"/>
                </a:solidFill>
                <a:latin typeface="Arial"/>
                <a:ea typeface="Arial"/>
                <a:cs typeface="Arial"/>
              </a:defRPr>
            </a:lvl6pPr>
            <a:lvl7pPr>
              <a:defRPr sz="1800" b="0">
                <a:solidFill>
                  <a:srgbClr val="526879"/>
                </a:solidFill>
                <a:latin typeface="Arial"/>
                <a:ea typeface="Arial"/>
                <a:cs typeface="Arial"/>
              </a:defRPr>
            </a:lvl7pPr>
            <a:lvl8pPr>
              <a:defRPr sz="1800" b="0">
                <a:solidFill>
                  <a:srgbClr val="526879"/>
                </a:solidFill>
                <a:latin typeface="Arial"/>
                <a:ea typeface="Arial"/>
                <a:cs typeface="Arial"/>
              </a:defRPr>
            </a:lvl8pPr>
            <a:lvl9pPr>
              <a:defRPr sz="1800" b="0">
                <a:solidFill>
                  <a:srgbClr val="526879"/>
                </a:solidFill>
                <a:latin typeface="Arial"/>
                <a:ea typeface="Arial"/>
                <a:cs typeface="Arial"/>
              </a:defRPr>
            </a:lvl9pPr>
          </a:lstStyle>
          <a:p xmlns:a="http://schemas.openxmlformats.org/drawingml/2006/main">
            <a:pPr>
              <a:defRPr sz="1800" b="0">
                <a:solidFill>
                  <a:srgbClr val="526879"/>
                </a:solidFill>
                <a:latin typeface="Arial"/>
                <a:ea typeface="Arial"/>
                <a:cs typeface="Arial"/>
              </a:defRPr>
            </a:pPr>
            <a:r>
              <a:rPr sz="1800" b="0">
                <a:solidFill>
                  <a:srgbClr val="526879"/>
                </a:solidFill>
                <a:latin typeface="Arial"/>
                <a:ea typeface="Arial"/>
                <a:cs typeface="Arial"/>
              </a:rPr>
              <a:t>Value to test in a pilot: more useful reviews,</a:t>
            </a:r>
          </a:p>
          <a:p xmlns:a="http://schemas.openxmlformats.org/drawingml/2006/main">
            <a:pPr>
              <a:defRPr sz="1800" b="0">
                <a:solidFill>
                  <a:srgbClr val="526879"/>
                </a:solidFill>
                <a:latin typeface="Arial"/>
                <a:ea typeface="Arial"/>
                <a:cs typeface="Arial"/>
              </a:defRPr>
            </a:pPr>
            <a:r>
              <a:rPr sz="1800" b="0">
                <a:solidFill>
                  <a:srgbClr val="526879"/>
                </a:solidFill>
                <a:latin typeface="Arial"/>
                <a:ea typeface="Arial"/>
                <a:cs typeface="Arial"/>
              </a:rPr>
              <a:t>fewer avoidable exits and lower replacement cost.</a:t>
            </a:r>
          </a:p>
        </p:txBody>
      </p:sp>
      <p:sp>
        <p:nvSpPr>
          <p:cNvPr id="14" name="">
            <a:extLst xmlns:a="http://schemas.openxmlformats.org/drawingml/2006/main">
              <a:ext uri="{FF2B5EF4-FFF2-40B4-BE49-F238E27FC236}">
                <a16:creationId xmlns:a16="http://schemas.microsoft.com/office/drawing/2014/main" id="{04528BB3-2830-41EF-AA00-6D8C5D415452}"/>
              </a:ext>
            </a:extLst>
          </p:cNvPr>
          <p:cNvSpPr>
            <a:spLocks xmlns:a="http://schemas.openxmlformats.org/drawingml/2006/main" noGrp="1"/>
          </p:cNvSpPr>
          <p:nvPr/>
        </p:nvSpPr>
        <p:spPr>
          <a:xfrm xmlns:a="http://schemas.openxmlformats.org/drawingml/2006/main">
            <a:off x="7000875" y="1743075"/>
            <a:ext cx="46958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122C43"/>
                </a:solidFill>
                <a:latin typeface="Arial"/>
                <a:ea typeface="Arial"/>
                <a:cs typeface="Arial"/>
              </a:defRPr>
            </a:defPPr>
            <a:lvl1pPr>
              <a:defRPr sz="2250" b="1">
                <a:solidFill>
                  <a:srgbClr val="122C43"/>
                </a:solidFill>
                <a:latin typeface="Arial"/>
                <a:ea typeface="Arial"/>
                <a:cs typeface="Arial"/>
              </a:defRPr>
            </a:lvl1pPr>
            <a:lvl2pPr>
              <a:defRPr sz="2250" b="1">
                <a:solidFill>
                  <a:srgbClr val="122C43"/>
                </a:solidFill>
                <a:latin typeface="Arial"/>
                <a:ea typeface="Arial"/>
                <a:cs typeface="Arial"/>
              </a:defRPr>
            </a:lvl2pPr>
            <a:lvl3pPr>
              <a:defRPr sz="2250" b="1">
                <a:solidFill>
                  <a:srgbClr val="122C43"/>
                </a:solidFill>
                <a:latin typeface="Arial"/>
                <a:ea typeface="Arial"/>
                <a:cs typeface="Arial"/>
              </a:defRPr>
            </a:lvl3pPr>
            <a:lvl4pPr>
              <a:defRPr sz="2250" b="1">
                <a:solidFill>
                  <a:srgbClr val="122C43"/>
                </a:solidFill>
                <a:latin typeface="Arial"/>
                <a:ea typeface="Arial"/>
                <a:cs typeface="Arial"/>
              </a:defRPr>
            </a:lvl4pPr>
            <a:lvl5pPr>
              <a:defRPr sz="2250" b="1">
                <a:solidFill>
                  <a:srgbClr val="122C43"/>
                </a:solidFill>
                <a:latin typeface="Arial"/>
                <a:ea typeface="Arial"/>
                <a:cs typeface="Arial"/>
              </a:defRPr>
            </a:lvl5pPr>
            <a:lvl6pPr>
              <a:defRPr sz="2250" b="1">
                <a:solidFill>
                  <a:srgbClr val="122C43"/>
                </a:solidFill>
                <a:latin typeface="Arial"/>
                <a:ea typeface="Arial"/>
                <a:cs typeface="Arial"/>
              </a:defRPr>
            </a:lvl6pPr>
            <a:lvl7pPr>
              <a:defRPr sz="2250" b="1">
                <a:solidFill>
                  <a:srgbClr val="122C43"/>
                </a:solidFill>
                <a:latin typeface="Arial"/>
                <a:ea typeface="Arial"/>
                <a:cs typeface="Arial"/>
              </a:defRPr>
            </a:lvl7pPr>
            <a:lvl8pPr>
              <a:defRPr sz="2250" b="1">
                <a:solidFill>
                  <a:srgbClr val="122C43"/>
                </a:solidFill>
                <a:latin typeface="Arial"/>
                <a:ea typeface="Arial"/>
                <a:cs typeface="Arial"/>
              </a:defRPr>
            </a:lvl8pPr>
            <a:lvl9pPr>
              <a:defRPr sz="2250" b="1">
                <a:solidFill>
                  <a:srgbClr val="122C43"/>
                </a:solidFill>
                <a:latin typeface="Arial"/>
                <a:ea typeface="Arial"/>
                <a:cs typeface="Arial"/>
              </a:defRPr>
            </a:lvl9pPr>
          </a:lstStyle>
          <a:p xmlns:a="http://schemas.openxmlformats.org/drawingml/2006/main">
            <a:pPr>
              <a:defRPr sz="2250" b="1">
                <a:solidFill>
                  <a:srgbClr val="122C43"/>
                </a:solidFill>
                <a:latin typeface="Arial"/>
                <a:ea typeface="Arial"/>
                <a:cs typeface="Arial"/>
              </a:defRPr>
            </a:pPr>
            <a:r>
              <a:rPr sz="2250" b="1">
                <a:solidFill>
                  <a:srgbClr val="122C43"/>
                </a:solidFill>
                <a:latin typeface="Arial"/>
                <a:ea typeface="Arial"/>
                <a:cs typeface="Arial"/>
              </a:rPr>
              <a:t>Class imbalance</a:t>
            </a:r>
          </a:p>
        </p:txBody>
      </p:sp>
      <p:graphicFrame>
        <p:nvGraphicFramePr>
          <p:cNvPr id="15" name="Chart">
            <a:extLst xmlns:a="http://schemas.openxmlformats.org/drawingml/2006/main">
              <a:ext uri="{FF2B5EF4-FFF2-40B4-BE49-F238E27FC236}">
                <a16:creationId xmlns:a16="http://schemas.microsoft.com/office/drawing/2014/main" id="{963CC31A-E2BD-4038-90EA-31557EFDC8F0}"/>
              </a:ext>
            </a:extLst>
          </p:cNvPr>
          <p:cNvGraphicFramePr/>
          <p:nvPr/>
        </p:nvGraphicFramePr>
        <p:xfrm>
          <a:off xmlns:a="http://schemas.openxmlformats.org/drawingml/2006/main" x="7000875" y="2362200"/>
          <a:ext xmlns:a="http://schemas.openxmlformats.org/drawingml/2006/main" cx="4695825" cy="2476500"/>
        </p:xfrm>
        <a:graphic xmlns:a="http://schemas.openxmlformats.org/drawingml/2006/main">
          <a:graphicData uri="http://schemas.openxmlformats.org/drawingml/2006/chart">
            <c:chart xmlns:r="http://schemas.openxmlformats.org/officeDocument/2006/relationships" xmlns:c="http://schemas.openxmlformats.org/drawingml/2006/chart" r:id="Red8190c363554ba7"/>
          </a:graphicData>
        </a:graphic>
      </p:graphicFrame>
      <p:sp>
        <p:nvSpPr>
          <p:cNvPr id="16" name="">
            <a:extLst xmlns:a="http://schemas.openxmlformats.org/drawingml/2006/main">
              <a:ext uri="{FF2B5EF4-FFF2-40B4-BE49-F238E27FC236}">
                <a16:creationId xmlns:a16="http://schemas.microsoft.com/office/drawing/2014/main" id="{F80F33EB-AE63-42EA-830F-0DD47E4DD333}"/>
              </a:ext>
            </a:extLst>
          </p:cNvPr>
          <p:cNvSpPr>
            <a:spLocks xmlns:a="http://schemas.openxmlformats.org/drawingml/2006/main" noGrp="1"/>
          </p:cNvSpPr>
          <p:nvPr/>
        </p:nvSpPr>
        <p:spPr>
          <a:xfrm xmlns:a="http://schemas.openxmlformats.org/drawingml/2006/main">
            <a:off x="7000875" y="5143500"/>
            <a:ext cx="46958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122C43"/>
                </a:solidFill>
                <a:latin typeface="Arial"/>
                <a:ea typeface="Arial"/>
                <a:cs typeface="Arial"/>
              </a:defRPr>
            </a:defPPr>
            <a:lvl1pPr>
              <a:defRPr sz="2025" b="1">
                <a:solidFill>
                  <a:srgbClr val="122C43"/>
                </a:solidFill>
                <a:latin typeface="Arial"/>
                <a:ea typeface="Arial"/>
                <a:cs typeface="Arial"/>
              </a:defRPr>
            </a:lvl1pPr>
            <a:lvl2pPr>
              <a:defRPr sz="2025" b="1">
                <a:solidFill>
                  <a:srgbClr val="122C43"/>
                </a:solidFill>
                <a:latin typeface="Arial"/>
                <a:ea typeface="Arial"/>
                <a:cs typeface="Arial"/>
              </a:defRPr>
            </a:lvl2pPr>
            <a:lvl3pPr>
              <a:defRPr sz="2025" b="1">
                <a:solidFill>
                  <a:srgbClr val="122C43"/>
                </a:solidFill>
                <a:latin typeface="Arial"/>
                <a:ea typeface="Arial"/>
                <a:cs typeface="Arial"/>
              </a:defRPr>
            </a:lvl3pPr>
            <a:lvl4pPr>
              <a:defRPr sz="2025" b="1">
                <a:solidFill>
                  <a:srgbClr val="122C43"/>
                </a:solidFill>
                <a:latin typeface="Arial"/>
                <a:ea typeface="Arial"/>
                <a:cs typeface="Arial"/>
              </a:defRPr>
            </a:lvl4pPr>
            <a:lvl5pPr>
              <a:defRPr sz="2025" b="1">
                <a:solidFill>
                  <a:srgbClr val="122C43"/>
                </a:solidFill>
                <a:latin typeface="Arial"/>
                <a:ea typeface="Arial"/>
                <a:cs typeface="Arial"/>
              </a:defRPr>
            </a:lvl5pPr>
            <a:lvl6pPr>
              <a:defRPr sz="2025" b="1">
                <a:solidFill>
                  <a:srgbClr val="122C43"/>
                </a:solidFill>
                <a:latin typeface="Arial"/>
                <a:ea typeface="Arial"/>
                <a:cs typeface="Arial"/>
              </a:defRPr>
            </a:lvl6pPr>
            <a:lvl7pPr>
              <a:defRPr sz="2025" b="1">
                <a:solidFill>
                  <a:srgbClr val="122C43"/>
                </a:solidFill>
                <a:latin typeface="Arial"/>
                <a:ea typeface="Arial"/>
                <a:cs typeface="Arial"/>
              </a:defRPr>
            </a:lvl7pPr>
            <a:lvl8pPr>
              <a:defRPr sz="2025" b="1">
                <a:solidFill>
                  <a:srgbClr val="122C43"/>
                </a:solidFill>
                <a:latin typeface="Arial"/>
                <a:ea typeface="Arial"/>
                <a:cs typeface="Arial"/>
              </a:defRPr>
            </a:lvl8pPr>
            <a:lvl9pPr>
              <a:defRPr sz="2025" b="1">
                <a:solidFill>
                  <a:srgbClr val="122C43"/>
                </a:solidFill>
                <a:latin typeface="Arial"/>
                <a:ea typeface="Arial"/>
                <a:cs typeface="Arial"/>
              </a:defRPr>
            </a:lvl9pPr>
          </a:lstStyle>
          <a:p xmlns:a="http://schemas.openxmlformats.org/drawingml/2006/main">
            <a:pPr>
              <a:defRPr sz="2025" b="1">
                <a:solidFill>
                  <a:srgbClr val="122C43"/>
                </a:solidFill>
                <a:latin typeface="Arial"/>
                <a:ea typeface="Arial"/>
                <a:cs typeface="Arial"/>
              </a:defRPr>
            </a:pPr>
            <a:r>
              <a:rPr sz="2025" b="1">
                <a:solidFill>
                  <a:srgbClr val="122C43"/>
                </a:solidFill>
                <a:latin typeface="Arial"/>
                <a:ea typeface="Arial"/>
                <a:cs typeface="Arial"/>
              </a:rPr>
              <a:t>83.66% accuracy by predicting everyone stays</a:t>
            </a:r>
          </a:p>
        </p:txBody>
      </p:sp>
      <p:sp>
        <p:nvSpPr>
          <p:cNvPr id="17" name="">
            <a:extLst xmlns:a="http://schemas.openxmlformats.org/drawingml/2006/main">
              <a:ext uri="{FF2B5EF4-FFF2-40B4-BE49-F238E27FC236}">
                <a16:creationId xmlns:a16="http://schemas.microsoft.com/office/drawing/2014/main" id="{D52650BD-9063-4D00-B5E1-92AF056A9538}"/>
              </a:ext>
            </a:extLst>
          </p:cNvPr>
          <p:cNvSpPr>
            <a:spLocks xmlns:a="http://schemas.openxmlformats.org/drawingml/2006/main" noGrp="1"/>
          </p:cNvSpPr>
          <p:nvPr/>
        </p:nvSpPr>
        <p:spPr>
          <a:xfrm xmlns:a="http://schemas.openxmlformats.org/drawingml/2006/main">
            <a:off x="7000875" y="5829300"/>
            <a:ext cx="46958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26879"/>
                </a:solidFill>
                <a:latin typeface="Arial"/>
                <a:ea typeface="Arial"/>
                <a:cs typeface="Arial"/>
              </a:defRPr>
            </a:defPPr>
            <a:lvl1pPr>
              <a:defRPr sz="1725" b="0">
                <a:solidFill>
                  <a:srgbClr val="526879"/>
                </a:solidFill>
                <a:latin typeface="Arial"/>
                <a:ea typeface="Arial"/>
                <a:cs typeface="Arial"/>
              </a:defRPr>
            </a:lvl1pPr>
            <a:lvl2pPr>
              <a:defRPr sz="1725" b="0">
                <a:solidFill>
                  <a:srgbClr val="526879"/>
                </a:solidFill>
                <a:latin typeface="Arial"/>
                <a:ea typeface="Arial"/>
                <a:cs typeface="Arial"/>
              </a:defRPr>
            </a:lvl2pPr>
            <a:lvl3pPr>
              <a:defRPr sz="1725" b="0">
                <a:solidFill>
                  <a:srgbClr val="526879"/>
                </a:solidFill>
                <a:latin typeface="Arial"/>
                <a:ea typeface="Arial"/>
                <a:cs typeface="Arial"/>
              </a:defRPr>
            </a:lvl3pPr>
            <a:lvl4pPr>
              <a:defRPr sz="1725" b="0">
                <a:solidFill>
                  <a:srgbClr val="526879"/>
                </a:solidFill>
                <a:latin typeface="Arial"/>
                <a:ea typeface="Arial"/>
                <a:cs typeface="Arial"/>
              </a:defRPr>
            </a:lvl4pPr>
            <a:lvl5pPr>
              <a:defRPr sz="1725" b="0">
                <a:solidFill>
                  <a:srgbClr val="526879"/>
                </a:solidFill>
                <a:latin typeface="Arial"/>
                <a:ea typeface="Arial"/>
                <a:cs typeface="Arial"/>
              </a:defRPr>
            </a:lvl5pPr>
            <a:lvl6pPr>
              <a:defRPr sz="1725" b="0">
                <a:solidFill>
                  <a:srgbClr val="526879"/>
                </a:solidFill>
                <a:latin typeface="Arial"/>
                <a:ea typeface="Arial"/>
                <a:cs typeface="Arial"/>
              </a:defRPr>
            </a:lvl6pPr>
            <a:lvl7pPr>
              <a:defRPr sz="1725" b="0">
                <a:solidFill>
                  <a:srgbClr val="526879"/>
                </a:solidFill>
                <a:latin typeface="Arial"/>
                <a:ea typeface="Arial"/>
                <a:cs typeface="Arial"/>
              </a:defRPr>
            </a:lvl7pPr>
            <a:lvl8pPr>
              <a:defRPr sz="1725" b="0">
                <a:solidFill>
                  <a:srgbClr val="526879"/>
                </a:solidFill>
                <a:latin typeface="Arial"/>
                <a:ea typeface="Arial"/>
                <a:cs typeface="Arial"/>
              </a:defRPr>
            </a:lvl8pPr>
            <a:lvl9pPr>
              <a:defRPr sz="1725" b="0">
                <a:solidFill>
                  <a:srgbClr val="526879"/>
                </a:solidFill>
                <a:latin typeface="Arial"/>
                <a:ea typeface="Arial"/>
                <a:cs typeface="Arial"/>
              </a:defRPr>
            </a:lvl9pPr>
          </a:lstStyle>
          <a:p xmlns:a="http://schemas.openxmlformats.org/drawingml/2006/main">
            <a:pPr>
              <a:defRPr sz="1725" b="0">
                <a:solidFill>
                  <a:srgbClr val="526879"/>
                </a:solidFill>
                <a:latin typeface="Arial"/>
                <a:ea typeface="Arial"/>
                <a:cs typeface="Arial"/>
              </a:defRPr>
            </a:pPr>
            <a:r>
              <a:rPr sz="1725" b="0">
                <a:solidFill>
                  <a:srgbClr val="526879"/>
                </a:solidFill>
                <a:latin typeface="Arial"/>
                <a:ea typeface="Arial"/>
                <a:cs typeface="Arial"/>
              </a:rPr>
              <a:t>That trivial rule finds no leavers.</a:t>
            </a:r>
          </a:p>
          <a:p xmlns:a="http://schemas.openxmlformats.org/drawingml/2006/main">
            <a:pPr>
              <a:defRPr sz="1725" b="0">
                <a:solidFill>
                  <a:srgbClr val="526879"/>
                </a:solidFill>
                <a:latin typeface="Arial"/>
                <a:ea typeface="Arial"/>
                <a:cs typeface="Arial"/>
              </a:defRPr>
            </a:pPr>
            <a:r>
              <a:rPr sz="1725" b="0">
                <a:solidFill>
                  <a:srgbClr val="526879"/>
                </a:solidFill>
                <a:latin typeface="Arial"/>
                <a:ea typeface="Arial"/>
                <a:cs typeface="Arial"/>
              </a:rPr>
              <a:t>Precision and recall drive useful decisions.</a:t>
            </a:r>
          </a:p>
        </p:txBody>
      </p:sp>
    </p:spTree>
    <p:extLst>
      <p:ext uri="{BB962C8B-B14F-4D97-AF65-F5344CB8AC3E}">
        <p14:creationId xmlns:p14="http://schemas.microsoft.com/office/powerpoint/2010/main" val="180575360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738F94EC-CE11-40D2-940F-728C46D1410E}"/>
              </a:ext>
            </a:extLst>
          </p:cNvPr>
          <p:cNvSpPr>
            <a:spLocks xmlns:a="http://schemas.openxmlformats.org/drawingml/2006/main" noGrp="1"/>
          </p:cNvSpPr>
          <p:nvPr/>
        </p:nvSpPr>
        <p:spPr>
          <a:xfrm xmlns:a="http://schemas.openxmlformats.org/drawingml/2006/main">
            <a:off x="495300" y="2476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087E8B"/>
                </a:solidFill>
                <a:latin typeface="Arial"/>
                <a:ea typeface="Arial"/>
                <a:cs typeface="Arial"/>
              </a:defRPr>
            </a:defPPr>
            <a:lvl1pPr>
              <a:defRPr sz="1275" b="1">
                <a:solidFill>
                  <a:srgbClr val="087E8B"/>
                </a:solidFill>
                <a:latin typeface="Arial"/>
                <a:ea typeface="Arial"/>
                <a:cs typeface="Arial"/>
              </a:defRPr>
            </a:lvl1pPr>
            <a:lvl2pPr>
              <a:defRPr sz="1275" b="1">
                <a:solidFill>
                  <a:srgbClr val="087E8B"/>
                </a:solidFill>
                <a:latin typeface="Arial"/>
                <a:ea typeface="Arial"/>
                <a:cs typeface="Arial"/>
              </a:defRPr>
            </a:lvl2pPr>
            <a:lvl3pPr>
              <a:defRPr sz="1275" b="1">
                <a:solidFill>
                  <a:srgbClr val="087E8B"/>
                </a:solidFill>
                <a:latin typeface="Arial"/>
                <a:ea typeface="Arial"/>
                <a:cs typeface="Arial"/>
              </a:defRPr>
            </a:lvl3pPr>
            <a:lvl4pPr>
              <a:defRPr sz="1275" b="1">
                <a:solidFill>
                  <a:srgbClr val="087E8B"/>
                </a:solidFill>
                <a:latin typeface="Arial"/>
                <a:ea typeface="Arial"/>
                <a:cs typeface="Arial"/>
              </a:defRPr>
            </a:lvl4pPr>
            <a:lvl5pPr>
              <a:defRPr sz="1275" b="1">
                <a:solidFill>
                  <a:srgbClr val="087E8B"/>
                </a:solidFill>
                <a:latin typeface="Arial"/>
                <a:ea typeface="Arial"/>
                <a:cs typeface="Arial"/>
              </a:defRPr>
            </a:lvl5pPr>
            <a:lvl6pPr>
              <a:defRPr sz="1275" b="1">
                <a:solidFill>
                  <a:srgbClr val="087E8B"/>
                </a:solidFill>
                <a:latin typeface="Arial"/>
                <a:ea typeface="Arial"/>
                <a:cs typeface="Arial"/>
              </a:defRPr>
            </a:lvl6pPr>
            <a:lvl7pPr>
              <a:defRPr sz="1275" b="1">
                <a:solidFill>
                  <a:srgbClr val="087E8B"/>
                </a:solidFill>
                <a:latin typeface="Arial"/>
                <a:ea typeface="Arial"/>
                <a:cs typeface="Arial"/>
              </a:defRPr>
            </a:lvl7pPr>
            <a:lvl8pPr>
              <a:defRPr sz="1275" b="1">
                <a:solidFill>
                  <a:srgbClr val="087E8B"/>
                </a:solidFill>
                <a:latin typeface="Arial"/>
                <a:ea typeface="Arial"/>
                <a:cs typeface="Arial"/>
              </a:defRPr>
            </a:lvl8pPr>
            <a:lvl9pPr>
              <a:defRPr sz="1275" b="1">
                <a:solidFill>
                  <a:srgbClr val="087E8B"/>
                </a:solidFill>
                <a:latin typeface="Arial"/>
                <a:ea typeface="Arial"/>
                <a:cs typeface="Arial"/>
              </a:defRPr>
            </a:lvl9pPr>
          </a:lstStyle>
          <a:p xmlns:a="http://schemas.openxmlformats.org/drawingml/2006/main">
            <a:pPr>
              <a:defRPr sz="1275" b="1">
                <a:solidFill>
                  <a:srgbClr val="087E8B"/>
                </a:solidFill>
                <a:latin typeface="Arial"/>
                <a:ea typeface="Arial"/>
                <a:cs typeface="Arial"/>
              </a:defRPr>
            </a:pPr>
            <a:r>
              <a:rPr sz="1275" b="1">
                <a:solidFill>
                  <a:srgbClr val="087E8B"/>
                </a:solidFill>
                <a:latin typeface="Arial"/>
                <a:ea typeface="Arial"/>
                <a:cs typeface="Arial"/>
              </a:rPr>
              <a:t>EMPLOYEE ATTRITION</a:t>
            </a:r>
          </a:p>
        </p:txBody>
      </p:sp>
      <p:sp>
        <p:nvSpPr>
          <p:cNvPr id="3" name="">
            <a:extLst xmlns:a="http://schemas.openxmlformats.org/drawingml/2006/main">
              <a:ext uri="{FF2B5EF4-FFF2-40B4-BE49-F238E27FC236}">
                <a16:creationId xmlns:a16="http://schemas.microsoft.com/office/drawing/2014/main" id="{952B13DA-BDCA-4CA9-8C8D-9B9A6058F52B}"/>
              </a:ext>
            </a:extLst>
          </p:cNvPr>
          <p:cNvSpPr>
            <a:spLocks xmlns:a="http://schemas.openxmlformats.org/drawingml/2006/main" noGrp="1"/>
          </p:cNvSpPr>
          <p:nvPr/>
        </p:nvSpPr>
        <p:spPr>
          <a:xfrm xmlns:a="http://schemas.openxmlformats.org/drawingml/2006/main">
            <a:off x="495300" y="619125"/>
            <a:ext cx="11201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22C43"/>
                </a:solidFill>
                <a:latin typeface="Arial"/>
                <a:ea typeface="Arial"/>
                <a:cs typeface="Arial"/>
              </a:defRPr>
            </a:defPPr>
            <a:lvl1pPr>
              <a:defRPr sz="3300" b="1">
                <a:solidFill>
                  <a:srgbClr val="122C43"/>
                </a:solidFill>
                <a:latin typeface="Arial"/>
                <a:ea typeface="Arial"/>
                <a:cs typeface="Arial"/>
              </a:defRPr>
            </a:lvl1pPr>
            <a:lvl2pPr>
              <a:defRPr sz="3300" b="1">
                <a:solidFill>
                  <a:srgbClr val="122C43"/>
                </a:solidFill>
                <a:latin typeface="Arial"/>
                <a:ea typeface="Arial"/>
                <a:cs typeface="Arial"/>
              </a:defRPr>
            </a:lvl2pPr>
            <a:lvl3pPr>
              <a:defRPr sz="3300" b="1">
                <a:solidFill>
                  <a:srgbClr val="122C43"/>
                </a:solidFill>
                <a:latin typeface="Arial"/>
                <a:ea typeface="Arial"/>
                <a:cs typeface="Arial"/>
              </a:defRPr>
            </a:lvl3pPr>
            <a:lvl4pPr>
              <a:defRPr sz="3300" b="1">
                <a:solidFill>
                  <a:srgbClr val="122C43"/>
                </a:solidFill>
                <a:latin typeface="Arial"/>
                <a:ea typeface="Arial"/>
                <a:cs typeface="Arial"/>
              </a:defRPr>
            </a:lvl4pPr>
            <a:lvl5pPr>
              <a:defRPr sz="3300" b="1">
                <a:solidFill>
                  <a:srgbClr val="122C43"/>
                </a:solidFill>
                <a:latin typeface="Arial"/>
                <a:ea typeface="Arial"/>
                <a:cs typeface="Arial"/>
              </a:defRPr>
            </a:lvl5pPr>
            <a:lvl6pPr>
              <a:defRPr sz="3300" b="1">
                <a:solidFill>
                  <a:srgbClr val="122C43"/>
                </a:solidFill>
                <a:latin typeface="Arial"/>
                <a:ea typeface="Arial"/>
                <a:cs typeface="Arial"/>
              </a:defRPr>
            </a:lvl6pPr>
            <a:lvl7pPr>
              <a:defRPr sz="3300" b="1">
                <a:solidFill>
                  <a:srgbClr val="122C43"/>
                </a:solidFill>
                <a:latin typeface="Arial"/>
                <a:ea typeface="Arial"/>
                <a:cs typeface="Arial"/>
              </a:defRPr>
            </a:lvl7pPr>
            <a:lvl8pPr>
              <a:defRPr sz="3300" b="1">
                <a:solidFill>
                  <a:srgbClr val="122C43"/>
                </a:solidFill>
                <a:latin typeface="Arial"/>
                <a:ea typeface="Arial"/>
                <a:cs typeface="Arial"/>
              </a:defRPr>
            </a:lvl8pPr>
            <a:lvl9pPr>
              <a:defRPr sz="3300" b="1">
                <a:solidFill>
                  <a:srgbClr val="122C43"/>
                </a:solidFill>
                <a:latin typeface="Arial"/>
                <a:ea typeface="Arial"/>
                <a:cs typeface="Arial"/>
              </a:defRPr>
            </a:lvl9pPr>
          </a:lstStyle>
          <a:p xmlns:a="http://schemas.openxmlformats.org/drawingml/2006/main">
            <a:pPr>
              <a:defRPr sz="3300" b="1">
                <a:solidFill>
                  <a:srgbClr val="122C43"/>
                </a:solidFill>
                <a:latin typeface="Arial"/>
                <a:ea typeface="Arial"/>
                <a:cs typeface="Arial"/>
              </a:defRPr>
            </a:pPr>
            <a:r>
              <a:rPr sz="3300" b="1">
                <a:solidFill>
                  <a:srgbClr val="122C43"/>
                </a:solidFill>
                <a:latin typeface="Arial"/>
                <a:ea typeface="Arial"/>
                <a:cs typeface="Arial"/>
              </a:rPr>
              <a:t>Data quality and preparation</a:t>
            </a:r>
          </a:p>
        </p:txBody>
      </p:sp>
      <p:sp>
        <p:nvSpPr>
          <p:cNvPr id="4" name="">
            <a:extLst xmlns:a="http://schemas.openxmlformats.org/drawingml/2006/main">
              <a:ext uri="{FF2B5EF4-FFF2-40B4-BE49-F238E27FC236}">
                <a16:creationId xmlns:a16="http://schemas.microsoft.com/office/drawing/2014/main" id="{7CD52CF2-4B79-4003-B411-5717C451E05C}"/>
              </a:ext>
            </a:extLst>
          </p:cNvPr>
          <p:cNvSpPr>
            <a:spLocks xmlns:a="http://schemas.openxmlformats.org/drawingml/2006/main" noGrp="1"/>
          </p:cNvSpPr>
          <p:nvPr/>
        </p:nvSpPr>
        <p:spPr>
          <a:xfrm xmlns:a="http://schemas.openxmlformats.org/drawingml/2006/main">
            <a:off x="495300" y="1219200"/>
            <a:ext cx="11201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26879"/>
                </a:solidFill>
                <a:latin typeface="Arial"/>
                <a:ea typeface="Arial"/>
                <a:cs typeface="Arial"/>
              </a:defRPr>
            </a:defPPr>
            <a:lvl1pPr>
              <a:defRPr sz="1725" b="0">
                <a:solidFill>
                  <a:srgbClr val="526879"/>
                </a:solidFill>
                <a:latin typeface="Arial"/>
                <a:ea typeface="Arial"/>
                <a:cs typeface="Arial"/>
              </a:defRPr>
            </a:lvl1pPr>
            <a:lvl2pPr>
              <a:defRPr sz="1725" b="0">
                <a:solidFill>
                  <a:srgbClr val="526879"/>
                </a:solidFill>
                <a:latin typeface="Arial"/>
                <a:ea typeface="Arial"/>
                <a:cs typeface="Arial"/>
              </a:defRPr>
            </a:lvl2pPr>
            <a:lvl3pPr>
              <a:defRPr sz="1725" b="0">
                <a:solidFill>
                  <a:srgbClr val="526879"/>
                </a:solidFill>
                <a:latin typeface="Arial"/>
                <a:ea typeface="Arial"/>
                <a:cs typeface="Arial"/>
              </a:defRPr>
            </a:lvl3pPr>
            <a:lvl4pPr>
              <a:defRPr sz="1725" b="0">
                <a:solidFill>
                  <a:srgbClr val="526879"/>
                </a:solidFill>
                <a:latin typeface="Arial"/>
                <a:ea typeface="Arial"/>
                <a:cs typeface="Arial"/>
              </a:defRPr>
            </a:lvl4pPr>
            <a:lvl5pPr>
              <a:defRPr sz="1725" b="0">
                <a:solidFill>
                  <a:srgbClr val="526879"/>
                </a:solidFill>
                <a:latin typeface="Arial"/>
                <a:ea typeface="Arial"/>
                <a:cs typeface="Arial"/>
              </a:defRPr>
            </a:lvl5pPr>
            <a:lvl6pPr>
              <a:defRPr sz="1725" b="0">
                <a:solidFill>
                  <a:srgbClr val="526879"/>
                </a:solidFill>
                <a:latin typeface="Arial"/>
                <a:ea typeface="Arial"/>
                <a:cs typeface="Arial"/>
              </a:defRPr>
            </a:lvl6pPr>
            <a:lvl7pPr>
              <a:defRPr sz="1725" b="0">
                <a:solidFill>
                  <a:srgbClr val="526879"/>
                </a:solidFill>
                <a:latin typeface="Arial"/>
                <a:ea typeface="Arial"/>
                <a:cs typeface="Arial"/>
              </a:defRPr>
            </a:lvl7pPr>
            <a:lvl8pPr>
              <a:defRPr sz="1725" b="0">
                <a:solidFill>
                  <a:srgbClr val="526879"/>
                </a:solidFill>
                <a:latin typeface="Arial"/>
                <a:ea typeface="Arial"/>
                <a:cs typeface="Arial"/>
              </a:defRPr>
            </a:lvl8pPr>
            <a:lvl9pPr>
              <a:defRPr sz="1725" b="0">
                <a:solidFill>
                  <a:srgbClr val="526879"/>
                </a:solidFill>
                <a:latin typeface="Arial"/>
                <a:ea typeface="Arial"/>
                <a:cs typeface="Arial"/>
              </a:defRPr>
            </a:lvl9pPr>
          </a:lstStyle>
          <a:p xmlns:a="http://schemas.openxmlformats.org/drawingml/2006/main">
            <a:pPr>
              <a:defRPr sz="1725" b="0">
                <a:solidFill>
                  <a:srgbClr val="526879"/>
                </a:solidFill>
                <a:latin typeface="Arial"/>
                <a:ea typeface="Arial"/>
                <a:cs typeface="Arial"/>
              </a:defRPr>
            </a:pPr>
            <a:r>
              <a:rPr sz="1725" b="0">
                <a:solidFill>
                  <a:srgbClr val="526879"/>
                </a:solidFill>
                <a:latin typeface="Arial"/>
                <a:ea typeface="Arial"/>
                <a:cs typeface="Arial"/>
              </a:rPr>
              <a:t>Clean first, then fit every preprocessing step inside the training pipeline</a:t>
            </a:r>
          </a:p>
        </p:txBody>
      </p:sp>
      <p:sp>
        <p:nvSpPr>
          <p:cNvPr id="5" name="">
            <a:extLst xmlns:a="http://schemas.openxmlformats.org/drawingml/2006/main">
              <a:ext uri="{FF2B5EF4-FFF2-40B4-BE49-F238E27FC236}">
                <a16:creationId xmlns:a16="http://schemas.microsoft.com/office/drawing/2014/main" id="{7F32F752-B05B-4510-984D-1F32D0391E21}"/>
              </a:ext>
            </a:extLst>
          </p:cNvPr>
          <p:cNvSpPr>
            <a:spLocks xmlns:a="http://schemas.openxmlformats.org/drawingml/2006/main" noGrp="1"/>
          </p:cNvSpPr>
          <p:nvPr/>
        </p:nvSpPr>
        <p:spPr>
          <a:xfrm xmlns:a="http://schemas.openxmlformats.org/drawingml/2006/main">
            <a:off x="495300" y="6486525"/>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879"/>
                </a:solidFill>
                <a:latin typeface="Arial"/>
                <a:ea typeface="Arial"/>
                <a:cs typeface="Arial"/>
              </a:defRPr>
            </a:defPPr>
            <a:lvl1pPr>
              <a:defRPr sz="1200" b="0">
                <a:solidFill>
                  <a:srgbClr val="526879"/>
                </a:solidFill>
                <a:latin typeface="Arial"/>
                <a:ea typeface="Arial"/>
                <a:cs typeface="Arial"/>
              </a:defRPr>
            </a:lvl1pPr>
            <a:lvl2pPr>
              <a:defRPr sz="1200" b="0">
                <a:solidFill>
                  <a:srgbClr val="526879"/>
                </a:solidFill>
                <a:latin typeface="Arial"/>
                <a:ea typeface="Arial"/>
                <a:cs typeface="Arial"/>
              </a:defRPr>
            </a:lvl2pPr>
            <a:lvl3pPr>
              <a:defRPr sz="1200" b="0">
                <a:solidFill>
                  <a:srgbClr val="526879"/>
                </a:solidFill>
                <a:latin typeface="Arial"/>
                <a:ea typeface="Arial"/>
                <a:cs typeface="Arial"/>
              </a:defRPr>
            </a:lvl3pPr>
            <a:lvl4pPr>
              <a:defRPr sz="1200" b="0">
                <a:solidFill>
                  <a:srgbClr val="526879"/>
                </a:solidFill>
                <a:latin typeface="Arial"/>
                <a:ea typeface="Arial"/>
                <a:cs typeface="Arial"/>
              </a:defRPr>
            </a:lvl4pPr>
            <a:lvl5pPr>
              <a:defRPr sz="1200" b="0">
                <a:solidFill>
                  <a:srgbClr val="526879"/>
                </a:solidFill>
                <a:latin typeface="Arial"/>
                <a:ea typeface="Arial"/>
                <a:cs typeface="Arial"/>
              </a:defRPr>
            </a:lvl5pPr>
            <a:lvl6pPr>
              <a:defRPr sz="1200" b="0">
                <a:solidFill>
                  <a:srgbClr val="526879"/>
                </a:solidFill>
                <a:latin typeface="Arial"/>
                <a:ea typeface="Arial"/>
                <a:cs typeface="Arial"/>
              </a:defRPr>
            </a:lvl6pPr>
            <a:lvl7pPr>
              <a:defRPr sz="1200" b="0">
                <a:solidFill>
                  <a:srgbClr val="526879"/>
                </a:solidFill>
                <a:latin typeface="Arial"/>
                <a:ea typeface="Arial"/>
                <a:cs typeface="Arial"/>
              </a:defRPr>
            </a:lvl7pPr>
            <a:lvl8pPr>
              <a:defRPr sz="1200" b="0">
                <a:solidFill>
                  <a:srgbClr val="526879"/>
                </a:solidFill>
                <a:latin typeface="Arial"/>
                <a:ea typeface="Arial"/>
                <a:cs typeface="Arial"/>
              </a:defRPr>
            </a:lvl8pPr>
            <a:lvl9pPr>
              <a:defRPr sz="1200" b="0">
                <a:solidFill>
                  <a:srgbClr val="526879"/>
                </a:solidFill>
                <a:latin typeface="Arial"/>
                <a:ea typeface="Arial"/>
                <a:cs typeface="Arial"/>
              </a:defRPr>
            </a:lvl9pPr>
          </a:lstStyle>
          <a:p xmlns:a="http://schemas.openxmlformats.org/drawingml/2006/main">
            <a:pPr>
              <a:defRPr sz="1200" b="0">
                <a:solidFill>
                  <a:srgbClr val="526879"/>
                </a:solidFill>
                <a:latin typeface="Arial"/>
                <a:ea typeface="Arial"/>
                <a:cs typeface="Arial"/>
              </a:defRPr>
            </a:pPr>
            <a:r>
              <a:rPr sz="1200" b="0">
                <a:solidFill>
                  <a:srgbClr val="526879"/>
                </a:solidFill>
                <a:latin typeface="Arial"/>
                <a:ea typeface="Arial"/>
                <a:cs typeface="Arial"/>
              </a:rPr>
              <a:t>Hemanth Kumar Akunuri</a:t>
            </a:r>
          </a:p>
        </p:txBody>
      </p:sp>
      <p:sp>
        <p:nvSpPr>
          <p:cNvPr id="6" name="">
            <a:extLst xmlns:a="http://schemas.openxmlformats.org/drawingml/2006/main">
              <a:ext uri="{FF2B5EF4-FFF2-40B4-BE49-F238E27FC236}">
                <a16:creationId xmlns:a16="http://schemas.microsoft.com/office/drawing/2014/main" id="{0795D074-4055-4BD0-A5B4-BEBF8DDF25A3}"/>
              </a:ext>
            </a:extLst>
          </p:cNvPr>
          <p:cNvSpPr>
            <a:spLocks xmlns:a="http://schemas.openxmlformats.org/drawingml/2006/main" noGrp="1"/>
          </p:cNvSpPr>
          <p:nvPr/>
        </p:nvSpPr>
        <p:spPr>
          <a:xfrm xmlns:a="http://schemas.openxmlformats.org/drawingml/2006/main">
            <a:off x="10763250" y="6486525"/>
            <a:ext cx="933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879"/>
                </a:solidFill>
                <a:latin typeface="Arial"/>
                <a:ea typeface="Arial"/>
                <a:cs typeface="Arial"/>
              </a:defRPr>
            </a:defPPr>
            <a:lvl1pPr>
              <a:defRPr sz="1200" b="0">
                <a:solidFill>
                  <a:srgbClr val="526879"/>
                </a:solidFill>
                <a:latin typeface="Arial"/>
                <a:ea typeface="Arial"/>
                <a:cs typeface="Arial"/>
              </a:defRPr>
            </a:lvl1pPr>
            <a:lvl2pPr>
              <a:defRPr sz="1200" b="0">
                <a:solidFill>
                  <a:srgbClr val="526879"/>
                </a:solidFill>
                <a:latin typeface="Arial"/>
                <a:ea typeface="Arial"/>
                <a:cs typeface="Arial"/>
              </a:defRPr>
            </a:lvl2pPr>
            <a:lvl3pPr>
              <a:defRPr sz="1200" b="0">
                <a:solidFill>
                  <a:srgbClr val="526879"/>
                </a:solidFill>
                <a:latin typeface="Arial"/>
                <a:ea typeface="Arial"/>
                <a:cs typeface="Arial"/>
              </a:defRPr>
            </a:lvl3pPr>
            <a:lvl4pPr>
              <a:defRPr sz="1200" b="0">
                <a:solidFill>
                  <a:srgbClr val="526879"/>
                </a:solidFill>
                <a:latin typeface="Arial"/>
                <a:ea typeface="Arial"/>
                <a:cs typeface="Arial"/>
              </a:defRPr>
            </a:lvl4pPr>
            <a:lvl5pPr>
              <a:defRPr sz="1200" b="0">
                <a:solidFill>
                  <a:srgbClr val="526879"/>
                </a:solidFill>
                <a:latin typeface="Arial"/>
                <a:ea typeface="Arial"/>
                <a:cs typeface="Arial"/>
              </a:defRPr>
            </a:lvl5pPr>
            <a:lvl6pPr>
              <a:defRPr sz="1200" b="0">
                <a:solidFill>
                  <a:srgbClr val="526879"/>
                </a:solidFill>
                <a:latin typeface="Arial"/>
                <a:ea typeface="Arial"/>
                <a:cs typeface="Arial"/>
              </a:defRPr>
            </a:lvl6pPr>
            <a:lvl7pPr>
              <a:defRPr sz="1200" b="0">
                <a:solidFill>
                  <a:srgbClr val="526879"/>
                </a:solidFill>
                <a:latin typeface="Arial"/>
                <a:ea typeface="Arial"/>
                <a:cs typeface="Arial"/>
              </a:defRPr>
            </a:lvl7pPr>
            <a:lvl8pPr>
              <a:defRPr sz="1200" b="0">
                <a:solidFill>
                  <a:srgbClr val="526879"/>
                </a:solidFill>
                <a:latin typeface="Arial"/>
                <a:ea typeface="Arial"/>
                <a:cs typeface="Arial"/>
              </a:defRPr>
            </a:lvl8pPr>
            <a:lvl9pPr>
              <a:defRPr sz="1200" b="0">
                <a:solidFill>
                  <a:srgbClr val="526879"/>
                </a:solidFill>
                <a:latin typeface="Arial"/>
                <a:ea typeface="Arial"/>
                <a:cs typeface="Arial"/>
              </a:defRPr>
            </a:lvl9pPr>
          </a:lstStyle>
          <a:p xmlns:a="http://schemas.openxmlformats.org/drawingml/2006/main">
            <a:pPr>
              <a:defRPr sz="1200" b="0">
                <a:solidFill>
                  <a:srgbClr val="526879"/>
                </a:solidFill>
                <a:latin typeface="Arial"/>
                <a:ea typeface="Arial"/>
                <a:cs typeface="Arial"/>
              </a:defRPr>
            </a:pPr>
            <a:r>
              <a:rPr sz="1200" b="0">
                <a:solidFill>
                  <a:srgbClr val="526879"/>
                </a:solidFill>
                <a:latin typeface="Arial"/>
                <a:ea typeface="Arial"/>
                <a:cs typeface="Arial"/>
              </a:rPr>
              <a:t>02 / 07</a:t>
            </a:r>
          </a:p>
        </p:txBody>
      </p:sp>
      <p:sp>
        <p:nvSpPr>
          <p:cNvPr id="7" name="">
            <a:extLst xmlns:a="http://schemas.openxmlformats.org/drawingml/2006/main">
              <a:ext uri="{FF2B5EF4-FFF2-40B4-BE49-F238E27FC236}">
                <a16:creationId xmlns:a16="http://schemas.microsoft.com/office/drawing/2014/main" id="{39ECF23F-D4C7-457E-8C4B-3337947026B4}"/>
              </a:ext>
            </a:extLst>
          </p:cNvPr>
          <p:cNvSpPr>
            <a:spLocks xmlns:a="http://schemas.openxmlformats.org/drawingml/2006/main" noGrp="1"/>
          </p:cNvSpPr>
          <p:nvPr/>
        </p:nvSpPr>
        <p:spPr>
          <a:xfrm xmlns:a="http://schemas.openxmlformats.org/drawingml/2006/main">
            <a:off x="495300" y="1743075"/>
            <a:ext cx="2476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050" b="1">
                <a:solidFill>
                  <a:srgbClr val="087E8B"/>
                </a:solidFill>
                <a:latin typeface="Arial"/>
                <a:ea typeface="Arial"/>
                <a:cs typeface="Arial"/>
              </a:defRPr>
            </a:defPPr>
            <a:lvl1pPr>
              <a:defRPr sz="4050" b="1">
                <a:solidFill>
                  <a:srgbClr val="087E8B"/>
                </a:solidFill>
                <a:latin typeface="Arial"/>
                <a:ea typeface="Arial"/>
                <a:cs typeface="Arial"/>
              </a:defRPr>
            </a:lvl1pPr>
            <a:lvl2pPr>
              <a:defRPr sz="4050" b="1">
                <a:solidFill>
                  <a:srgbClr val="087E8B"/>
                </a:solidFill>
                <a:latin typeface="Arial"/>
                <a:ea typeface="Arial"/>
                <a:cs typeface="Arial"/>
              </a:defRPr>
            </a:lvl2pPr>
            <a:lvl3pPr>
              <a:defRPr sz="4050" b="1">
                <a:solidFill>
                  <a:srgbClr val="087E8B"/>
                </a:solidFill>
                <a:latin typeface="Arial"/>
                <a:ea typeface="Arial"/>
                <a:cs typeface="Arial"/>
              </a:defRPr>
            </a:lvl3pPr>
            <a:lvl4pPr>
              <a:defRPr sz="4050" b="1">
                <a:solidFill>
                  <a:srgbClr val="087E8B"/>
                </a:solidFill>
                <a:latin typeface="Arial"/>
                <a:ea typeface="Arial"/>
                <a:cs typeface="Arial"/>
              </a:defRPr>
            </a:lvl4pPr>
            <a:lvl5pPr>
              <a:defRPr sz="4050" b="1">
                <a:solidFill>
                  <a:srgbClr val="087E8B"/>
                </a:solidFill>
                <a:latin typeface="Arial"/>
                <a:ea typeface="Arial"/>
                <a:cs typeface="Arial"/>
              </a:defRPr>
            </a:lvl5pPr>
            <a:lvl6pPr>
              <a:defRPr sz="4050" b="1">
                <a:solidFill>
                  <a:srgbClr val="087E8B"/>
                </a:solidFill>
                <a:latin typeface="Arial"/>
                <a:ea typeface="Arial"/>
                <a:cs typeface="Arial"/>
              </a:defRPr>
            </a:lvl6pPr>
            <a:lvl7pPr>
              <a:defRPr sz="4050" b="1">
                <a:solidFill>
                  <a:srgbClr val="087E8B"/>
                </a:solidFill>
                <a:latin typeface="Arial"/>
                <a:ea typeface="Arial"/>
                <a:cs typeface="Arial"/>
              </a:defRPr>
            </a:lvl7pPr>
            <a:lvl8pPr>
              <a:defRPr sz="4050" b="1">
                <a:solidFill>
                  <a:srgbClr val="087E8B"/>
                </a:solidFill>
                <a:latin typeface="Arial"/>
                <a:ea typeface="Arial"/>
                <a:cs typeface="Arial"/>
              </a:defRPr>
            </a:lvl8pPr>
            <a:lvl9pPr>
              <a:defRPr sz="4050" b="1">
                <a:solidFill>
                  <a:srgbClr val="087E8B"/>
                </a:solidFill>
                <a:latin typeface="Arial"/>
                <a:ea typeface="Arial"/>
                <a:cs typeface="Arial"/>
              </a:defRPr>
            </a:lvl9pPr>
          </a:lstStyle>
          <a:p xmlns:a="http://schemas.openxmlformats.org/drawingml/2006/main">
            <a:pPr>
              <a:defRPr sz="4050" b="1">
                <a:solidFill>
                  <a:srgbClr val="087E8B"/>
                </a:solidFill>
                <a:latin typeface="Arial"/>
                <a:ea typeface="Arial"/>
                <a:cs typeface="Arial"/>
              </a:defRPr>
            </a:pPr>
            <a:r>
              <a:rPr sz="4050" b="1">
                <a:solidFill>
                  <a:srgbClr val="087E8B"/>
                </a:solidFill>
                <a:latin typeface="Arial"/>
                <a:ea typeface="Arial"/>
                <a:cs typeface="Arial"/>
              </a:rPr>
              <a:t>5,030</a:t>
            </a:r>
          </a:p>
        </p:txBody>
      </p:sp>
      <p:sp>
        <p:nvSpPr>
          <p:cNvPr id="8" name="">
            <a:extLst xmlns:a="http://schemas.openxmlformats.org/drawingml/2006/main">
              <a:ext uri="{FF2B5EF4-FFF2-40B4-BE49-F238E27FC236}">
                <a16:creationId xmlns:a16="http://schemas.microsoft.com/office/drawing/2014/main" id="{C4E024DE-E6F1-4C3D-B1DC-EEF3D529349E}"/>
              </a:ext>
            </a:extLst>
          </p:cNvPr>
          <p:cNvSpPr>
            <a:spLocks xmlns:a="http://schemas.openxmlformats.org/drawingml/2006/main" noGrp="1"/>
          </p:cNvSpPr>
          <p:nvPr/>
        </p:nvSpPr>
        <p:spPr>
          <a:xfrm xmlns:a="http://schemas.openxmlformats.org/drawingml/2006/main">
            <a:off x="495300" y="2381250"/>
            <a:ext cx="238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17334A"/>
                </a:solidFill>
                <a:latin typeface="Arial"/>
                <a:ea typeface="Arial"/>
                <a:cs typeface="Arial"/>
              </a:defRPr>
            </a:defPPr>
            <a:lvl1pPr>
              <a:defRPr sz="1725" b="0">
                <a:solidFill>
                  <a:srgbClr val="17334A"/>
                </a:solidFill>
                <a:latin typeface="Arial"/>
                <a:ea typeface="Arial"/>
                <a:cs typeface="Arial"/>
              </a:defRPr>
            </a:lvl1pPr>
            <a:lvl2pPr>
              <a:defRPr sz="1725" b="0">
                <a:solidFill>
                  <a:srgbClr val="17334A"/>
                </a:solidFill>
                <a:latin typeface="Arial"/>
                <a:ea typeface="Arial"/>
                <a:cs typeface="Arial"/>
              </a:defRPr>
            </a:lvl2pPr>
            <a:lvl3pPr>
              <a:defRPr sz="1725" b="0">
                <a:solidFill>
                  <a:srgbClr val="17334A"/>
                </a:solidFill>
                <a:latin typeface="Arial"/>
                <a:ea typeface="Arial"/>
                <a:cs typeface="Arial"/>
              </a:defRPr>
            </a:lvl3pPr>
            <a:lvl4pPr>
              <a:defRPr sz="1725" b="0">
                <a:solidFill>
                  <a:srgbClr val="17334A"/>
                </a:solidFill>
                <a:latin typeface="Arial"/>
                <a:ea typeface="Arial"/>
                <a:cs typeface="Arial"/>
              </a:defRPr>
            </a:lvl4pPr>
            <a:lvl5pPr>
              <a:defRPr sz="1725" b="0">
                <a:solidFill>
                  <a:srgbClr val="17334A"/>
                </a:solidFill>
                <a:latin typeface="Arial"/>
                <a:ea typeface="Arial"/>
                <a:cs typeface="Arial"/>
              </a:defRPr>
            </a:lvl5pPr>
            <a:lvl6pPr>
              <a:defRPr sz="1725" b="0">
                <a:solidFill>
                  <a:srgbClr val="17334A"/>
                </a:solidFill>
                <a:latin typeface="Arial"/>
                <a:ea typeface="Arial"/>
                <a:cs typeface="Arial"/>
              </a:defRPr>
            </a:lvl6pPr>
            <a:lvl7pPr>
              <a:defRPr sz="1725" b="0">
                <a:solidFill>
                  <a:srgbClr val="17334A"/>
                </a:solidFill>
                <a:latin typeface="Arial"/>
                <a:ea typeface="Arial"/>
                <a:cs typeface="Arial"/>
              </a:defRPr>
            </a:lvl7pPr>
            <a:lvl8pPr>
              <a:defRPr sz="1725" b="0">
                <a:solidFill>
                  <a:srgbClr val="17334A"/>
                </a:solidFill>
                <a:latin typeface="Arial"/>
                <a:ea typeface="Arial"/>
                <a:cs typeface="Arial"/>
              </a:defRPr>
            </a:lvl8pPr>
            <a:lvl9pPr>
              <a:defRPr sz="1725" b="0">
                <a:solidFill>
                  <a:srgbClr val="17334A"/>
                </a:solidFill>
                <a:latin typeface="Arial"/>
                <a:ea typeface="Arial"/>
                <a:cs typeface="Arial"/>
              </a:defRPr>
            </a:lvl9pPr>
          </a:lstStyle>
          <a:p xmlns:a="http://schemas.openxmlformats.org/drawingml/2006/main">
            <a:pPr>
              <a:defRPr sz="1725" b="0">
                <a:solidFill>
                  <a:srgbClr val="17334A"/>
                </a:solidFill>
                <a:latin typeface="Arial"/>
                <a:ea typeface="Arial"/>
                <a:cs typeface="Arial"/>
              </a:defRPr>
            </a:pPr>
            <a:r>
              <a:rPr sz="1725" b="0">
                <a:solidFill>
                  <a:srgbClr val="17334A"/>
                </a:solidFill>
                <a:latin typeface="Arial"/>
                <a:ea typeface="Arial"/>
                <a:cs typeface="Arial"/>
              </a:rPr>
              <a:t>raw rows</a:t>
            </a:r>
          </a:p>
        </p:txBody>
      </p:sp>
      <p:sp>
        <p:nvSpPr>
          <p:cNvPr id="9" name="">
            <a:extLst xmlns:a="http://schemas.openxmlformats.org/drawingml/2006/main">
              <a:ext uri="{FF2B5EF4-FFF2-40B4-BE49-F238E27FC236}">
                <a16:creationId xmlns:a16="http://schemas.microsoft.com/office/drawing/2014/main" id="{7B70921A-AE90-4C74-AC33-8358362CDE4F}"/>
              </a:ext>
            </a:extLst>
          </p:cNvPr>
          <p:cNvSpPr>
            <a:spLocks xmlns:a="http://schemas.openxmlformats.org/drawingml/2006/main" noGrp="1"/>
          </p:cNvSpPr>
          <p:nvPr/>
        </p:nvSpPr>
        <p:spPr>
          <a:xfrm xmlns:a="http://schemas.openxmlformats.org/drawingml/2006/main">
            <a:off x="3333750" y="1743075"/>
            <a:ext cx="2190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050" b="1">
                <a:solidFill>
                  <a:srgbClr val="087E8B"/>
                </a:solidFill>
                <a:latin typeface="Arial"/>
                <a:ea typeface="Arial"/>
                <a:cs typeface="Arial"/>
              </a:defRPr>
            </a:defPPr>
            <a:lvl1pPr>
              <a:defRPr sz="4050" b="1">
                <a:solidFill>
                  <a:srgbClr val="087E8B"/>
                </a:solidFill>
                <a:latin typeface="Arial"/>
                <a:ea typeface="Arial"/>
                <a:cs typeface="Arial"/>
              </a:defRPr>
            </a:lvl1pPr>
            <a:lvl2pPr>
              <a:defRPr sz="4050" b="1">
                <a:solidFill>
                  <a:srgbClr val="087E8B"/>
                </a:solidFill>
                <a:latin typeface="Arial"/>
                <a:ea typeface="Arial"/>
                <a:cs typeface="Arial"/>
              </a:defRPr>
            </a:lvl2pPr>
            <a:lvl3pPr>
              <a:defRPr sz="4050" b="1">
                <a:solidFill>
                  <a:srgbClr val="087E8B"/>
                </a:solidFill>
                <a:latin typeface="Arial"/>
                <a:ea typeface="Arial"/>
                <a:cs typeface="Arial"/>
              </a:defRPr>
            </a:lvl3pPr>
            <a:lvl4pPr>
              <a:defRPr sz="4050" b="1">
                <a:solidFill>
                  <a:srgbClr val="087E8B"/>
                </a:solidFill>
                <a:latin typeface="Arial"/>
                <a:ea typeface="Arial"/>
                <a:cs typeface="Arial"/>
              </a:defRPr>
            </a:lvl4pPr>
            <a:lvl5pPr>
              <a:defRPr sz="4050" b="1">
                <a:solidFill>
                  <a:srgbClr val="087E8B"/>
                </a:solidFill>
                <a:latin typeface="Arial"/>
                <a:ea typeface="Arial"/>
                <a:cs typeface="Arial"/>
              </a:defRPr>
            </a:lvl5pPr>
            <a:lvl6pPr>
              <a:defRPr sz="4050" b="1">
                <a:solidFill>
                  <a:srgbClr val="087E8B"/>
                </a:solidFill>
                <a:latin typeface="Arial"/>
                <a:ea typeface="Arial"/>
                <a:cs typeface="Arial"/>
              </a:defRPr>
            </a:lvl6pPr>
            <a:lvl7pPr>
              <a:defRPr sz="4050" b="1">
                <a:solidFill>
                  <a:srgbClr val="087E8B"/>
                </a:solidFill>
                <a:latin typeface="Arial"/>
                <a:ea typeface="Arial"/>
                <a:cs typeface="Arial"/>
              </a:defRPr>
            </a:lvl7pPr>
            <a:lvl8pPr>
              <a:defRPr sz="4050" b="1">
                <a:solidFill>
                  <a:srgbClr val="087E8B"/>
                </a:solidFill>
                <a:latin typeface="Arial"/>
                <a:ea typeface="Arial"/>
                <a:cs typeface="Arial"/>
              </a:defRPr>
            </a:lvl8pPr>
            <a:lvl9pPr>
              <a:defRPr sz="4050" b="1">
                <a:solidFill>
                  <a:srgbClr val="087E8B"/>
                </a:solidFill>
                <a:latin typeface="Arial"/>
                <a:ea typeface="Arial"/>
                <a:cs typeface="Arial"/>
              </a:defRPr>
            </a:lvl9pPr>
          </a:lstStyle>
          <a:p xmlns:a="http://schemas.openxmlformats.org/drawingml/2006/main">
            <a:pPr>
              <a:defRPr sz="4050" b="1">
                <a:solidFill>
                  <a:srgbClr val="087E8B"/>
                </a:solidFill>
                <a:latin typeface="Arial"/>
                <a:ea typeface="Arial"/>
                <a:cs typeface="Arial"/>
              </a:defRPr>
            </a:pPr>
            <a:r>
              <a:rPr sz="4050" b="1">
                <a:solidFill>
                  <a:srgbClr val="087E8B"/>
                </a:solidFill>
                <a:latin typeface="Arial"/>
                <a:ea typeface="Arial"/>
                <a:cs typeface="Arial"/>
              </a:rPr>
              <a:t>30</a:t>
            </a:r>
          </a:p>
        </p:txBody>
      </p:sp>
      <p:sp>
        <p:nvSpPr>
          <p:cNvPr id="10" name="">
            <a:extLst xmlns:a="http://schemas.openxmlformats.org/drawingml/2006/main">
              <a:ext uri="{FF2B5EF4-FFF2-40B4-BE49-F238E27FC236}">
                <a16:creationId xmlns:a16="http://schemas.microsoft.com/office/drawing/2014/main" id="{33A4B8B5-610A-4212-866E-1AE2ABBC2205}"/>
              </a:ext>
            </a:extLst>
          </p:cNvPr>
          <p:cNvSpPr>
            <a:spLocks xmlns:a="http://schemas.openxmlformats.org/drawingml/2006/main" noGrp="1"/>
          </p:cNvSpPr>
          <p:nvPr/>
        </p:nvSpPr>
        <p:spPr>
          <a:xfrm xmlns:a="http://schemas.openxmlformats.org/drawingml/2006/main">
            <a:off x="3333750" y="2381250"/>
            <a:ext cx="285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17334A"/>
                </a:solidFill>
                <a:latin typeface="Arial"/>
                <a:ea typeface="Arial"/>
                <a:cs typeface="Arial"/>
              </a:defRPr>
            </a:defPPr>
            <a:lvl1pPr>
              <a:defRPr sz="1725" b="0">
                <a:solidFill>
                  <a:srgbClr val="17334A"/>
                </a:solidFill>
                <a:latin typeface="Arial"/>
                <a:ea typeface="Arial"/>
                <a:cs typeface="Arial"/>
              </a:defRPr>
            </a:lvl1pPr>
            <a:lvl2pPr>
              <a:defRPr sz="1725" b="0">
                <a:solidFill>
                  <a:srgbClr val="17334A"/>
                </a:solidFill>
                <a:latin typeface="Arial"/>
                <a:ea typeface="Arial"/>
                <a:cs typeface="Arial"/>
              </a:defRPr>
            </a:lvl2pPr>
            <a:lvl3pPr>
              <a:defRPr sz="1725" b="0">
                <a:solidFill>
                  <a:srgbClr val="17334A"/>
                </a:solidFill>
                <a:latin typeface="Arial"/>
                <a:ea typeface="Arial"/>
                <a:cs typeface="Arial"/>
              </a:defRPr>
            </a:lvl3pPr>
            <a:lvl4pPr>
              <a:defRPr sz="1725" b="0">
                <a:solidFill>
                  <a:srgbClr val="17334A"/>
                </a:solidFill>
                <a:latin typeface="Arial"/>
                <a:ea typeface="Arial"/>
                <a:cs typeface="Arial"/>
              </a:defRPr>
            </a:lvl4pPr>
            <a:lvl5pPr>
              <a:defRPr sz="1725" b="0">
                <a:solidFill>
                  <a:srgbClr val="17334A"/>
                </a:solidFill>
                <a:latin typeface="Arial"/>
                <a:ea typeface="Arial"/>
                <a:cs typeface="Arial"/>
              </a:defRPr>
            </a:lvl5pPr>
            <a:lvl6pPr>
              <a:defRPr sz="1725" b="0">
                <a:solidFill>
                  <a:srgbClr val="17334A"/>
                </a:solidFill>
                <a:latin typeface="Arial"/>
                <a:ea typeface="Arial"/>
                <a:cs typeface="Arial"/>
              </a:defRPr>
            </a:lvl6pPr>
            <a:lvl7pPr>
              <a:defRPr sz="1725" b="0">
                <a:solidFill>
                  <a:srgbClr val="17334A"/>
                </a:solidFill>
                <a:latin typeface="Arial"/>
                <a:ea typeface="Arial"/>
                <a:cs typeface="Arial"/>
              </a:defRPr>
            </a:lvl7pPr>
            <a:lvl8pPr>
              <a:defRPr sz="1725" b="0">
                <a:solidFill>
                  <a:srgbClr val="17334A"/>
                </a:solidFill>
                <a:latin typeface="Arial"/>
                <a:ea typeface="Arial"/>
                <a:cs typeface="Arial"/>
              </a:defRPr>
            </a:lvl8pPr>
            <a:lvl9pPr>
              <a:defRPr sz="1725" b="0">
                <a:solidFill>
                  <a:srgbClr val="17334A"/>
                </a:solidFill>
                <a:latin typeface="Arial"/>
                <a:ea typeface="Arial"/>
                <a:cs typeface="Arial"/>
              </a:defRPr>
            </a:lvl9pPr>
          </a:lstStyle>
          <a:p xmlns:a="http://schemas.openxmlformats.org/drawingml/2006/main">
            <a:pPr>
              <a:defRPr sz="1725" b="0">
                <a:solidFill>
                  <a:srgbClr val="17334A"/>
                </a:solidFill>
                <a:latin typeface="Arial"/>
                <a:ea typeface="Arial"/>
                <a:cs typeface="Arial"/>
              </a:defRPr>
            </a:pPr>
            <a:r>
              <a:rPr sz="1725" b="0">
                <a:solidFill>
                  <a:srgbClr val="17334A"/>
                </a:solidFill>
                <a:latin typeface="Arial"/>
                <a:ea typeface="Arial"/>
                <a:cs typeface="Arial"/>
              </a:rPr>
              <a:t>duplicate rows removed</a:t>
            </a:r>
          </a:p>
        </p:txBody>
      </p:sp>
      <p:sp>
        <p:nvSpPr>
          <p:cNvPr id="11" name="">
            <a:extLst xmlns:a="http://schemas.openxmlformats.org/drawingml/2006/main">
              <a:ext uri="{FF2B5EF4-FFF2-40B4-BE49-F238E27FC236}">
                <a16:creationId xmlns:a16="http://schemas.microsoft.com/office/drawing/2014/main" id="{5CBF7224-3E9F-4C6F-9783-46D09C876A50}"/>
              </a:ext>
            </a:extLst>
          </p:cNvPr>
          <p:cNvSpPr>
            <a:spLocks xmlns:a="http://schemas.openxmlformats.org/drawingml/2006/main" noGrp="1"/>
          </p:cNvSpPr>
          <p:nvPr/>
        </p:nvSpPr>
        <p:spPr>
          <a:xfrm xmlns:a="http://schemas.openxmlformats.org/drawingml/2006/main">
            <a:off x="6429375" y="1743075"/>
            <a:ext cx="2381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050" b="1">
                <a:solidFill>
                  <a:srgbClr val="087E8B"/>
                </a:solidFill>
                <a:latin typeface="Arial"/>
                <a:ea typeface="Arial"/>
                <a:cs typeface="Arial"/>
              </a:defRPr>
            </a:defPPr>
            <a:lvl1pPr>
              <a:defRPr sz="4050" b="1">
                <a:solidFill>
                  <a:srgbClr val="087E8B"/>
                </a:solidFill>
                <a:latin typeface="Arial"/>
                <a:ea typeface="Arial"/>
                <a:cs typeface="Arial"/>
              </a:defRPr>
            </a:lvl1pPr>
            <a:lvl2pPr>
              <a:defRPr sz="4050" b="1">
                <a:solidFill>
                  <a:srgbClr val="087E8B"/>
                </a:solidFill>
                <a:latin typeface="Arial"/>
                <a:ea typeface="Arial"/>
                <a:cs typeface="Arial"/>
              </a:defRPr>
            </a:lvl2pPr>
            <a:lvl3pPr>
              <a:defRPr sz="4050" b="1">
                <a:solidFill>
                  <a:srgbClr val="087E8B"/>
                </a:solidFill>
                <a:latin typeface="Arial"/>
                <a:ea typeface="Arial"/>
                <a:cs typeface="Arial"/>
              </a:defRPr>
            </a:lvl3pPr>
            <a:lvl4pPr>
              <a:defRPr sz="4050" b="1">
                <a:solidFill>
                  <a:srgbClr val="087E8B"/>
                </a:solidFill>
                <a:latin typeface="Arial"/>
                <a:ea typeface="Arial"/>
                <a:cs typeface="Arial"/>
              </a:defRPr>
            </a:lvl4pPr>
            <a:lvl5pPr>
              <a:defRPr sz="4050" b="1">
                <a:solidFill>
                  <a:srgbClr val="087E8B"/>
                </a:solidFill>
                <a:latin typeface="Arial"/>
                <a:ea typeface="Arial"/>
                <a:cs typeface="Arial"/>
              </a:defRPr>
            </a:lvl5pPr>
            <a:lvl6pPr>
              <a:defRPr sz="4050" b="1">
                <a:solidFill>
                  <a:srgbClr val="087E8B"/>
                </a:solidFill>
                <a:latin typeface="Arial"/>
                <a:ea typeface="Arial"/>
                <a:cs typeface="Arial"/>
              </a:defRPr>
            </a:lvl6pPr>
            <a:lvl7pPr>
              <a:defRPr sz="4050" b="1">
                <a:solidFill>
                  <a:srgbClr val="087E8B"/>
                </a:solidFill>
                <a:latin typeface="Arial"/>
                <a:ea typeface="Arial"/>
                <a:cs typeface="Arial"/>
              </a:defRPr>
            </a:lvl7pPr>
            <a:lvl8pPr>
              <a:defRPr sz="4050" b="1">
                <a:solidFill>
                  <a:srgbClr val="087E8B"/>
                </a:solidFill>
                <a:latin typeface="Arial"/>
                <a:ea typeface="Arial"/>
                <a:cs typeface="Arial"/>
              </a:defRPr>
            </a:lvl8pPr>
            <a:lvl9pPr>
              <a:defRPr sz="4050" b="1">
                <a:solidFill>
                  <a:srgbClr val="087E8B"/>
                </a:solidFill>
                <a:latin typeface="Arial"/>
                <a:ea typeface="Arial"/>
                <a:cs typeface="Arial"/>
              </a:defRPr>
            </a:lvl9pPr>
          </a:lstStyle>
          <a:p xmlns:a="http://schemas.openxmlformats.org/drawingml/2006/main">
            <a:pPr>
              <a:defRPr sz="4050" b="1">
                <a:solidFill>
                  <a:srgbClr val="087E8B"/>
                </a:solidFill>
                <a:latin typeface="Arial"/>
                <a:ea typeface="Arial"/>
                <a:cs typeface="Arial"/>
              </a:defRPr>
            </a:pPr>
            <a:r>
              <a:rPr sz="4050" b="1">
                <a:solidFill>
                  <a:srgbClr val="087E8B"/>
                </a:solidFill>
                <a:latin typeface="Arial"/>
                <a:ea typeface="Arial"/>
                <a:cs typeface="Arial"/>
              </a:rPr>
              <a:t>377</a:t>
            </a:r>
          </a:p>
        </p:txBody>
      </p:sp>
      <p:sp>
        <p:nvSpPr>
          <p:cNvPr id="12" name="">
            <a:extLst xmlns:a="http://schemas.openxmlformats.org/drawingml/2006/main">
              <a:ext uri="{FF2B5EF4-FFF2-40B4-BE49-F238E27FC236}">
                <a16:creationId xmlns:a16="http://schemas.microsoft.com/office/drawing/2014/main" id="{EE2B17FA-388E-40E4-AD06-F7FFDA242FE6}"/>
              </a:ext>
            </a:extLst>
          </p:cNvPr>
          <p:cNvSpPr>
            <a:spLocks xmlns:a="http://schemas.openxmlformats.org/drawingml/2006/main" noGrp="1"/>
          </p:cNvSpPr>
          <p:nvPr/>
        </p:nvSpPr>
        <p:spPr>
          <a:xfrm xmlns:a="http://schemas.openxmlformats.org/drawingml/2006/main">
            <a:off x="6429375" y="2381250"/>
            <a:ext cx="2571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17334A"/>
                </a:solidFill>
                <a:latin typeface="Arial"/>
                <a:ea typeface="Arial"/>
                <a:cs typeface="Arial"/>
              </a:defRPr>
            </a:defPPr>
            <a:lvl1pPr>
              <a:defRPr sz="1725" b="0">
                <a:solidFill>
                  <a:srgbClr val="17334A"/>
                </a:solidFill>
                <a:latin typeface="Arial"/>
                <a:ea typeface="Arial"/>
                <a:cs typeface="Arial"/>
              </a:defRPr>
            </a:lvl1pPr>
            <a:lvl2pPr>
              <a:defRPr sz="1725" b="0">
                <a:solidFill>
                  <a:srgbClr val="17334A"/>
                </a:solidFill>
                <a:latin typeface="Arial"/>
                <a:ea typeface="Arial"/>
                <a:cs typeface="Arial"/>
              </a:defRPr>
            </a:lvl2pPr>
            <a:lvl3pPr>
              <a:defRPr sz="1725" b="0">
                <a:solidFill>
                  <a:srgbClr val="17334A"/>
                </a:solidFill>
                <a:latin typeface="Arial"/>
                <a:ea typeface="Arial"/>
                <a:cs typeface="Arial"/>
              </a:defRPr>
            </a:lvl3pPr>
            <a:lvl4pPr>
              <a:defRPr sz="1725" b="0">
                <a:solidFill>
                  <a:srgbClr val="17334A"/>
                </a:solidFill>
                <a:latin typeface="Arial"/>
                <a:ea typeface="Arial"/>
                <a:cs typeface="Arial"/>
              </a:defRPr>
            </a:lvl4pPr>
            <a:lvl5pPr>
              <a:defRPr sz="1725" b="0">
                <a:solidFill>
                  <a:srgbClr val="17334A"/>
                </a:solidFill>
                <a:latin typeface="Arial"/>
                <a:ea typeface="Arial"/>
                <a:cs typeface="Arial"/>
              </a:defRPr>
            </a:lvl5pPr>
            <a:lvl6pPr>
              <a:defRPr sz="1725" b="0">
                <a:solidFill>
                  <a:srgbClr val="17334A"/>
                </a:solidFill>
                <a:latin typeface="Arial"/>
                <a:ea typeface="Arial"/>
                <a:cs typeface="Arial"/>
              </a:defRPr>
            </a:lvl6pPr>
            <a:lvl7pPr>
              <a:defRPr sz="1725" b="0">
                <a:solidFill>
                  <a:srgbClr val="17334A"/>
                </a:solidFill>
                <a:latin typeface="Arial"/>
                <a:ea typeface="Arial"/>
                <a:cs typeface="Arial"/>
              </a:defRPr>
            </a:lvl7pPr>
            <a:lvl8pPr>
              <a:defRPr sz="1725" b="0">
                <a:solidFill>
                  <a:srgbClr val="17334A"/>
                </a:solidFill>
                <a:latin typeface="Arial"/>
                <a:ea typeface="Arial"/>
                <a:cs typeface="Arial"/>
              </a:defRPr>
            </a:lvl8pPr>
            <a:lvl9pPr>
              <a:defRPr sz="1725" b="0">
                <a:solidFill>
                  <a:srgbClr val="17334A"/>
                </a:solidFill>
                <a:latin typeface="Arial"/>
                <a:ea typeface="Arial"/>
                <a:cs typeface="Arial"/>
              </a:defRPr>
            </a:lvl9pPr>
          </a:lstStyle>
          <a:p xmlns:a="http://schemas.openxmlformats.org/drawingml/2006/main">
            <a:pPr>
              <a:defRPr sz="1725" b="0">
                <a:solidFill>
                  <a:srgbClr val="17334A"/>
                </a:solidFill>
                <a:latin typeface="Arial"/>
                <a:ea typeface="Arial"/>
                <a:cs typeface="Arial"/>
              </a:defRPr>
            </a:pPr>
            <a:r>
              <a:rPr sz="1725" b="0">
                <a:solidFill>
                  <a:srgbClr val="17334A"/>
                </a:solidFill>
                <a:latin typeface="Arial"/>
                <a:ea typeface="Arial"/>
                <a:cs typeface="Arial"/>
              </a:rPr>
              <a:t>missing values in raw data</a:t>
            </a:r>
          </a:p>
        </p:txBody>
      </p:sp>
      <p:sp>
        <p:nvSpPr>
          <p:cNvPr id="13" name="">
            <a:extLst xmlns:a="http://schemas.openxmlformats.org/drawingml/2006/main">
              <a:ext uri="{FF2B5EF4-FFF2-40B4-BE49-F238E27FC236}">
                <a16:creationId xmlns:a16="http://schemas.microsoft.com/office/drawing/2014/main" id="{510B1ADC-C186-469F-AA8F-112F3F903127}"/>
              </a:ext>
            </a:extLst>
          </p:cNvPr>
          <p:cNvSpPr>
            <a:spLocks xmlns:a="http://schemas.openxmlformats.org/drawingml/2006/main" noGrp="1"/>
          </p:cNvSpPr>
          <p:nvPr/>
        </p:nvSpPr>
        <p:spPr>
          <a:xfrm xmlns:a="http://schemas.openxmlformats.org/drawingml/2006/main">
            <a:off x="495300" y="2905125"/>
            <a:ext cx="80962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17334A"/>
                </a:solidFill>
                <a:latin typeface="Arial"/>
                <a:ea typeface="Arial"/>
                <a:cs typeface="Arial"/>
              </a:defRPr>
            </a:defPPr>
            <a:lvl1pPr>
              <a:defRPr sz="1875" b="0">
                <a:solidFill>
                  <a:srgbClr val="17334A"/>
                </a:solidFill>
                <a:latin typeface="Arial"/>
                <a:ea typeface="Arial"/>
                <a:cs typeface="Arial"/>
              </a:defRPr>
            </a:lvl1pPr>
            <a:lvl2pPr>
              <a:defRPr sz="1875" b="0">
                <a:solidFill>
                  <a:srgbClr val="17334A"/>
                </a:solidFill>
                <a:latin typeface="Arial"/>
                <a:ea typeface="Arial"/>
                <a:cs typeface="Arial"/>
              </a:defRPr>
            </a:lvl2pPr>
            <a:lvl3pPr>
              <a:defRPr sz="1875" b="0">
                <a:solidFill>
                  <a:srgbClr val="17334A"/>
                </a:solidFill>
                <a:latin typeface="Arial"/>
                <a:ea typeface="Arial"/>
                <a:cs typeface="Arial"/>
              </a:defRPr>
            </a:lvl3pPr>
            <a:lvl4pPr>
              <a:defRPr sz="1875" b="0">
                <a:solidFill>
                  <a:srgbClr val="17334A"/>
                </a:solidFill>
                <a:latin typeface="Arial"/>
                <a:ea typeface="Arial"/>
                <a:cs typeface="Arial"/>
              </a:defRPr>
            </a:lvl4pPr>
            <a:lvl5pPr>
              <a:defRPr sz="1875" b="0">
                <a:solidFill>
                  <a:srgbClr val="17334A"/>
                </a:solidFill>
                <a:latin typeface="Arial"/>
                <a:ea typeface="Arial"/>
                <a:cs typeface="Arial"/>
              </a:defRPr>
            </a:lvl5pPr>
            <a:lvl6pPr>
              <a:defRPr sz="1875" b="0">
                <a:solidFill>
                  <a:srgbClr val="17334A"/>
                </a:solidFill>
                <a:latin typeface="Arial"/>
                <a:ea typeface="Arial"/>
                <a:cs typeface="Arial"/>
              </a:defRPr>
            </a:lvl6pPr>
            <a:lvl7pPr>
              <a:defRPr sz="1875" b="0">
                <a:solidFill>
                  <a:srgbClr val="17334A"/>
                </a:solidFill>
                <a:latin typeface="Arial"/>
                <a:ea typeface="Arial"/>
                <a:cs typeface="Arial"/>
              </a:defRPr>
            </a:lvl7pPr>
            <a:lvl8pPr>
              <a:defRPr sz="1875" b="0">
                <a:solidFill>
                  <a:srgbClr val="17334A"/>
                </a:solidFill>
                <a:latin typeface="Arial"/>
                <a:ea typeface="Arial"/>
                <a:cs typeface="Arial"/>
              </a:defRPr>
            </a:lvl8pPr>
            <a:lvl9pPr>
              <a:defRPr sz="1875" b="0">
                <a:solidFill>
                  <a:srgbClr val="17334A"/>
                </a:solidFill>
                <a:latin typeface="Arial"/>
                <a:ea typeface="Arial"/>
                <a:cs typeface="Arial"/>
              </a:defRPr>
            </a:lvl9pPr>
          </a:lstStyle>
          <a:p xmlns:a="http://schemas.openxmlformats.org/drawingml/2006/main">
            <a:pPr>
              <a:defRPr sz="1875" b="0">
                <a:solidFill>
                  <a:srgbClr val="17334A"/>
                </a:solidFill>
                <a:latin typeface="Arial"/>
                <a:ea typeface="Arial"/>
                <a:cs typeface="Arial"/>
              </a:defRPr>
            </a:pPr>
            <a:r>
              <a:rPr sz="1875" b="0">
                <a:solidFill>
                  <a:srgbClr val="17334A"/>
                </a:solidFill>
                <a:latin typeface="Arial"/>
                <a:ea typeface="Arial"/>
                <a:cs typeface="Arial"/>
              </a:rPr>
              <a:t>6 columns translated into English. After deduplication: 373 missing values.</a:t>
            </a:r>
          </a:p>
        </p:txBody>
      </p:sp>
      <p:sp>
        <p:nvSpPr>
          <p:cNvPr id="14" name="">
            <a:extLst xmlns:a="http://schemas.openxmlformats.org/drawingml/2006/main">
              <a:ext uri="{FF2B5EF4-FFF2-40B4-BE49-F238E27FC236}">
                <a16:creationId xmlns:a16="http://schemas.microsoft.com/office/drawing/2014/main" id="{E1B47146-6B07-4DCF-BC8F-81268413F90C}"/>
              </a:ext>
            </a:extLst>
          </p:cNvPr>
          <p:cNvSpPr>
            <a:spLocks xmlns:a="http://schemas.openxmlformats.org/drawingml/2006/main" noGrp="1"/>
          </p:cNvSpPr>
          <p:nvPr/>
        </p:nvSpPr>
        <p:spPr>
          <a:xfrm xmlns:a="http://schemas.openxmlformats.org/drawingml/2006/main">
            <a:off x="495300" y="3629025"/>
            <a:ext cx="8096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17334A"/>
                </a:solidFill>
                <a:latin typeface="Arial"/>
                <a:ea typeface="Arial"/>
                <a:cs typeface="Arial"/>
              </a:defRPr>
            </a:defPPr>
            <a:lvl1pPr>
              <a:defRPr sz="1875" b="0">
                <a:solidFill>
                  <a:srgbClr val="17334A"/>
                </a:solidFill>
                <a:latin typeface="Arial"/>
                <a:ea typeface="Arial"/>
                <a:cs typeface="Arial"/>
              </a:defRPr>
            </a:lvl1pPr>
            <a:lvl2pPr>
              <a:defRPr sz="1875" b="0">
                <a:solidFill>
                  <a:srgbClr val="17334A"/>
                </a:solidFill>
                <a:latin typeface="Arial"/>
                <a:ea typeface="Arial"/>
                <a:cs typeface="Arial"/>
              </a:defRPr>
            </a:lvl2pPr>
            <a:lvl3pPr>
              <a:defRPr sz="1875" b="0">
                <a:solidFill>
                  <a:srgbClr val="17334A"/>
                </a:solidFill>
                <a:latin typeface="Arial"/>
                <a:ea typeface="Arial"/>
                <a:cs typeface="Arial"/>
              </a:defRPr>
            </a:lvl3pPr>
            <a:lvl4pPr>
              <a:defRPr sz="1875" b="0">
                <a:solidFill>
                  <a:srgbClr val="17334A"/>
                </a:solidFill>
                <a:latin typeface="Arial"/>
                <a:ea typeface="Arial"/>
                <a:cs typeface="Arial"/>
              </a:defRPr>
            </a:lvl4pPr>
            <a:lvl5pPr>
              <a:defRPr sz="1875" b="0">
                <a:solidFill>
                  <a:srgbClr val="17334A"/>
                </a:solidFill>
                <a:latin typeface="Arial"/>
                <a:ea typeface="Arial"/>
                <a:cs typeface="Arial"/>
              </a:defRPr>
            </a:lvl5pPr>
            <a:lvl6pPr>
              <a:defRPr sz="1875" b="0">
                <a:solidFill>
                  <a:srgbClr val="17334A"/>
                </a:solidFill>
                <a:latin typeface="Arial"/>
                <a:ea typeface="Arial"/>
                <a:cs typeface="Arial"/>
              </a:defRPr>
            </a:lvl6pPr>
            <a:lvl7pPr>
              <a:defRPr sz="1875" b="0">
                <a:solidFill>
                  <a:srgbClr val="17334A"/>
                </a:solidFill>
                <a:latin typeface="Arial"/>
                <a:ea typeface="Arial"/>
                <a:cs typeface="Arial"/>
              </a:defRPr>
            </a:lvl7pPr>
            <a:lvl8pPr>
              <a:defRPr sz="1875" b="0">
                <a:solidFill>
                  <a:srgbClr val="17334A"/>
                </a:solidFill>
                <a:latin typeface="Arial"/>
                <a:ea typeface="Arial"/>
                <a:cs typeface="Arial"/>
              </a:defRPr>
            </a:lvl8pPr>
            <a:lvl9pPr>
              <a:defRPr sz="1875" b="0">
                <a:solidFill>
                  <a:srgbClr val="17334A"/>
                </a:solidFill>
                <a:latin typeface="Arial"/>
                <a:ea typeface="Arial"/>
                <a:cs typeface="Arial"/>
              </a:defRPr>
            </a:lvl9pPr>
          </a:lstStyle>
          <a:p xmlns:a="http://schemas.openxmlformats.org/drawingml/2006/main">
            <a:pPr>
              <a:defRPr sz="1875" b="0">
                <a:solidFill>
                  <a:srgbClr val="17334A"/>
                </a:solidFill>
                <a:latin typeface="Arial"/>
                <a:ea typeface="Arial"/>
                <a:cs typeface="Arial"/>
              </a:defRPr>
            </a:pPr>
            <a:r>
              <a:rPr sz="1875" b="0">
                <a:solidFill>
                  <a:srgbClr val="17334A"/>
                </a:solidFill>
                <a:latin typeface="Arial"/>
                <a:ea typeface="Arial"/>
                <a:cs typeface="Arial"/>
              </a:rPr>
              <a:t>25 predictors retained. Employee ID excluded. Median or category imputation.</a:t>
            </a:r>
          </a:p>
        </p:txBody>
      </p:sp>
      <p:sp>
        <p:nvSpPr>
          <p:cNvPr id="15" name="">
            <a:extLst xmlns:a="http://schemas.openxmlformats.org/drawingml/2006/main">
              <a:ext uri="{FF2B5EF4-FFF2-40B4-BE49-F238E27FC236}">
                <a16:creationId xmlns:a16="http://schemas.microsoft.com/office/drawing/2014/main" id="{1A7C2760-4750-4CAB-9E61-1B6EE5DA8B3B}"/>
              </a:ext>
            </a:extLst>
          </p:cNvPr>
          <p:cNvSpPr>
            <a:spLocks xmlns:a="http://schemas.openxmlformats.org/drawingml/2006/main" noGrp="1"/>
          </p:cNvSpPr>
          <p:nvPr/>
        </p:nvSpPr>
        <p:spPr>
          <a:xfrm xmlns:a="http://schemas.openxmlformats.org/drawingml/2006/main">
            <a:off x="495300" y="4467225"/>
            <a:ext cx="2381250" cy="952500"/>
          </a:xfrm>
          <a:prstGeom xmlns:a="http://schemas.openxmlformats.org/drawingml/2006/main" prst="rect">
            <a:avLst/>
          </a:prstGeom>
          <a:solidFill xmlns:a="http://schemas.openxmlformats.org/drawingml/2006/main">
            <a:srgbClr val="EAF3F4"/>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D1166469-F9BC-4AFA-9091-B601C80C9565}"/>
              </a:ext>
            </a:extLst>
          </p:cNvPr>
          <p:cNvSpPr>
            <a:spLocks xmlns:a="http://schemas.openxmlformats.org/drawingml/2006/main" noGrp="1"/>
          </p:cNvSpPr>
          <p:nvPr/>
        </p:nvSpPr>
        <p:spPr>
          <a:xfrm xmlns:a="http://schemas.openxmlformats.org/drawingml/2006/main">
            <a:off x="638175" y="4591050"/>
            <a:ext cx="2095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122C43"/>
                </a:solidFill>
                <a:latin typeface="Arial"/>
                <a:ea typeface="Arial"/>
                <a:cs typeface="Arial"/>
              </a:defRPr>
            </a:defPPr>
            <a:lvl1pPr>
              <a:defRPr sz="1875" b="1">
                <a:solidFill>
                  <a:srgbClr val="122C43"/>
                </a:solidFill>
                <a:latin typeface="Arial"/>
                <a:ea typeface="Arial"/>
                <a:cs typeface="Arial"/>
              </a:defRPr>
            </a:lvl1pPr>
            <a:lvl2pPr>
              <a:defRPr sz="1875" b="1">
                <a:solidFill>
                  <a:srgbClr val="122C43"/>
                </a:solidFill>
                <a:latin typeface="Arial"/>
                <a:ea typeface="Arial"/>
                <a:cs typeface="Arial"/>
              </a:defRPr>
            </a:lvl2pPr>
            <a:lvl3pPr>
              <a:defRPr sz="1875" b="1">
                <a:solidFill>
                  <a:srgbClr val="122C43"/>
                </a:solidFill>
                <a:latin typeface="Arial"/>
                <a:ea typeface="Arial"/>
                <a:cs typeface="Arial"/>
              </a:defRPr>
            </a:lvl3pPr>
            <a:lvl4pPr>
              <a:defRPr sz="1875" b="1">
                <a:solidFill>
                  <a:srgbClr val="122C43"/>
                </a:solidFill>
                <a:latin typeface="Arial"/>
                <a:ea typeface="Arial"/>
                <a:cs typeface="Arial"/>
              </a:defRPr>
            </a:lvl4pPr>
            <a:lvl5pPr>
              <a:defRPr sz="1875" b="1">
                <a:solidFill>
                  <a:srgbClr val="122C43"/>
                </a:solidFill>
                <a:latin typeface="Arial"/>
                <a:ea typeface="Arial"/>
                <a:cs typeface="Arial"/>
              </a:defRPr>
            </a:lvl5pPr>
            <a:lvl6pPr>
              <a:defRPr sz="1875" b="1">
                <a:solidFill>
                  <a:srgbClr val="122C43"/>
                </a:solidFill>
                <a:latin typeface="Arial"/>
                <a:ea typeface="Arial"/>
                <a:cs typeface="Arial"/>
              </a:defRPr>
            </a:lvl6pPr>
            <a:lvl7pPr>
              <a:defRPr sz="1875" b="1">
                <a:solidFill>
                  <a:srgbClr val="122C43"/>
                </a:solidFill>
                <a:latin typeface="Arial"/>
                <a:ea typeface="Arial"/>
                <a:cs typeface="Arial"/>
              </a:defRPr>
            </a:lvl7pPr>
            <a:lvl8pPr>
              <a:defRPr sz="1875" b="1">
                <a:solidFill>
                  <a:srgbClr val="122C43"/>
                </a:solidFill>
                <a:latin typeface="Arial"/>
                <a:ea typeface="Arial"/>
                <a:cs typeface="Arial"/>
              </a:defRPr>
            </a:lvl8pPr>
            <a:lvl9pPr>
              <a:defRPr sz="1875" b="1">
                <a:solidFill>
                  <a:srgbClr val="122C43"/>
                </a:solidFill>
                <a:latin typeface="Arial"/>
                <a:ea typeface="Arial"/>
                <a:cs typeface="Arial"/>
              </a:defRPr>
            </a:lvl9pPr>
          </a:lstStyle>
          <a:p xmlns:a="http://schemas.openxmlformats.org/drawingml/2006/main">
            <a:pPr>
              <a:defRPr sz="1875" b="1">
                <a:solidFill>
                  <a:srgbClr val="122C43"/>
                </a:solidFill>
                <a:latin typeface="Arial"/>
                <a:ea typeface="Arial"/>
                <a:cs typeface="Arial"/>
              </a:defRPr>
            </a:pPr>
            <a:r>
              <a:rPr sz="1875" b="1">
                <a:solidFill>
                  <a:srgbClr val="122C43"/>
                </a:solidFill>
                <a:latin typeface="Arial"/>
                <a:ea typeface="Arial"/>
                <a:cs typeface="Arial"/>
              </a:rPr>
              <a:t>EDA</a:t>
            </a:r>
          </a:p>
        </p:txBody>
      </p:sp>
      <p:sp>
        <p:nvSpPr>
          <p:cNvPr id="17" name="">
            <a:extLst xmlns:a="http://schemas.openxmlformats.org/drawingml/2006/main">
              <a:ext uri="{FF2B5EF4-FFF2-40B4-BE49-F238E27FC236}">
                <a16:creationId xmlns:a16="http://schemas.microsoft.com/office/drawing/2014/main" id="{18656A3F-8BAA-45C7-957B-A14AFC9FFC82}"/>
              </a:ext>
            </a:extLst>
          </p:cNvPr>
          <p:cNvSpPr>
            <a:spLocks xmlns:a="http://schemas.openxmlformats.org/drawingml/2006/main" noGrp="1"/>
          </p:cNvSpPr>
          <p:nvPr/>
        </p:nvSpPr>
        <p:spPr>
          <a:xfrm xmlns:a="http://schemas.openxmlformats.org/drawingml/2006/main">
            <a:off x="638175" y="5019675"/>
            <a:ext cx="2095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526879"/>
                </a:solidFill>
                <a:latin typeface="Arial"/>
                <a:ea typeface="Arial"/>
                <a:cs typeface="Arial"/>
              </a:defRPr>
            </a:defPPr>
            <a:lvl1pPr>
              <a:defRPr sz="1575" b="0">
                <a:solidFill>
                  <a:srgbClr val="526879"/>
                </a:solidFill>
                <a:latin typeface="Arial"/>
                <a:ea typeface="Arial"/>
                <a:cs typeface="Arial"/>
              </a:defRPr>
            </a:lvl1pPr>
            <a:lvl2pPr>
              <a:defRPr sz="1575" b="0">
                <a:solidFill>
                  <a:srgbClr val="526879"/>
                </a:solidFill>
                <a:latin typeface="Arial"/>
                <a:ea typeface="Arial"/>
                <a:cs typeface="Arial"/>
              </a:defRPr>
            </a:lvl2pPr>
            <a:lvl3pPr>
              <a:defRPr sz="1575" b="0">
                <a:solidFill>
                  <a:srgbClr val="526879"/>
                </a:solidFill>
                <a:latin typeface="Arial"/>
                <a:ea typeface="Arial"/>
                <a:cs typeface="Arial"/>
              </a:defRPr>
            </a:lvl3pPr>
            <a:lvl4pPr>
              <a:defRPr sz="1575" b="0">
                <a:solidFill>
                  <a:srgbClr val="526879"/>
                </a:solidFill>
                <a:latin typeface="Arial"/>
                <a:ea typeface="Arial"/>
                <a:cs typeface="Arial"/>
              </a:defRPr>
            </a:lvl4pPr>
            <a:lvl5pPr>
              <a:defRPr sz="1575" b="0">
                <a:solidFill>
                  <a:srgbClr val="526879"/>
                </a:solidFill>
                <a:latin typeface="Arial"/>
                <a:ea typeface="Arial"/>
                <a:cs typeface="Arial"/>
              </a:defRPr>
            </a:lvl5pPr>
            <a:lvl6pPr>
              <a:defRPr sz="1575" b="0">
                <a:solidFill>
                  <a:srgbClr val="526879"/>
                </a:solidFill>
                <a:latin typeface="Arial"/>
                <a:ea typeface="Arial"/>
                <a:cs typeface="Arial"/>
              </a:defRPr>
            </a:lvl6pPr>
            <a:lvl7pPr>
              <a:defRPr sz="1575" b="0">
                <a:solidFill>
                  <a:srgbClr val="526879"/>
                </a:solidFill>
                <a:latin typeface="Arial"/>
                <a:ea typeface="Arial"/>
                <a:cs typeface="Arial"/>
              </a:defRPr>
            </a:lvl7pPr>
            <a:lvl8pPr>
              <a:defRPr sz="1575" b="0">
                <a:solidFill>
                  <a:srgbClr val="526879"/>
                </a:solidFill>
                <a:latin typeface="Arial"/>
                <a:ea typeface="Arial"/>
                <a:cs typeface="Arial"/>
              </a:defRPr>
            </a:lvl8pPr>
            <a:lvl9pPr>
              <a:defRPr sz="1575" b="0">
                <a:solidFill>
                  <a:srgbClr val="526879"/>
                </a:solidFill>
                <a:latin typeface="Arial"/>
                <a:ea typeface="Arial"/>
                <a:cs typeface="Arial"/>
              </a:defRPr>
            </a:lvl9pPr>
          </a:lstStyle>
          <a:p xmlns:a="http://schemas.openxmlformats.org/drawingml/2006/main">
            <a:pPr>
              <a:defRPr sz="1575" b="0">
                <a:solidFill>
                  <a:srgbClr val="526879"/>
                </a:solidFill>
                <a:latin typeface="Arial"/>
                <a:ea typeface="Arial"/>
                <a:cs typeface="Arial"/>
              </a:defRPr>
            </a:pPr>
            <a:r>
              <a:rPr sz="1575" b="0">
                <a:solidFill>
                  <a:srgbClr val="526879"/>
                </a:solidFill>
                <a:latin typeface="Arial"/>
                <a:ea typeface="Arial"/>
                <a:cs typeface="Arial"/>
              </a:rPr>
              <a:t>Distributions and tests</a:t>
            </a:r>
          </a:p>
        </p:txBody>
      </p:sp>
      <p:sp>
        <p:nvSpPr>
          <p:cNvPr id="18" name="">
            <a:extLst xmlns:a="http://schemas.openxmlformats.org/drawingml/2006/main">
              <a:ext uri="{FF2B5EF4-FFF2-40B4-BE49-F238E27FC236}">
                <a16:creationId xmlns:a16="http://schemas.microsoft.com/office/drawing/2014/main" id="{9A260760-7E39-4176-A323-F93B5E2255A8}"/>
              </a:ext>
            </a:extLst>
          </p:cNvPr>
          <p:cNvSpPr>
            <a:spLocks xmlns:a="http://schemas.openxmlformats.org/drawingml/2006/main" noGrp="1"/>
          </p:cNvSpPr>
          <p:nvPr/>
        </p:nvSpPr>
        <p:spPr>
          <a:xfrm xmlns:a="http://schemas.openxmlformats.org/drawingml/2006/main">
            <a:off x="2971800" y="4762500"/>
            <a:ext cx="342900" cy="285750"/>
          </a:xfrm>
          <a:prstGeom xmlns:a="http://schemas.openxmlformats.org/drawingml/2006/main" prst="rightArrow">
            <a:avLst/>
          </a:prstGeom>
          <a:solidFill xmlns:a="http://schemas.openxmlformats.org/drawingml/2006/main">
            <a:srgbClr val="087E8B"/>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5B8EB6A6-9433-4765-A225-88B1C3CFCDEF}"/>
              </a:ext>
            </a:extLst>
          </p:cNvPr>
          <p:cNvSpPr>
            <a:spLocks xmlns:a="http://schemas.openxmlformats.org/drawingml/2006/main" noGrp="1"/>
          </p:cNvSpPr>
          <p:nvPr/>
        </p:nvSpPr>
        <p:spPr>
          <a:xfrm xmlns:a="http://schemas.openxmlformats.org/drawingml/2006/main">
            <a:off x="3429000" y="4467225"/>
            <a:ext cx="2381250" cy="952500"/>
          </a:xfrm>
          <a:prstGeom xmlns:a="http://schemas.openxmlformats.org/drawingml/2006/main" prst="rect">
            <a:avLst/>
          </a:prstGeom>
          <a:solidFill xmlns:a="http://schemas.openxmlformats.org/drawingml/2006/main">
            <a:srgbClr val="F2F6F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AA714DAD-FBA4-48F1-9642-73A968D49185}"/>
              </a:ext>
            </a:extLst>
          </p:cNvPr>
          <p:cNvSpPr>
            <a:spLocks xmlns:a="http://schemas.openxmlformats.org/drawingml/2006/main" noGrp="1"/>
          </p:cNvSpPr>
          <p:nvPr/>
        </p:nvSpPr>
        <p:spPr>
          <a:xfrm xmlns:a="http://schemas.openxmlformats.org/drawingml/2006/main">
            <a:off x="3571875" y="4591050"/>
            <a:ext cx="2095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122C43"/>
                </a:solidFill>
                <a:latin typeface="Arial"/>
                <a:ea typeface="Arial"/>
                <a:cs typeface="Arial"/>
              </a:defRPr>
            </a:defPPr>
            <a:lvl1pPr>
              <a:defRPr sz="1875" b="1">
                <a:solidFill>
                  <a:srgbClr val="122C43"/>
                </a:solidFill>
                <a:latin typeface="Arial"/>
                <a:ea typeface="Arial"/>
                <a:cs typeface="Arial"/>
              </a:defRPr>
            </a:lvl1pPr>
            <a:lvl2pPr>
              <a:defRPr sz="1875" b="1">
                <a:solidFill>
                  <a:srgbClr val="122C43"/>
                </a:solidFill>
                <a:latin typeface="Arial"/>
                <a:ea typeface="Arial"/>
                <a:cs typeface="Arial"/>
              </a:defRPr>
            </a:lvl2pPr>
            <a:lvl3pPr>
              <a:defRPr sz="1875" b="1">
                <a:solidFill>
                  <a:srgbClr val="122C43"/>
                </a:solidFill>
                <a:latin typeface="Arial"/>
                <a:ea typeface="Arial"/>
                <a:cs typeface="Arial"/>
              </a:defRPr>
            </a:lvl3pPr>
            <a:lvl4pPr>
              <a:defRPr sz="1875" b="1">
                <a:solidFill>
                  <a:srgbClr val="122C43"/>
                </a:solidFill>
                <a:latin typeface="Arial"/>
                <a:ea typeface="Arial"/>
                <a:cs typeface="Arial"/>
              </a:defRPr>
            </a:lvl4pPr>
            <a:lvl5pPr>
              <a:defRPr sz="1875" b="1">
                <a:solidFill>
                  <a:srgbClr val="122C43"/>
                </a:solidFill>
                <a:latin typeface="Arial"/>
                <a:ea typeface="Arial"/>
                <a:cs typeface="Arial"/>
              </a:defRPr>
            </a:lvl5pPr>
            <a:lvl6pPr>
              <a:defRPr sz="1875" b="1">
                <a:solidFill>
                  <a:srgbClr val="122C43"/>
                </a:solidFill>
                <a:latin typeface="Arial"/>
                <a:ea typeface="Arial"/>
                <a:cs typeface="Arial"/>
              </a:defRPr>
            </a:lvl6pPr>
            <a:lvl7pPr>
              <a:defRPr sz="1875" b="1">
                <a:solidFill>
                  <a:srgbClr val="122C43"/>
                </a:solidFill>
                <a:latin typeface="Arial"/>
                <a:ea typeface="Arial"/>
                <a:cs typeface="Arial"/>
              </a:defRPr>
            </a:lvl7pPr>
            <a:lvl8pPr>
              <a:defRPr sz="1875" b="1">
                <a:solidFill>
                  <a:srgbClr val="122C43"/>
                </a:solidFill>
                <a:latin typeface="Arial"/>
                <a:ea typeface="Arial"/>
                <a:cs typeface="Arial"/>
              </a:defRPr>
            </a:lvl8pPr>
            <a:lvl9pPr>
              <a:defRPr sz="1875" b="1">
                <a:solidFill>
                  <a:srgbClr val="122C43"/>
                </a:solidFill>
                <a:latin typeface="Arial"/>
                <a:ea typeface="Arial"/>
                <a:cs typeface="Arial"/>
              </a:defRPr>
            </a:lvl9pPr>
          </a:lstStyle>
          <a:p xmlns:a="http://schemas.openxmlformats.org/drawingml/2006/main">
            <a:pPr>
              <a:defRPr sz="1875" b="1">
                <a:solidFill>
                  <a:srgbClr val="122C43"/>
                </a:solidFill>
                <a:latin typeface="Arial"/>
                <a:ea typeface="Arial"/>
                <a:cs typeface="Arial"/>
              </a:defRPr>
            </a:pPr>
            <a:r>
              <a:rPr sz="1875" b="1">
                <a:solidFill>
                  <a:srgbClr val="122C43"/>
                </a:solidFill>
                <a:latin typeface="Arial"/>
                <a:ea typeface="Arial"/>
                <a:cs typeface="Arial"/>
              </a:rPr>
              <a:t>Preparation</a:t>
            </a:r>
          </a:p>
        </p:txBody>
      </p:sp>
      <p:sp>
        <p:nvSpPr>
          <p:cNvPr id="21" name="">
            <a:extLst xmlns:a="http://schemas.openxmlformats.org/drawingml/2006/main">
              <a:ext uri="{FF2B5EF4-FFF2-40B4-BE49-F238E27FC236}">
                <a16:creationId xmlns:a16="http://schemas.microsoft.com/office/drawing/2014/main" id="{E76D6A22-618F-4FB1-A9F3-4E231AC634CC}"/>
              </a:ext>
            </a:extLst>
          </p:cNvPr>
          <p:cNvSpPr>
            <a:spLocks xmlns:a="http://schemas.openxmlformats.org/drawingml/2006/main" noGrp="1"/>
          </p:cNvSpPr>
          <p:nvPr/>
        </p:nvSpPr>
        <p:spPr>
          <a:xfrm xmlns:a="http://schemas.openxmlformats.org/drawingml/2006/main">
            <a:off x="3571875" y="5019675"/>
            <a:ext cx="2095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526879"/>
                </a:solidFill>
                <a:latin typeface="Arial"/>
                <a:ea typeface="Arial"/>
                <a:cs typeface="Arial"/>
              </a:defRPr>
            </a:defPPr>
            <a:lvl1pPr>
              <a:defRPr sz="1575" b="0">
                <a:solidFill>
                  <a:srgbClr val="526879"/>
                </a:solidFill>
                <a:latin typeface="Arial"/>
                <a:ea typeface="Arial"/>
                <a:cs typeface="Arial"/>
              </a:defRPr>
            </a:lvl1pPr>
            <a:lvl2pPr>
              <a:defRPr sz="1575" b="0">
                <a:solidFill>
                  <a:srgbClr val="526879"/>
                </a:solidFill>
                <a:latin typeface="Arial"/>
                <a:ea typeface="Arial"/>
                <a:cs typeface="Arial"/>
              </a:defRPr>
            </a:lvl2pPr>
            <a:lvl3pPr>
              <a:defRPr sz="1575" b="0">
                <a:solidFill>
                  <a:srgbClr val="526879"/>
                </a:solidFill>
                <a:latin typeface="Arial"/>
                <a:ea typeface="Arial"/>
                <a:cs typeface="Arial"/>
              </a:defRPr>
            </a:lvl3pPr>
            <a:lvl4pPr>
              <a:defRPr sz="1575" b="0">
                <a:solidFill>
                  <a:srgbClr val="526879"/>
                </a:solidFill>
                <a:latin typeface="Arial"/>
                <a:ea typeface="Arial"/>
                <a:cs typeface="Arial"/>
              </a:defRPr>
            </a:lvl4pPr>
            <a:lvl5pPr>
              <a:defRPr sz="1575" b="0">
                <a:solidFill>
                  <a:srgbClr val="526879"/>
                </a:solidFill>
                <a:latin typeface="Arial"/>
                <a:ea typeface="Arial"/>
                <a:cs typeface="Arial"/>
              </a:defRPr>
            </a:lvl5pPr>
            <a:lvl6pPr>
              <a:defRPr sz="1575" b="0">
                <a:solidFill>
                  <a:srgbClr val="526879"/>
                </a:solidFill>
                <a:latin typeface="Arial"/>
                <a:ea typeface="Arial"/>
                <a:cs typeface="Arial"/>
              </a:defRPr>
            </a:lvl6pPr>
            <a:lvl7pPr>
              <a:defRPr sz="1575" b="0">
                <a:solidFill>
                  <a:srgbClr val="526879"/>
                </a:solidFill>
                <a:latin typeface="Arial"/>
                <a:ea typeface="Arial"/>
                <a:cs typeface="Arial"/>
              </a:defRPr>
            </a:lvl7pPr>
            <a:lvl8pPr>
              <a:defRPr sz="1575" b="0">
                <a:solidFill>
                  <a:srgbClr val="526879"/>
                </a:solidFill>
                <a:latin typeface="Arial"/>
                <a:ea typeface="Arial"/>
                <a:cs typeface="Arial"/>
              </a:defRPr>
            </a:lvl8pPr>
            <a:lvl9pPr>
              <a:defRPr sz="1575" b="0">
                <a:solidFill>
                  <a:srgbClr val="526879"/>
                </a:solidFill>
                <a:latin typeface="Arial"/>
                <a:ea typeface="Arial"/>
                <a:cs typeface="Arial"/>
              </a:defRPr>
            </a:lvl9pPr>
          </a:lstStyle>
          <a:p xmlns:a="http://schemas.openxmlformats.org/drawingml/2006/main">
            <a:pPr>
              <a:defRPr sz="1575" b="0">
                <a:solidFill>
                  <a:srgbClr val="526879"/>
                </a:solidFill>
                <a:latin typeface="Arial"/>
                <a:ea typeface="Arial"/>
                <a:cs typeface="Arial"/>
              </a:defRPr>
            </a:pPr>
            <a:r>
              <a:rPr sz="1575" b="0">
                <a:solidFill>
                  <a:srgbClr val="526879"/>
                </a:solidFill>
                <a:latin typeface="Arial"/>
                <a:ea typeface="Arial"/>
                <a:cs typeface="Arial"/>
              </a:rPr>
              <a:t>Reference encoding</a:t>
            </a:r>
          </a:p>
        </p:txBody>
      </p:sp>
      <p:sp>
        <p:nvSpPr>
          <p:cNvPr id="22" name="">
            <a:extLst xmlns:a="http://schemas.openxmlformats.org/drawingml/2006/main">
              <a:ext uri="{FF2B5EF4-FFF2-40B4-BE49-F238E27FC236}">
                <a16:creationId xmlns:a16="http://schemas.microsoft.com/office/drawing/2014/main" id="{249A2DEA-0F3C-4EA9-B876-7CB72411623B}"/>
              </a:ext>
            </a:extLst>
          </p:cNvPr>
          <p:cNvSpPr>
            <a:spLocks xmlns:a="http://schemas.openxmlformats.org/drawingml/2006/main" noGrp="1"/>
          </p:cNvSpPr>
          <p:nvPr/>
        </p:nvSpPr>
        <p:spPr>
          <a:xfrm xmlns:a="http://schemas.openxmlformats.org/drawingml/2006/main">
            <a:off x="5905500" y="4762500"/>
            <a:ext cx="342900" cy="285750"/>
          </a:xfrm>
          <a:prstGeom xmlns:a="http://schemas.openxmlformats.org/drawingml/2006/main" prst="rightArrow">
            <a:avLst/>
          </a:prstGeom>
          <a:solidFill xmlns:a="http://schemas.openxmlformats.org/drawingml/2006/main">
            <a:srgbClr val="087E8B"/>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BC4F96F3-4050-482A-8806-D12DB1D9EF6B}"/>
              </a:ext>
            </a:extLst>
          </p:cNvPr>
          <p:cNvSpPr>
            <a:spLocks xmlns:a="http://schemas.openxmlformats.org/drawingml/2006/main" noGrp="1"/>
          </p:cNvSpPr>
          <p:nvPr/>
        </p:nvSpPr>
        <p:spPr>
          <a:xfrm xmlns:a="http://schemas.openxmlformats.org/drawingml/2006/main">
            <a:off x="6362700" y="4467225"/>
            <a:ext cx="2381250" cy="952500"/>
          </a:xfrm>
          <a:prstGeom xmlns:a="http://schemas.openxmlformats.org/drawingml/2006/main" prst="rect">
            <a:avLst/>
          </a:prstGeom>
          <a:solidFill xmlns:a="http://schemas.openxmlformats.org/drawingml/2006/main">
            <a:srgbClr val="EAF3F4"/>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BE3A02C4-9927-42EF-A112-EFF9B11F6658}"/>
              </a:ext>
            </a:extLst>
          </p:cNvPr>
          <p:cNvSpPr>
            <a:spLocks xmlns:a="http://schemas.openxmlformats.org/drawingml/2006/main" noGrp="1"/>
          </p:cNvSpPr>
          <p:nvPr/>
        </p:nvSpPr>
        <p:spPr>
          <a:xfrm xmlns:a="http://schemas.openxmlformats.org/drawingml/2006/main">
            <a:off x="6505575" y="4591050"/>
            <a:ext cx="2095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122C43"/>
                </a:solidFill>
                <a:latin typeface="Arial"/>
                <a:ea typeface="Arial"/>
                <a:cs typeface="Arial"/>
              </a:defRPr>
            </a:defPPr>
            <a:lvl1pPr>
              <a:defRPr sz="1875" b="1">
                <a:solidFill>
                  <a:srgbClr val="122C43"/>
                </a:solidFill>
                <a:latin typeface="Arial"/>
                <a:ea typeface="Arial"/>
                <a:cs typeface="Arial"/>
              </a:defRPr>
            </a:lvl1pPr>
            <a:lvl2pPr>
              <a:defRPr sz="1875" b="1">
                <a:solidFill>
                  <a:srgbClr val="122C43"/>
                </a:solidFill>
                <a:latin typeface="Arial"/>
                <a:ea typeface="Arial"/>
                <a:cs typeface="Arial"/>
              </a:defRPr>
            </a:lvl2pPr>
            <a:lvl3pPr>
              <a:defRPr sz="1875" b="1">
                <a:solidFill>
                  <a:srgbClr val="122C43"/>
                </a:solidFill>
                <a:latin typeface="Arial"/>
                <a:ea typeface="Arial"/>
                <a:cs typeface="Arial"/>
              </a:defRPr>
            </a:lvl3pPr>
            <a:lvl4pPr>
              <a:defRPr sz="1875" b="1">
                <a:solidFill>
                  <a:srgbClr val="122C43"/>
                </a:solidFill>
                <a:latin typeface="Arial"/>
                <a:ea typeface="Arial"/>
                <a:cs typeface="Arial"/>
              </a:defRPr>
            </a:lvl4pPr>
            <a:lvl5pPr>
              <a:defRPr sz="1875" b="1">
                <a:solidFill>
                  <a:srgbClr val="122C43"/>
                </a:solidFill>
                <a:latin typeface="Arial"/>
                <a:ea typeface="Arial"/>
                <a:cs typeface="Arial"/>
              </a:defRPr>
            </a:lvl5pPr>
            <a:lvl6pPr>
              <a:defRPr sz="1875" b="1">
                <a:solidFill>
                  <a:srgbClr val="122C43"/>
                </a:solidFill>
                <a:latin typeface="Arial"/>
                <a:ea typeface="Arial"/>
                <a:cs typeface="Arial"/>
              </a:defRPr>
            </a:lvl6pPr>
            <a:lvl7pPr>
              <a:defRPr sz="1875" b="1">
                <a:solidFill>
                  <a:srgbClr val="122C43"/>
                </a:solidFill>
                <a:latin typeface="Arial"/>
                <a:ea typeface="Arial"/>
                <a:cs typeface="Arial"/>
              </a:defRPr>
            </a:lvl7pPr>
            <a:lvl8pPr>
              <a:defRPr sz="1875" b="1">
                <a:solidFill>
                  <a:srgbClr val="122C43"/>
                </a:solidFill>
                <a:latin typeface="Arial"/>
                <a:ea typeface="Arial"/>
                <a:cs typeface="Arial"/>
              </a:defRPr>
            </a:lvl8pPr>
            <a:lvl9pPr>
              <a:defRPr sz="1875" b="1">
                <a:solidFill>
                  <a:srgbClr val="122C43"/>
                </a:solidFill>
                <a:latin typeface="Arial"/>
                <a:ea typeface="Arial"/>
                <a:cs typeface="Arial"/>
              </a:defRPr>
            </a:lvl9pPr>
          </a:lstStyle>
          <a:p xmlns:a="http://schemas.openxmlformats.org/drawingml/2006/main">
            <a:pPr>
              <a:defRPr sz="1875" b="1">
                <a:solidFill>
                  <a:srgbClr val="122C43"/>
                </a:solidFill>
                <a:latin typeface="Arial"/>
                <a:ea typeface="Arial"/>
                <a:cs typeface="Arial"/>
              </a:defRPr>
            </a:pPr>
            <a:r>
              <a:rPr sz="1875" b="1">
                <a:solidFill>
                  <a:srgbClr val="122C43"/>
                </a:solidFill>
                <a:latin typeface="Arial"/>
                <a:ea typeface="Arial"/>
                <a:cs typeface="Arial"/>
              </a:rPr>
              <a:t>Experiments</a:t>
            </a:r>
          </a:p>
        </p:txBody>
      </p:sp>
      <p:sp>
        <p:nvSpPr>
          <p:cNvPr id="25" name="">
            <a:extLst xmlns:a="http://schemas.openxmlformats.org/drawingml/2006/main">
              <a:ext uri="{FF2B5EF4-FFF2-40B4-BE49-F238E27FC236}">
                <a16:creationId xmlns:a16="http://schemas.microsoft.com/office/drawing/2014/main" id="{F4C6E057-581E-43D4-929F-23807FF79981}"/>
              </a:ext>
            </a:extLst>
          </p:cNvPr>
          <p:cNvSpPr>
            <a:spLocks xmlns:a="http://schemas.openxmlformats.org/drawingml/2006/main" noGrp="1"/>
          </p:cNvSpPr>
          <p:nvPr/>
        </p:nvSpPr>
        <p:spPr>
          <a:xfrm xmlns:a="http://schemas.openxmlformats.org/drawingml/2006/main">
            <a:off x="6505575" y="5019675"/>
            <a:ext cx="2095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526879"/>
                </a:solidFill>
                <a:latin typeface="Arial"/>
                <a:ea typeface="Arial"/>
                <a:cs typeface="Arial"/>
              </a:defRPr>
            </a:defPPr>
            <a:lvl1pPr>
              <a:defRPr sz="1575" b="0">
                <a:solidFill>
                  <a:srgbClr val="526879"/>
                </a:solidFill>
                <a:latin typeface="Arial"/>
                <a:ea typeface="Arial"/>
                <a:cs typeface="Arial"/>
              </a:defRPr>
            </a:lvl1pPr>
            <a:lvl2pPr>
              <a:defRPr sz="1575" b="0">
                <a:solidFill>
                  <a:srgbClr val="526879"/>
                </a:solidFill>
                <a:latin typeface="Arial"/>
                <a:ea typeface="Arial"/>
                <a:cs typeface="Arial"/>
              </a:defRPr>
            </a:lvl2pPr>
            <a:lvl3pPr>
              <a:defRPr sz="1575" b="0">
                <a:solidFill>
                  <a:srgbClr val="526879"/>
                </a:solidFill>
                <a:latin typeface="Arial"/>
                <a:ea typeface="Arial"/>
                <a:cs typeface="Arial"/>
              </a:defRPr>
            </a:lvl3pPr>
            <a:lvl4pPr>
              <a:defRPr sz="1575" b="0">
                <a:solidFill>
                  <a:srgbClr val="526879"/>
                </a:solidFill>
                <a:latin typeface="Arial"/>
                <a:ea typeface="Arial"/>
                <a:cs typeface="Arial"/>
              </a:defRPr>
            </a:lvl4pPr>
            <a:lvl5pPr>
              <a:defRPr sz="1575" b="0">
                <a:solidFill>
                  <a:srgbClr val="526879"/>
                </a:solidFill>
                <a:latin typeface="Arial"/>
                <a:ea typeface="Arial"/>
                <a:cs typeface="Arial"/>
              </a:defRPr>
            </a:lvl5pPr>
            <a:lvl6pPr>
              <a:defRPr sz="1575" b="0">
                <a:solidFill>
                  <a:srgbClr val="526879"/>
                </a:solidFill>
                <a:latin typeface="Arial"/>
                <a:ea typeface="Arial"/>
                <a:cs typeface="Arial"/>
              </a:defRPr>
            </a:lvl6pPr>
            <a:lvl7pPr>
              <a:defRPr sz="1575" b="0">
                <a:solidFill>
                  <a:srgbClr val="526879"/>
                </a:solidFill>
                <a:latin typeface="Arial"/>
                <a:ea typeface="Arial"/>
                <a:cs typeface="Arial"/>
              </a:defRPr>
            </a:lvl7pPr>
            <a:lvl8pPr>
              <a:defRPr sz="1575" b="0">
                <a:solidFill>
                  <a:srgbClr val="526879"/>
                </a:solidFill>
                <a:latin typeface="Arial"/>
                <a:ea typeface="Arial"/>
                <a:cs typeface="Arial"/>
              </a:defRPr>
            </a:lvl8pPr>
            <a:lvl9pPr>
              <a:defRPr sz="1575" b="0">
                <a:solidFill>
                  <a:srgbClr val="526879"/>
                </a:solidFill>
                <a:latin typeface="Arial"/>
                <a:ea typeface="Arial"/>
                <a:cs typeface="Arial"/>
              </a:defRPr>
            </a:lvl9pPr>
          </a:lstStyle>
          <a:p xmlns:a="http://schemas.openxmlformats.org/drawingml/2006/main">
            <a:pPr>
              <a:defRPr sz="1575" b="0">
                <a:solidFill>
                  <a:srgbClr val="526879"/>
                </a:solidFill>
                <a:latin typeface="Arial"/>
                <a:ea typeface="Arial"/>
                <a:cs typeface="Arial"/>
              </a:defRPr>
            </a:pPr>
            <a:r>
              <a:rPr sz="1575" b="0">
                <a:solidFill>
                  <a:srgbClr val="526879"/>
                </a:solidFill>
                <a:latin typeface="Arial"/>
                <a:ea typeface="Arial"/>
                <a:cs typeface="Arial"/>
              </a:rPr>
              <a:t>Stratified 5-fold CV</a:t>
            </a:r>
          </a:p>
        </p:txBody>
      </p:sp>
      <p:sp>
        <p:nvSpPr>
          <p:cNvPr id="26" name="">
            <a:extLst xmlns:a="http://schemas.openxmlformats.org/drawingml/2006/main">
              <a:ext uri="{FF2B5EF4-FFF2-40B4-BE49-F238E27FC236}">
                <a16:creationId xmlns:a16="http://schemas.microsoft.com/office/drawing/2014/main" id="{03CCBD24-0D29-405C-B4AB-A3524F405512}"/>
              </a:ext>
            </a:extLst>
          </p:cNvPr>
          <p:cNvSpPr>
            <a:spLocks xmlns:a="http://schemas.openxmlformats.org/drawingml/2006/main" noGrp="1"/>
          </p:cNvSpPr>
          <p:nvPr/>
        </p:nvSpPr>
        <p:spPr>
          <a:xfrm xmlns:a="http://schemas.openxmlformats.org/drawingml/2006/main">
            <a:off x="8839200" y="4762500"/>
            <a:ext cx="342900" cy="285750"/>
          </a:xfrm>
          <a:prstGeom xmlns:a="http://schemas.openxmlformats.org/drawingml/2006/main" prst="rightArrow">
            <a:avLst/>
          </a:prstGeom>
          <a:solidFill xmlns:a="http://schemas.openxmlformats.org/drawingml/2006/main">
            <a:srgbClr val="087E8B"/>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5E7BF75D-90B4-45AB-9B72-022A432EEA7C}"/>
              </a:ext>
            </a:extLst>
          </p:cNvPr>
          <p:cNvSpPr>
            <a:spLocks xmlns:a="http://schemas.openxmlformats.org/drawingml/2006/main" noGrp="1"/>
          </p:cNvSpPr>
          <p:nvPr/>
        </p:nvSpPr>
        <p:spPr>
          <a:xfrm xmlns:a="http://schemas.openxmlformats.org/drawingml/2006/main">
            <a:off x="9296400" y="4467225"/>
            <a:ext cx="2400300" cy="952500"/>
          </a:xfrm>
          <a:prstGeom xmlns:a="http://schemas.openxmlformats.org/drawingml/2006/main" prst="rect">
            <a:avLst/>
          </a:prstGeom>
          <a:solidFill xmlns:a="http://schemas.openxmlformats.org/drawingml/2006/main">
            <a:srgbClr val="F2F6F8"/>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17B06AA2-D94A-4A43-B682-D74C890F2580}"/>
              </a:ext>
            </a:extLst>
          </p:cNvPr>
          <p:cNvSpPr>
            <a:spLocks xmlns:a="http://schemas.openxmlformats.org/drawingml/2006/main" noGrp="1"/>
          </p:cNvSpPr>
          <p:nvPr/>
        </p:nvSpPr>
        <p:spPr>
          <a:xfrm xmlns:a="http://schemas.openxmlformats.org/drawingml/2006/main">
            <a:off x="9439275" y="4591050"/>
            <a:ext cx="21145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122C43"/>
                </a:solidFill>
                <a:latin typeface="Arial"/>
                <a:ea typeface="Arial"/>
                <a:cs typeface="Arial"/>
              </a:defRPr>
            </a:defPPr>
            <a:lvl1pPr>
              <a:defRPr sz="1875" b="1">
                <a:solidFill>
                  <a:srgbClr val="122C43"/>
                </a:solidFill>
                <a:latin typeface="Arial"/>
                <a:ea typeface="Arial"/>
                <a:cs typeface="Arial"/>
              </a:defRPr>
            </a:lvl1pPr>
            <a:lvl2pPr>
              <a:defRPr sz="1875" b="1">
                <a:solidFill>
                  <a:srgbClr val="122C43"/>
                </a:solidFill>
                <a:latin typeface="Arial"/>
                <a:ea typeface="Arial"/>
                <a:cs typeface="Arial"/>
              </a:defRPr>
            </a:lvl2pPr>
            <a:lvl3pPr>
              <a:defRPr sz="1875" b="1">
                <a:solidFill>
                  <a:srgbClr val="122C43"/>
                </a:solidFill>
                <a:latin typeface="Arial"/>
                <a:ea typeface="Arial"/>
                <a:cs typeface="Arial"/>
              </a:defRPr>
            </a:lvl3pPr>
            <a:lvl4pPr>
              <a:defRPr sz="1875" b="1">
                <a:solidFill>
                  <a:srgbClr val="122C43"/>
                </a:solidFill>
                <a:latin typeface="Arial"/>
                <a:ea typeface="Arial"/>
                <a:cs typeface="Arial"/>
              </a:defRPr>
            </a:lvl4pPr>
            <a:lvl5pPr>
              <a:defRPr sz="1875" b="1">
                <a:solidFill>
                  <a:srgbClr val="122C43"/>
                </a:solidFill>
                <a:latin typeface="Arial"/>
                <a:ea typeface="Arial"/>
                <a:cs typeface="Arial"/>
              </a:defRPr>
            </a:lvl5pPr>
            <a:lvl6pPr>
              <a:defRPr sz="1875" b="1">
                <a:solidFill>
                  <a:srgbClr val="122C43"/>
                </a:solidFill>
                <a:latin typeface="Arial"/>
                <a:ea typeface="Arial"/>
                <a:cs typeface="Arial"/>
              </a:defRPr>
            </a:lvl6pPr>
            <a:lvl7pPr>
              <a:defRPr sz="1875" b="1">
                <a:solidFill>
                  <a:srgbClr val="122C43"/>
                </a:solidFill>
                <a:latin typeface="Arial"/>
                <a:ea typeface="Arial"/>
                <a:cs typeface="Arial"/>
              </a:defRPr>
            </a:lvl7pPr>
            <a:lvl8pPr>
              <a:defRPr sz="1875" b="1">
                <a:solidFill>
                  <a:srgbClr val="122C43"/>
                </a:solidFill>
                <a:latin typeface="Arial"/>
                <a:ea typeface="Arial"/>
                <a:cs typeface="Arial"/>
              </a:defRPr>
            </a:lvl8pPr>
            <a:lvl9pPr>
              <a:defRPr sz="1875" b="1">
                <a:solidFill>
                  <a:srgbClr val="122C43"/>
                </a:solidFill>
                <a:latin typeface="Arial"/>
                <a:ea typeface="Arial"/>
                <a:cs typeface="Arial"/>
              </a:defRPr>
            </a:lvl9pPr>
          </a:lstStyle>
          <a:p xmlns:a="http://schemas.openxmlformats.org/drawingml/2006/main">
            <a:pPr>
              <a:defRPr sz="1875" b="1">
                <a:solidFill>
                  <a:srgbClr val="122C43"/>
                </a:solidFill>
                <a:latin typeface="Arial"/>
                <a:ea typeface="Arial"/>
                <a:cs typeface="Arial"/>
              </a:defRPr>
            </a:pPr>
            <a:r>
              <a:rPr sz="1875" b="1">
                <a:solidFill>
                  <a:srgbClr val="122C43"/>
                </a:solidFill>
                <a:latin typeface="Arial"/>
                <a:ea typeface="Arial"/>
                <a:cs typeface="Arial"/>
              </a:rPr>
              <a:t>Final evaluation</a:t>
            </a:r>
          </a:p>
        </p:txBody>
      </p:sp>
      <p:sp>
        <p:nvSpPr>
          <p:cNvPr id="29" name="">
            <a:extLst xmlns:a="http://schemas.openxmlformats.org/drawingml/2006/main">
              <a:ext uri="{FF2B5EF4-FFF2-40B4-BE49-F238E27FC236}">
                <a16:creationId xmlns:a16="http://schemas.microsoft.com/office/drawing/2014/main" id="{F137F035-B1E9-4709-9611-9DEB74A4EFDD}"/>
              </a:ext>
            </a:extLst>
          </p:cNvPr>
          <p:cNvSpPr>
            <a:spLocks xmlns:a="http://schemas.openxmlformats.org/drawingml/2006/main" noGrp="1"/>
          </p:cNvSpPr>
          <p:nvPr/>
        </p:nvSpPr>
        <p:spPr>
          <a:xfrm xmlns:a="http://schemas.openxmlformats.org/drawingml/2006/main">
            <a:off x="9439275" y="5019675"/>
            <a:ext cx="21145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526879"/>
                </a:solidFill>
                <a:latin typeface="Arial"/>
                <a:ea typeface="Arial"/>
                <a:cs typeface="Arial"/>
              </a:defRPr>
            </a:defPPr>
            <a:lvl1pPr>
              <a:defRPr sz="1575" b="0">
                <a:solidFill>
                  <a:srgbClr val="526879"/>
                </a:solidFill>
                <a:latin typeface="Arial"/>
                <a:ea typeface="Arial"/>
                <a:cs typeface="Arial"/>
              </a:defRPr>
            </a:lvl1pPr>
            <a:lvl2pPr>
              <a:defRPr sz="1575" b="0">
                <a:solidFill>
                  <a:srgbClr val="526879"/>
                </a:solidFill>
                <a:latin typeface="Arial"/>
                <a:ea typeface="Arial"/>
                <a:cs typeface="Arial"/>
              </a:defRPr>
            </a:lvl2pPr>
            <a:lvl3pPr>
              <a:defRPr sz="1575" b="0">
                <a:solidFill>
                  <a:srgbClr val="526879"/>
                </a:solidFill>
                <a:latin typeface="Arial"/>
                <a:ea typeface="Arial"/>
                <a:cs typeface="Arial"/>
              </a:defRPr>
            </a:lvl3pPr>
            <a:lvl4pPr>
              <a:defRPr sz="1575" b="0">
                <a:solidFill>
                  <a:srgbClr val="526879"/>
                </a:solidFill>
                <a:latin typeface="Arial"/>
                <a:ea typeface="Arial"/>
                <a:cs typeface="Arial"/>
              </a:defRPr>
            </a:lvl4pPr>
            <a:lvl5pPr>
              <a:defRPr sz="1575" b="0">
                <a:solidFill>
                  <a:srgbClr val="526879"/>
                </a:solidFill>
                <a:latin typeface="Arial"/>
                <a:ea typeface="Arial"/>
                <a:cs typeface="Arial"/>
              </a:defRPr>
            </a:lvl5pPr>
            <a:lvl6pPr>
              <a:defRPr sz="1575" b="0">
                <a:solidFill>
                  <a:srgbClr val="526879"/>
                </a:solidFill>
                <a:latin typeface="Arial"/>
                <a:ea typeface="Arial"/>
                <a:cs typeface="Arial"/>
              </a:defRPr>
            </a:lvl6pPr>
            <a:lvl7pPr>
              <a:defRPr sz="1575" b="0">
                <a:solidFill>
                  <a:srgbClr val="526879"/>
                </a:solidFill>
                <a:latin typeface="Arial"/>
                <a:ea typeface="Arial"/>
                <a:cs typeface="Arial"/>
              </a:defRPr>
            </a:lvl7pPr>
            <a:lvl8pPr>
              <a:defRPr sz="1575" b="0">
                <a:solidFill>
                  <a:srgbClr val="526879"/>
                </a:solidFill>
                <a:latin typeface="Arial"/>
                <a:ea typeface="Arial"/>
                <a:cs typeface="Arial"/>
              </a:defRPr>
            </a:lvl8pPr>
            <a:lvl9pPr>
              <a:defRPr sz="1575" b="0">
                <a:solidFill>
                  <a:srgbClr val="526879"/>
                </a:solidFill>
                <a:latin typeface="Arial"/>
                <a:ea typeface="Arial"/>
                <a:cs typeface="Arial"/>
              </a:defRPr>
            </a:lvl9pPr>
          </a:lstStyle>
          <a:p xmlns:a="http://schemas.openxmlformats.org/drawingml/2006/main">
            <a:pPr>
              <a:defRPr sz="1575" b="0">
                <a:solidFill>
                  <a:srgbClr val="526879"/>
                </a:solidFill>
                <a:latin typeface="Arial"/>
                <a:ea typeface="Arial"/>
                <a:cs typeface="Arial"/>
              </a:defRPr>
            </a:pPr>
            <a:r>
              <a:rPr sz="1575" b="0">
                <a:solidFill>
                  <a:srgbClr val="526879"/>
                </a:solidFill>
                <a:latin typeface="Arial"/>
                <a:ea typeface="Arial"/>
                <a:cs typeface="Arial"/>
              </a:rPr>
              <a:t>Frozen test policies</a:t>
            </a:r>
          </a:p>
        </p:txBody>
      </p:sp>
      <p:sp>
        <p:nvSpPr>
          <p:cNvPr id="30" name="">
            <a:extLst xmlns:a="http://schemas.openxmlformats.org/drawingml/2006/main">
              <a:ext uri="{FF2B5EF4-FFF2-40B4-BE49-F238E27FC236}">
                <a16:creationId xmlns:a16="http://schemas.microsoft.com/office/drawing/2014/main" id="{18A00744-977E-4562-BC50-5C3D089F46D8}"/>
              </a:ext>
            </a:extLst>
          </p:cNvPr>
          <p:cNvSpPr>
            <a:spLocks xmlns:a="http://schemas.openxmlformats.org/drawingml/2006/main" noGrp="1"/>
          </p:cNvSpPr>
          <p:nvPr/>
        </p:nvSpPr>
        <p:spPr>
          <a:xfrm xmlns:a="http://schemas.openxmlformats.org/drawingml/2006/main">
            <a:off x="495300" y="5667375"/>
            <a:ext cx="11201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122C43"/>
                </a:solidFill>
                <a:latin typeface="Arial"/>
                <a:ea typeface="Arial"/>
                <a:cs typeface="Arial"/>
              </a:defRPr>
            </a:defPPr>
            <a:lvl1pPr>
              <a:defRPr sz="2100" b="1">
                <a:solidFill>
                  <a:srgbClr val="122C43"/>
                </a:solidFill>
                <a:latin typeface="Arial"/>
                <a:ea typeface="Arial"/>
                <a:cs typeface="Arial"/>
              </a:defRPr>
            </a:lvl1pPr>
            <a:lvl2pPr>
              <a:defRPr sz="2100" b="1">
                <a:solidFill>
                  <a:srgbClr val="122C43"/>
                </a:solidFill>
                <a:latin typeface="Arial"/>
                <a:ea typeface="Arial"/>
                <a:cs typeface="Arial"/>
              </a:defRPr>
            </a:lvl2pPr>
            <a:lvl3pPr>
              <a:defRPr sz="2100" b="1">
                <a:solidFill>
                  <a:srgbClr val="122C43"/>
                </a:solidFill>
                <a:latin typeface="Arial"/>
                <a:ea typeface="Arial"/>
                <a:cs typeface="Arial"/>
              </a:defRPr>
            </a:lvl3pPr>
            <a:lvl4pPr>
              <a:defRPr sz="2100" b="1">
                <a:solidFill>
                  <a:srgbClr val="122C43"/>
                </a:solidFill>
                <a:latin typeface="Arial"/>
                <a:ea typeface="Arial"/>
                <a:cs typeface="Arial"/>
              </a:defRPr>
            </a:lvl4pPr>
            <a:lvl5pPr>
              <a:defRPr sz="2100" b="1">
                <a:solidFill>
                  <a:srgbClr val="122C43"/>
                </a:solidFill>
                <a:latin typeface="Arial"/>
                <a:ea typeface="Arial"/>
                <a:cs typeface="Arial"/>
              </a:defRPr>
            </a:lvl5pPr>
            <a:lvl6pPr>
              <a:defRPr sz="2100" b="1">
                <a:solidFill>
                  <a:srgbClr val="122C43"/>
                </a:solidFill>
                <a:latin typeface="Arial"/>
                <a:ea typeface="Arial"/>
                <a:cs typeface="Arial"/>
              </a:defRPr>
            </a:lvl6pPr>
            <a:lvl7pPr>
              <a:defRPr sz="2100" b="1">
                <a:solidFill>
                  <a:srgbClr val="122C43"/>
                </a:solidFill>
                <a:latin typeface="Arial"/>
                <a:ea typeface="Arial"/>
                <a:cs typeface="Arial"/>
              </a:defRPr>
            </a:lvl7pPr>
            <a:lvl8pPr>
              <a:defRPr sz="2100" b="1">
                <a:solidFill>
                  <a:srgbClr val="122C43"/>
                </a:solidFill>
                <a:latin typeface="Arial"/>
                <a:ea typeface="Arial"/>
                <a:cs typeface="Arial"/>
              </a:defRPr>
            </a:lvl8pPr>
            <a:lvl9pPr>
              <a:defRPr sz="2100" b="1">
                <a:solidFill>
                  <a:srgbClr val="122C43"/>
                </a:solidFill>
                <a:latin typeface="Arial"/>
                <a:ea typeface="Arial"/>
                <a:cs typeface="Arial"/>
              </a:defRPr>
            </a:lvl9pPr>
          </a:lstStyle>
          <a:p xmlns:a="http://schemas.openxmlformats.org/drawingml/2006/main">
            <a:pPr>
              <a:defRPr sz="2100" b="1">
                <a:solidFill>
                  <a:srgbClr val="122C43"/>
                </a:solidFill>
                <a:latin typeface="Arial"/>
                <a:ea typeface="Arial"/>
                <a:cs typeface="Arial"/>
              </a:defRPr>
            </a:pPr>
            <a:r>
              <a:rPr sz="2100" b="1">
                <a:solidFill>
                  <a:srgbClr val="122C43"/>
                </a:solidFill>
                <a:latin typeface="Arial"/>
                <a:ea typeface="Arial"/>
                <a:cs typeface="Arial"/>
              </a:rPr>
              <a:t>60% train: 3,000     20% validation: 1,000     20% test: 1,000</a:t>
            </a:r>
          </a:p>
        </p:txBody>
      </p:sp>
      <p:sp>
        <p:nvSpPr>
          <p:cNvPr id="31" name="">
            <a:extLst xmlns:a="http://schemas.openxmlformats.org/drawingml/2006/main">
              <a:ext uri="{FF2B5EF4-FFF2-40B4-BE49-F238E27FC236}">
                <a16:creationId xmlns:a16="http://schemas.microsoft.com/office/drawing/2014/main" id="{9DA11AE0-7182-4215-8256-F806B6BFF463}"/>
              </a:ext>
            </a:extLst>
          </p:cNvPr>
          <p:cNvSpPr>
            <a:spLocks xmlns:a="http://schemas.openxmlformats.org/drawingml/2006/main" noGrp="1"/>
          </p:cNvSpPr>
          <p:nvPr/>
        </p:nvSpPr>
        <p:spPr>
          <a:xfrm xmlns:a="http://schemas.openxmlformats.org/drawingml/2006/main">
            <a:off x="495300" y="6096000"/>
            <a:ext cx="11201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526879"/>
                </a:solidFill>
                <a:latin typeface="Arial"/>
                <a:ea typeface="Arial"/>
                <a:cs typeface="Arial"/>
              </a:defRPr>
            </a:defPPr>
            <a:lvl1pPr>
              <a:defRPr sz="1575" b="0">
                <a:solidFill>
                  <a:srgbClr val="526879"/>
                </a:solidFill>
                <a:latin typeface="Arial"/>
                <a:ea typeface="Arial"/>
                <a:cs typeface="Arial"/>
              </a:defRPr>
            </a:lvl1pPr>
            <a:lvl2pPr>
              <a:defRPr sz="1575" b="0">
                <a:solidFill>
                  <a:srgbClr val="526879"/>
                </a:solidFill>
                <a:latin typeface="Arial"/>
                <a:ea typeface="Arial"/>
                <a:cs typeface="Arial"/>
              </a:defRPr>
            </a:lvl2pPr>
            <a:lvl3pPr>
              <a:defRPr sz="1575" b="0">
                <a:solidFill>
                  <a:srgbClr val="526879"/>
                </a:solidFill>
                <a:latin typeface="Arial"/>
                <a:ea typeface="Arial"/>
                <a:cs typeface="Arial"/>
              </a:defRPr>
            </a:lvl3pPr>
            <a:lvl4pPr>
              <a:defRPr sz="1575" b="0">
                <a:solidFill>
                  <a:srgbClr val="526879"/>
                </a:solidFill>
                <a:latin typeface="Arial"/>
                <a:ea typeface="Arial"/>
                <a:cs typeface="Arial"/>
              </a:defRPr>
            </a:lvl4pPr>
            <a:lvl5pPr>
              <a:defRPr sz="1575" b="0">
                <a:solidFill>
                  <a:srgbClr val="526879"/>
                </a:solidFill>
                <a:latin typeface="Arial"/>
                <a:ea typeface="Arial"/>
                <a:cs typeface="Arial"/>
              </a:defRPr>
            </a:lvl5pPr>
            <a:lvl6pPr>
              <a:defRPr sz="1575" b="0">
                <a:solidFill>
                  <a:srgbClr val="526879"/>
                </a:solidFill>
                <a:latin typeface="Arial"/>
                <a:ea typeface="Arial"/>
                <a:cs typeface="Arial"/>
              </a:defRPr>
            </a:lvl6pPr>
            <a:lvl7pPr>
              <a:defRPr sz="1575" b="0">
                <a:solidFill>
                  <a:srgbClr val="526879"/>
                </a:solidFill>
                <a:latin typeface="Arial"/>
                <a:ea typeface="Arial"/>
                <a:cs typeface="Arial"/>
              </a:defRPr>
            </a:lvl7pPr>
            <a:lvl8pPr>
              <a:defRPr sz="1575" b="0">
                <a:solidFill>
                  <a:srgbClr val="526879"/>
                </a:solidFill>
                <a:latin typeface="Arial"/>
                <a:ea typeface="Arial"/>
                <a:cs typeface="Arial"/>
              </a:defRPr>
            </a:lvl8pPr>
            <a:lvl9pPr>
              <a:defRPr sz="1575" b="0">
                <a:solidFill>
                  <a:srgbClr val="526879"/>
                </a:solidFill>
                <a:latin typeface="Arial"/>
                <a:ea typeface="Arial"/>
                <a:cs typeface="Arial"/>
              </a:defRPr>
            </a:lvl9pPr>
          </a:lstStyle>
          <a:p xmlns:a="http://schemas.openxmlformats.org/drawingml/2006/main">
            <a:pPr>
              <a:defRPr sz="1575" b="0">
                <a:solidFill>
                  <a:srgbClr val="526879"/>
                </a:solidFill>
                <a:latin typeface="Arial"/>
                <a:ea typeface="Arial"/>
                <a:cs typeface="Arial"/>
              </a:defRPr>
            </a:pPr>
            <a:r>
              <a:rPr sz="1575" b="0">
                <a:solidFill>
                  <a:srgbClr val="526879"/>
                </a:solidFill>
                <a:latin typeface="Arial"/>
                <a:ea typeface="Arial"/>
                <a:cs typeface="Arial"/>
              </a:rPr>
              <a:t>Stratified split, seed 42. LR / NN scaled. Tree inputs unscaled. Training-only fitting.</a:t>
            </a:r>
          </a:p>
        </p:txBody>
      </p:sp>
      <p:sp>
        <p:nvSpPr>
          <p:cNvPr id="32" name="">
            <a:extLst xmlns:a="http://schemas.openxmlformats.org/drawingml/2006/main">
              <a:ext uri="{FF2B5EF4-FFF2-40B4-BE49-F238E27FC236}">
                <a16:creationId xmlns:a16="http://schemas.microsoft.com/office/drawing/2014/main" id="{065ED636-7148-4555-BEC3-AD9468DC30C7}"/>
              </a:ext>
            </a:extLst>
          </p:cNvPr>
          <p:cNvSpPr>
            <a:spLocks xmlns:a="http://schemas.openxmlformats.org/drawingml/2006/main" noGrp="1"/>
          </p:cNvSpPr>
          <p:nvPr/>
        </p:nvSpPr>
        <p:spPr>
          <a:xfrm xmlns:a="http://schemas.openxmlformats.org/drawingml/2006/main">
            <a:off x="9144000" y="1704975"/>
            <a:ext cx="2552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122C43"/>
                </a:solidFill>
                <a:latin typeface="Arial"/>
                <a:ea typeface="Arial"/>
                <a:cs typeface="Arial"/>
              </a:defRPr>
            </a:defPPr>
            <a:lvl1pPr>
              <a:defRPr sz="1950" b="1">
                <a:solidFill>
                  <a:srgbClr val="122C43"/>
                </a:solidFill>
                <a:latin typeface="Arial"/>
                <a:ea typeface="Arial"/>
                <a:cs typeface="Arial"/>
              </a:defRPr>
            </a:lvl1pPr>
            <a:lvl2pPr>
              <a:defRPr sz="1950" b="1">
                <a:solidFill>
                  <a:srgbClr val="122C43"/>
                </a:solidFill>
                <a:latin typeface="Arial"/>
                <a:ea typeface="Arial"/>
                <a:cs typeface="Arial"/>
              </a:defRPr>
            </a:lvl2pPr>
            <a:lvl3pPr>
              <a:defRPr sz="1950" b="1">
                <a:solidFill>
                  <a:srgbClr val="122C43"/>
                </a:solidFill>
                <a:latin typeface="Arial"/>
                <a:ea typeface="Arial"/>
                <a:cs typeface="Arial"/>
              </a:defRPr>
            </a:lvl3pPr>
            <a:lvl4pPr>
              <a:defRPr sz="1950" b="1">
                <a:solidFill>
                  <a:srgbClr val="122C43"/>
                </a:solidFill>
                <a:latin typeface="Arial"/>
                <a:ea typeface="Arial"/>
                <a:cs typeface="Arial"/>
              </a:defRPr>
            </a:lvl4pPr>
            <a:lvl5pPr>
              <a:defRPr sz="1950" b="1">
                <a:solidFill>
                  <a:srgbClr val="122C43"/>
                </a:solidFill>
                <a:latin typeface="Arial"/>
                <a:ea typeface="Arial"/>
                <a:cs typeface="Arial"/>
              </a:defRPr>
            </a:lvl5pPr>
            <a:lvl6pPr>
              <a:defRPr sz="1950" b="1">
                <a:solidFill>
                  <a:srgbClr val="122C43"/>
                </a:solidFill>
                <a:latin typeface="Arial"/>
                <a:ea typeface="Arial"/>
                <a:cs typeface="Arial"/>
              </a:defRPr>
            </a:lvl6pPr>
            <a:lvl7pPr>
              <a:defRPr sz="1950" b="1">
                <a:solidFill>
                  <a:srgbClr val="122C43"/>
                </a:solidFill>
                <a:latin typeface="Arial"/>
                <a:ea typeface="Arial"/>
                <a:cs typeface="Arial"/>
              </a:defRPr>
            </a:lvl7pPr>
            <a:lvl8pPr>
              <a:defRPr sz="1950" b="1">
                <a:solidFill>
                  <a:srgbClr val="122C43"/>
                </a:solidFill>
                <a:latin typeface="Arial"/>
                <a:ea typeface="Arial"/>
                <a:cs typeface="Arial"/>
              </a:defRPr>
            </a:lvl8pPr>
            <a:lvl9pPr>
              <a:defRPr sz="1950" b="1">
                <a:solidFill>
                  <a:srgbClr val="122C43"/>
                </a:solidFill>
                <a:latin typeface="Arial"/>
                <a:ea typeface="Arial"/>
                <a:cs typeface="Arial"/>
              </a:defRPr>
            </a:lvl9pPr>
          </a:lstStyle>
          <a:p xmlns:a="http://schemas.openxmlformats.org/drawingml/2006/main">
            <a:pPr>
              <a:defRPr sz="1950" b="1">
                <a:solidFill>
                  <a:srgbClr val="122C43"/>
                </a:solidFill>
                <a:latin typeface="Arial"/>
                <a:ea typeface="Arial"/>
                <a:cs typeface="Arial"/>
              </a:defRPr>
            </a:pPr>
            <a:r>
              <a:rPr sz="1950" b="1">
                <a:solidFill>
                  <a:srgbClr val="122C43"/>
                </a:solidFill>
                <a:latin typeface="Arial"/>
                <a:ea typeface="Arial"/>
                <a:cs typeface="Arial"/>
              </a:rPr>
              <a:t>Leavers by split</a:t>
            </a:r>
          </a:p>
        </p:txBody>
      </p:sp>
      <p:graphicFrame>
        <p:nvGraphicFramePr>
          <p:cNvPr id="33" name="">
            <a:extLst xmlns:a="http://schemas.openxmlformats.org/drawingml/2006/main">
              <a:ext uri="{FF2B5EF4-FFF2-40B4-BE49-F238E27FC236}">
                <a16:creationId xmlns:a16="http://schemas.microsoft.com/office/drawing/2014/main" id="{EA372F7C-6318-4848-8FB1-34E5FE6459ED}"/>
              </a:ext>
            </a:extLst>
          </p:cNvPr>
          <p:cNvGraphicFramePr/>
          <p:nvPr/>
        </p:nvGraphicFramePr>
        <p:xfrm>
          <a:off xmlns:a="http://schemas.openxmlformats.org/drawingml/2006/main" x="9144000" y="2133600"/>
          <a:ext xmlns:a="http://schemas.openxmlformats.org/drawingml/2006/main" cx="2552700" cy="1876425"/>
        </p:xfrm>
        <a:graphic xmlns:a="http://schemas.openxmlformats.org/drawingml/2006/main">
          <a:graphicData uri="http://schemas.openxmlformats.org/drawingml/2006/table">
            <a:tbl>
              <a:tblPr/>
              <a:tblGrid>
                <a:gridCol w="1200150"/>
                <a:gridCol w="1352550"/>
              </a:tblGrid>
              <a:tr h="469106">
                <a:tc>
                  <a:txBody>
                    <a:bodyPr lIns="66675" tIns="66675" rIns="66675" bIns="66675"/>
                    <a:lstStyle/>
                    <a:p>
                      <a:r>
                        <a:rPr sz="1500" b="1">
                          <a:solidFill>
                            <a:srgbClr val="FFFFFF"/>
                          </a:solidFill>
                          <a:latin typeface="Arial"/>
                          <a:ea typeface="Arial"/>
                          <a:cs typeface="Arial"/>
                        </a:rPr>
                        <a:t>Split</a:t>
                      </a:r>
                    </a:p>
                  </a:txBody>
                  <a:tcPr marL="91440" marR="91440" marT="45720" marB="45720" anchor="ctr">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122C43"/>
                    </a:solidFill>
                  </a:tcPr>
                </a:tc>
                <a:tc>
                  <a:txBody>
                    <a:bodyPr lIns="66675" tIns="66675" rIns="66675" bIns="66675"/>
                    <a:lstStyle/>
                    <a:p>
                      <a:r>
                        <a:rPr sz="1500" b="1">
                          <a:solidFill>
                            <a:srgbClr val="FFFFFF"/>
                          </a:solidFill>
                          <a:latin typeface="Arial"/>
                          <a:ea typeface="Arial"/>
                          <a:cs typeface="Arial"/>
                        </a:rPr>
                        <a:t>Leavers / rows</a:t>
                      </a:r>
                    </a:p>
                  </a:txBody>
                  <a:tcPr marL="91440" marR="91440" marT="45720" marB="45720" anchor="ctr">
                    <a:lnR w="9525">
                      <a:solidFill>
                        <a:srgbClr val="FFFFFF"/>
                      </a:solidFill>
                      <a:prstDash val="solid"/>
                    </a:lnR>
                    <a:lnT w="9525">
                      <a:solidFill>
                        <a:srgbClr val="FFFFFF"/>
                      </a:solidFill>
                      <a:prstDash val="solid"/>
                    </a:lnT>
                    <a:lnB w="9525">
                      <a:solidFill>
                        <a:srgbClr val="FFFFFF"/>
                      </a:solidFill>
                      <a:prstDash val="solid"/>
                    </a:lnB>
                    <a:solidFill>
                      <a:srgbClr val="122C43"/>
                    </a:solidFill>
                  </a:tcPr>
                </a:tc>
              </a:tr>
              <a:tr h="469106">
                <a:tc>
                  <a:txBody>
                    <a:bodyPr lIns="66675" tIns="66675" rIns="66675" bIns="66675"/>
                    <a:lstStyle/>
                    <a:p>
                      <a:r>
                        <a:rPr sz="1500" b="0">
                          <a:solidFill>
                            <a:srgbClr val="17334A"/>
                          </a:solidFill>
                          <a:latin typeface="Arial"/>
                          <a:ea typeface="Arial"/>
                          <a:cs typeface="Arial"/>
                        </a:rPr>
                        <a:t>Train</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EAF3F4"/>
                    </a:solidFill>
                  </a:tcPr>
                </a:tc>
                <a:tc>
                  <a:txBody>
                    <a:bodyPr lIns="66675" tIns="66675" rIns="66675" bIns="66675"/>
                    <a:lstStyle/>
                    <a:p>
                      <a:r>
                        <a:rPr sz="1500" b="0">
                          <a:solidFill>
                            <a:srgbClr val="17334A"/>
                          </a:solidFill>
                          <a:latin typeface="Arial"/>
                          <a:ea typeface="Arial"/>
                          <a:cs typeface="Arial"/>
                        </a:rPr>
                        <a:t>490 / 3,000</a:t>
                      </a:r>
                    </a:p>
                  </a:txBody>
                  <a:tcPr marL="91440" marR="91440" marT="45720" marB="45720" anchor="ctr">
                    <a:lnR w="9525">
                      <a:solidFill>
                        <a:srgbClr val="FFFFFF"/>
                      </a:solidFill>
                      <a:prstDash val="solid"/>
                    </a:lnR>
                    <a:lnB w="9525">
                      <a:solidFill>
                        <a:srgbClr val="FFFFFF"/>
                      </a:solidFill>
                      <a:prstDash val="solid"/>
                    </a:lnB>
                    <a:solidFill>
                      <a:srgbClr val="EAF3F4"/>
                    </a:solidFill>
                  </a:tcPr>
                </a:tc>
              </a:tr>
              <a:tr h="469106">
                <a:tc>
                  <a:txBody>
                    <a:bodyPr lIns="66675" tIns="66675" rIns="66675" bIns="66675"/>
                    <a:lstStyle/>
                    <a:p>
                      <a:r>
                        <a:rPr sz="1500" b="0">
                          <a:solidFill>
                            <a:srgbClr val="17334A"/>
                          </a:solidFill>
                          <a:latin typeface="Arial"/>
                          <a:ea typeface="Arial"/>
                          <a:cs typeface="Arial"/>
                        </a:rPr>
                        <a:t>Validation</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FFFFFF"/>
                    </a:solidFill>
                  </a:tcPr>
                </a:tc>
                <a:tc>
                  <a:txBody>
                    <a:bodyPr lIns="66675" tIns="66675" rIns="66675" bIns="66675"/>
                    <a:lstStyle/>
                    <a:p>
                      <a:r>
                        <a:rPr sz="1500" b="0">
                          <a:solidFill>
                            <a:srgbClr val="17334A"/>
                          </a:solidFill>
                          <a:latin typeface="Arial"/>
                          <a:ea typeface="Arial"/>
                          <a:cs typeface="Arial"/>
                        </a:rPr>
                        <a:t>164 / 1,000</a:t>
                      </a:r>
                    </a:p>
                  </a:txBody>
                  <a:tcPr marL="91440" marR="91440" marT="45720" marB="45720" anchor="ctr">
                    <a:lnR w="9525">
                      <a:solidFill>
                        <a:srgbClr val="FFFFFF"/>
                      </a:solidFill>
                      <a:prstDash val="solid"/>
                    </a:lnR>
                    <a:lnB w="9525">
                      <a:solidFill>
                        <a:srgbClr val="FFFFFF"/>
                      </a:solidFill>
                      <a:prstDash val="solid"/>
                    </a:lnB>
                    <a:solidFill>
                      <a:srgbClr val="FFFFFF"/>
                    </a:solidFill>
                  </a:tcPr>
                </a:tc>
              </a:tr>
              <a:tr h="469106">
                <a:tc>
                  <a:txBody>
                    <a:bodyPr lIns="66675" tIns="66675" rIns="66675" bIns="66675"/>
                    <a:lstStyle/>
                    <a:p>
                      <a:r>
                        <a:rPr sz="1500" b="0">
                          <a:solidFill>
                            <a:srgbClr val="17334A"/>
                          </a:solidFill>
                          <a:latin typeface="Arial"/>
                          <a:ea typeface="Arial"/>
                          <a:cs typeface="Arial"/>
                        </a:rPr>
                        <a:t>Test</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EAF3F4"/>
                    </a:solidFill>
                  </a:tcPr>
                </a:tc>
                <a:tc>
                  <a:txBody>
                    <a:bodyPr lIns="66675" tIns="66675" rIns="66675" bIns="66675"/>
                    <a:lstStyle/>
                    <a:p>
                      <a:r>
                        <a:rPr sz="1500" b="0">
                          <a:solidFill>
                            <a:srgbClr val="17334A"/>
                          </a:solidFill>
                          <a:latin typeface="Arial"/>
                          <a:ea typeface="Arial"/>
                          <a:cs typeface="Arial"/>
                        </a:rPr>
                        <a:t>163 / 1,000</a:t>
                      </a:r>
                    </a:p>
                  </a:txBody>
                  <a:tcPr marL="91440" marR="91440" marT="45720" marB="45720" anchor="ctr">
                    <a:lnR w="9525">
                      <a:solidFill>
                        <a:srgbClr val="FFFFFF"/>
                      </a:solidFill>
                      <a:prstDash val="solid"/>
                    </a:lnR>
                    <a:lnB w="9525">
                      <a:solidFill>
                        <a:srgbClr val="FFFFFF"/>
                      </a:solidFill>
                      <a:prstDash val="solid"/>
                    </a:lnB>
                    <a:solidFill>
                      <a:srgbClr val="EAF3F4"/>
                    </a:solidFill>
                  </a:tcPr>
                </a:tc>
              </a:tr>
            </a:tbl>
          </a:graphicData>
        </a:graphic>
      </p:graphicFrame>
    </p:spTree>
    <p:extLst>
      <p:ext uri="{BB962C8B-B14F-4D97-AF65-F5344CB8AC3E}">
        <p14:creationId xmlns:p14="http://schemas.microsoft.com/office/powerpoint/2010/main" val="112354522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70DC6D23-991D-4CF7-974E-B64FDA314A97}"/>
              </a:ext>
            </a:extLst>
          </p:cNvPr>
          <p:cNvSpPr>
            <a:spLocks xmlns:a="http://schemas.openxmlformats.org/drawingml/2006/main" noGrp="1"/>
          </p:cNvSpPr>
          <p:nvPr/>
        </p:nvSpPr>
        <p:spPr>
          <a:xfrm xmlns:a="http://schemas.openxmlformats.org/drawingml/2006/main">
            <a:off x="495300" y="2476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087E8B"/>
                </a:solidFill>
                <a:latin typeface="Arial"/>
                <a:ea typeface="Arial"/>
                <a:cs typeface="Arial"/>
              </a:defRPr>
            </a:defPPr>
            <a:lvl1pPr>
              <a:defRPr sz="1275" b="1">
                <a:solidFill>
                  <a:srgbClr val="087E8B"/>
                </a:solidFill>
                <a:latin typeface="Arial"/>
                <a:ea typeface="Arial"/>
                <a:cs typeface="Arial"/>
              </a:defRPr>
            </a:lvl1pPr>
            <a:lvl2pPr>
              <a:defRPr sz="1275" b="1">
                <a:solidFill>
                  <a:srgbClr val="087E8B"/>
                </a:solidFill>
                <a:latin typeface="Arial"/>
                <a:ea typeface="Arial"/>
                <a:cs typeface="Arial"/>
              </a:defRPr>
            </a:lvl2pPr>
            <a:lvl3pPr>
              <a:defRPr sz="1275" b="1">
                <a:solidFill>
                  <a:srgbClr val="087E8B"/>
                </a:solidFill>
                <a:latin typeface="Arial"/>
                <a:ea typeface="Arial"/>
                <a:cs typeface="Arial"/>
              </a:defRPr>
            </a:lvl3pPr>
            <a:lvl4pPr>
              <a:defRPr sz="1275" b="1">
                <a:solidFill>
                  <a:srgbClr val="087E8B"/>
                </a:solidFill>
                <a:latin typeface="Arial"/>
                <a:ea typeface="Arial"/>
                <a:cs typeface="Arial"/>
              </a:defRPr>
            </a:lvl4pPr>
            <a:lvl5pPr>
              <a:defRPr sz="1275" b="1">
                <a:solidFill>
                  <a:srgbClr val="087E8B"/>
                </a:solidFill>
                <a:latin typeface="Arial"/>
                <a:ea typeface="Arial"/>
                <a:cs typeface="Arial"/>
              </a:defRPr>
            </a:lvl5pPr>
            <a:lvl6pPr>
              <a:defRPr sz="1275" b="1">
                <a:solidFill>
                  <a:srgbClr val="087E8B"/>
                </a:solidFill>
                <a:latin typeface="Arial"/>
                <a:ea typeface="Arial"/>
                <a:cs typeface="Arial"/>
              </a:defRPr>
            </a:lvl6pPr>
            <a:lvl7pPr>
              <a:defRPr sz="1275" b="1">
                <a:solidFill>
                  <a:srgbClr val="087E8B"/>
                </a:solidFill>
                <a:latin typeface="Arial"/>
                <a:ea typeface="Arial"/>
                <a:cs typeface="Arial"/>
              </a:defRPr>
            </a:lvl7pPr>
            <a:lvl8pPr>
              <a:defRPr sz="1275" b="1">
                <a:solidFill>
                  <a:srgbClr val="087E8B"/>
                </a:solidFill>
                <a:latin typeface="Arial"/>
                <a:ea typeface="Arial"/>
                <a:cs typeface="Arial"/>
              </a:defRPr>
            </a:lvl8pPr>
            <a:lvl9pPr>
              <a:defRPr sz="1275" b="1">
                <a:solidFill>
                  <a:srgbClr val="087E8B"/>
                </a:solidFill>
                <a:latin typeface="Arial"/>
                <a:ea typeface="Arial"/>
                <a:cs typeface="Arial"/>
              </a:defRPr>
            </a:lvl9pPr>
          </a:lstStyle>
          <a:p xmlns:a="http://schemas.openxmlformats.org/drawingml/2006/main">
            <a:pPr>
              <a:defRPr sz="1275" b="1">
                <a:solidFill>
                  <a:srgbClr val="087E8B"/>
                </a:solidFill>
                <a:latin typeface="Arial"/>
                <a:ea typeface="Arial"/>
                <a:cs typeface="Arial"/>
              </a:defRPr>
            </a:pPr>
            <a:r>
              <a:rPr sz="1275" b="1">
                <a:solidFill>
                  <a:srgbClr val="087E8B"/>
                </a:solidFill>
                <a:latin typeface="Arial"/>
                <a:ea typeface="Arial"/>
                <a:cs typeface="Arial"/>
              </a:rPr>
              <a:t>EMPLOYEE ATTRITION</a:t>
            </a:r>
          </a:p>
        </p:txBody>
      </p:sp>
      <p:sp>
        <p:nvSpPr>
          <p:cNvPr id="3" name="">
            <a:extLst xmlns:a="http://schemas.openxmlformats.org/drawingml/2006/main">
              <a:ext uri="{FF2B5EF4-FFF2-40B4-BE49-F238E27FC236}">
                <a16:creationId xmlns:a16="http://schemas.microsoft.com/office/drawing/2014/main" id="{B92F54BB-BF8E-4E0F-A9AC-1B21E08B06AE}"/>
              </a:ext>
            </a:extLst>
          </p:cNvPr>
          <p:cNvSpPr>
            <a:spLocks xmlns:a="http://schemas.openxmlformats.org/drawingml/2006/main" noGrp="1"/>
          </p:cNvSpPr>
          <p:nvPr/>
        </p:nvSpPr>
        <p:spPr>
          <a:xfrm xmlns:a="http://schemas.openxmlformats.org/drawingml/2006/main">
            <a:off x="495300" y="619125"/>
            <a:ext cx="11201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22C43"/>
                </a:solidFill>
                <a:latin typeface="Arial"/>
                <a:ea typeface="Arial"/>
                <a:cs typeface="Arial"/>
              </a:defRPr>
            </a:defPPr>
            <a:lvl1pPr>
              <a:defRPr sz="3300" b="1">
                <a:solidFill>
                  <a:srgbClr val="122C43"/>
                </a:solidFill>
                <a:latin typeface="Arial"/>
                <a:ea typeface="Arial"/>
                <a:cs typeface="Arial"/>
              </a:defRPr>
            </a:lvl1pPr>
            <a:lvl2pPr>
              <a:defRPr sz="3300" b="1">
                <a:solidFill>
                  <a:srgbClr val="122C43"/>
                </a:solidFill>
                <a:latin typeface="Arial"/>
                <a:ea typeface="Arial"/>
                <a:cs typeface="Arial"/>
              </a:defRPr>
            </a:lvl2pPr>
            <a:lvl3pPr>
              <a:defRPr sz="3300" b="1">
                <a:solidFill>
                  <a:srgbClr val="122C43"/>
                </a:solidFill>
                <a:latin typeface="Arial"/>
                <a:ea typeface="Arial"/>
                <a:cs typeface="Arial"/>
              </a:defRPr>
            </a:lvl3pPr>
            <a:lvl4pPr>
              <a:defRPr sz="3300" b="1">
                <a:solidFill>
                  <a:srgbClr val="122C43"/>
                </a:solidFill>
                <a:latin typeface="Arial"/>
                <a:ea typeface="Arial"/>
                <a:cs typeface="Arial"/>
              </a:defRPr>
            </a:lvl4pPr>
            <a:lvl5pPr>
              <a:defRPr sz="3300" b="1">
                <a:solidFill>
                  <a:srgbClr val="122C43"/>
                </a:solidFill>
                <a:latin typeface="Arial"/>
                <a:ea typeface="Arial"/>
                <a:cs typeface="Arial"/>
              </a:defRPr>
            </a:lvl5pPr>
            <a:lvl6pPr>
              <a:defRPr sz="3300" b="1">
                <a:solidFill>
                  <a:srgbClr val="122C43"/>
                </a:solidFill>
                <a:latin typeface="Arial"/>
                <a:ea typeface="Arial"/>
                <a:cs typeface="Arial"/>
              </a:defRPr>
            </a:lvl6pPr>
            <a:lvl7pPr>
              <a:defRPr sz="3300" b="1">
                <a:solidFill>
                  <a:srgbClr val="122C43"/>
                </a:solidFill>
                <a:latin typeface="Arial"/>
                <a:ea typeface="Arial"/>
                <a:cs typeface="Arial"/>
              </a:defRPr>
            </a:lvl7pPr>
            <a:lvl8pPr>
              <a:defRPr sz="3300" b="1">
                <a:solidFill>
                  <a:srgbClr val="122C43"/>
                </a:solidFill>
                <a:latin typeface="Arial"/>
                <a:ea typeface="Arial"/>
                <a:cs typeface="Arial"/>
              </a:defRPr>
            </a:lvl8pPr>
            <a:lvl9pPr>
              <a:defRPr sz="3300" b="1">
                <a:solidFill>
                  <a:srgbClr val="122C43"/>
                </a:solidFill>
                <a:latin typeface="Arial"/>
                <a:ea typeface="Arial"/>
                <a:cs typeface="Arial"/>
              </a:defRPr>
            </a:lvl9pPr>
          </a:lstStyle>
          <a:p xmlns:a="http://schemas.openxmlformats.org/drawingml/2006/main">
            <a:pPr>
              <a:defRPr sz="3300" b="1">
                <a:solidFill>
                  <a:srgbClr val="122C43"/>
                </a:solidFill>
                <a:latin typeface="Arial"/>
                <a:ea typeface="Arial"/>
                <a:cs typeface="Arial"/>
              </a:defRPr>
            </a:pPr>
            <a:r>
              <a:rPr sz="3300" b="1">
                <a:solidFill>
                  <a:srgbClr val="122C43"/>
                </a:solidFill>
                <a:latin typeface="Arial"/>
                <a:ea typeface="Arial"/>
                <a:cs typeface="Arial"/>
              </a:rPr>
              <a:t>Statistical signals and their limits</a:t>
            </a:r>
          </a:p>
        </p:txBody>
      </p:sp>
      <p:sp>
        <p:nvSpPr>
          <p:cNvPr id="4" name="">
            <a:extLst xmlns:a="http://schemas.openxmlformats.org/drawingml/2006/main">
              <a:ext uri="{FF2B5EF4-FFF2-40B4-BE49-F238E27FC236}">
                <a16:creationId xmlns:a16="http://schemas.microsoft.com/office/drawing/2014/main" id="{B80E27C6-148F-424D-9E58-EC9CDC7EF52B}"/>
              </a:ext>
            </a:extLst>
          </p:cNvPr>
          <p:cNvSpPr>
            <a:spLocks xmlns:a="http://schemas.openxmlformats.org/drawingml/2006/main" noGrp="1"/>
          </p:cNvSpPr>
          <p:nvPr/>
        </p:nvSpPr>
        <p:spPr>
          <a:xfrm xmlns:a="http://schemas.openxmlformats.org/drawingml/2006/main">
            <a:off x="495300" y="1219200"/>
            <a:ext cx="11201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26879"/>
                </a:solidFill>
                <a:latin typeface="Arial"/>
                <a:ea typeface="Arial"/>
                <a:cs typeface="Arial"/>
              </a:defRPr>
            </a:defPPr>
            <a:lvl1pPr>
              <a:defRPr sz="1725" b="0">
                <a:solidFill>
                  <a:srgbClr val="526879"/>
                </a:solidFill>
                <a:latin typeface="Arial"/>
                <a:ea typeface="Arial"/>
                <a:cs typeface="Arial"/>
              </a:defRPr>
            </a:lvl1pPr>
            <a:lvl2pPr>
              <a:defRPr sz="1725" b="0">
                <a:solidFill>
                  <a:srgbClr val="526879"/>
                </a:solidFill>
                <a:latin typeface="Arial"/>
                <a:ea typeface="Arial"/>
                <a:cs typeface="Arial"/>
              </a:defRPr>
            </a:lvl2pPr>
            <a:lvl3pPr>
              <a:defRPr sz="1725" b="0">
                <a:solidFill>
                  <a:srgbClr val="526879"/>
                </a:solidFill>
                <a:latin typeface="Arial"/>
                <a:ea typeface="Arial"/>
                <a:cs typeface="Arial"/>
              </a:defRPr>
            </a:lvl3pPr>
            <a:lvl4pPr>
              <a:defRPr sz="1725" b="0">
                <a:solidFill>
                  <a:srgbClr val="526879"/>
                </a:solidFill>
                <a:latin typeface="Arial"/>
                <a:ea typeface="Arial"/>
                <a:cs typeface="Arial"/>
              </a:defRPr>
            </a:lvl4pPr>
            <a:lvl5pPr>
              <a:defRPr sz="1725" b="0">
                <a:solidFill>
                  <a:srgbClr val="526879"/>
                </a:solidFill>
                <a:latin typeface="Arial"/>
                <a:ea typeface="Arial"/>
                <a:cs typeface="Arial"/>
              </a:defRPr>
            </a:lvl5pPr>
            <a:lvl6pPr>
              <a:defRPr sz="1725" b="0">
                <a:solidFill>
                  <a:srgbClr val="526879"/>
                </a:solidFill>
                <a:latin typeface="Arial"/>
                <a:ea typeface="Arial"/>
                <a:cs typeface="Arial"/>
              </a:defRPr>
            </a:lvl6pPr>
            <a:lvl7pPr>
              <a:defRPr sz="1725" b="0">
                <a:solidFill>
                  <a:srgbClr val="526879"/>
                </a:solidFill>
                <a:latin typeface="Arial"/>
                <a:ea typeface="Arial"/>
                <a:cs typeface="Arial"/>
              </a:defRPr>
            </a:lvl7pPr>
            <a:lvl8pPr>
              <a:defRPr sz="1725" b="0">
                <a:solidFill>
                  <a:srgbClr val="526879"/>
                </a:solidFill>
                <a:latin typeface="Arial"/>
                <a:ea typeface="Arial"/>
                <a:cs typeface="Arial"/>
              </a:defRPr>
            </a:lvl8pPr>
            <a:lvl9pPr>
              <a:defRPr sz="1725" b="0">
                <a:solidFill>
                  <a:srgbClr val="526879"/>
                </a:solidFill>
                <a:latin typeface="Arial"/>
                <a:ea typeface="Arial"/>
                <a:cs typeface="Arial"/>
              </a:defRPr>
            </a:lvl9pPr>
          </a:lstStyle>
          <a:p xmlns:a="http://schemas.openxmlformats.org/drawingml/2006/main">
            <a:pPr>
              <a:defRPr sz="1725" b="0">
                <a:solidFill>
                  <a:srgbClr val="526879"/>
                </a:solidFill>
                <a:latin typeface="Arial"/>
                <a:ea typeface="Arial"/>
                <a:cs typeface="Arial"/>
              </a:defRPr>
            </a:pPr>
            <a:r>
              <a:rPr sz="1725" b="0">
                <a:solidFill>
                  <a:srgbClr val="526879"/>
                </a:solidFill>
                <a:latin typeface="Arial"/>
                <a:ea typeface="Arial"/>
                <a:cs typeface="Arial"/>
              </a:rPr>
              <a:t>Selected hypothesis tests from the original EDA. Reported p-values use Holm correction.</a:t>
            </a:r>
          </a:p>
        </p:txBody>
      </p:sp>
      <p:sp>
        <p:nvSpPr>
          <p:cNvPr id="5" name="">
            <a:extLst xmlns:a="http://schemas.openxmlformats.org/drawingml/2006/main">
              <a:ext uri="{FF2B5EF4-FFF2-40B4-BE49-F238E27FC236}">
                <a16:creationId xmlns:a16="http://schemas.microsoft.com/office/drawing/2014/main" id="{9BD5B3B9-B6D9-46DC-BF16-66B5A6CAB24B}"/>
              </a:ext>
            </a:extLst>
          </p:cNvPr>
          <p:cNvSpPr>
            <a:spLocks xmlns:a="http://schemas.openxmlformats.org/drawingml/2006/main" noGrp="1"/>
          </p:cNvSpPr>
          <p:nvPr/>
        </p:nvSpPr>
        <p:spPr>
          <a:xfrm xmlns:a="http://schemas.openxmlformats.org/drawingml/2006/main">
            <a:off x="495300" y="6486525"/>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879"/>
                </a:solidFill>
                <a:latin typeface="Arial"/>
                <a:ea typeface="Arial"/>
                <a:cs typeface="Arial"/>
              </a:defRPr>
            </a:defPPr>
            <a:lvl1pPr>
              <a:defRPr sz="1200" b="0">
                <a:solidFill>
                  <a:srgbClr val="526879"/>
                </a:solidFill>
                <a:latin typeface="Arial"/>
                <a:ea typeface="Arial"/>
                <a:cs typeface="Arial"/>
              </a:defRPr>
            </a:lvl1pPr>
            <a:lvl2pPr>
              <a:defRPr sz="1200" b="0">
                <a:solidFill>
                  <a:srgbClr val="526879"/>
                </a:solidFill>
                <a:latin typeface="Arial"/>
                <a:ea typeface="Arial"/>
                <a:cs typeface="Arial"/>
              </a:defRPr>
            </a:lvl2pPr>
            <a:lvl3pPr>
              <a:defRPr sz="1200" b="0">
                <a:solidFill>
                  <a:srgbClr val="526879"/>
                </a:solidFill>
                <a:latin typeface="Arial"/>
                <a:ea typeface="Arial"/>
                <a:cs typeface="Arial"/>
              </a:defRPr>
            </a:lvl3pPr>
            <a:lvl4pPr>
              <a:defRPr sz="1200" b="0">
                <a:solidFill>
                  <a:srgbClr val="526879"/>
                </a:solidFill>
                <a:latin typeface="Arial"/>
                <a:ea typeface="Arial"/>
                <a:cs typeface="Arial"/>
              </a:defRPr>
            </a:lvl4pPr>
            <a:lvl5pPr>
              <a:defRPr sz="1200" b="0">
                <a:solidFill>
                  <a:srgbClr val="526879"/>
                </a:solidFill>
                <a:latin typeface="Arial"/>
                <a:ea typeface="Arial"/>
                <a:cs typeface="Arial"/>
              </a:defRPr>
            </a:lvl5pPr>
            <a:lvl6pPr>
              <a:defRPr sz="1200" b="0">
                <a:solidFill>
                  <a:srgbClr val="526879"/>
                </a:solidFill>
                <a:latin typeface="Arial"/>
                <a:ea typeface="Arial"/>
                <a:cs typeface="Arial"/>
              </a:defRPr>
            </a:lvl6pPr>
            <a:lvl7pPr>
              <a:defRPr sz="1200" b="0">
                <a:solidFill>
                  <a:srgbClr val="526879"/>
                </a:solidFill>
                <a:latin typeface="Arial"/>
                <a:ea typeface="Arial"/>
                <a:cs typeface="Arial"/>
              </a:defRPr>
            </a:lvl7pPr>
            <a:lvl8pPr>
              <a:defRPr sz="1200" b="0">
                <a:solidFill>
                  <a:srgbClr val="526879"/>
                </a:solidFill>
                <a:latin typeface="Arial"/>
                <a:ea typeface="Arial"/>
                <a:cs typeface="Arial"/>
              </a:defRPr>
            </a:lvl8pPr>
            <a:lvl9pPr>
              <a:defRPr sz="1200" b="0">
                <a:solidFill>
                  <a:srgbClr val="526879"/>
                </a:solidFill>
                <a:latin typeface="Arial"/>
                <a:ea typeface="Arial"/>
                <a:cs typeface="Arial"/>
              </a:defRPr>
            </a:lvl9pPr>
          </a:lstStyle>
          <a:p xmlns:a="http://schemas.openxmlformats.org/drawingml/2006/main">
            <a:pPr>
              <a:defRPr sz="1200" b="0">
                <a:solidFill>
                  <a:srgbClr val="526879"/>
                </a:solidFill>
                <a:latin typeface="Arial"/>
                <a:ea typeface="Arial"/>
                <a:cs typeface="Arial"/>
              </a:defRPr>
            </a:pPr>
            <a:r>
              <a:rPr sz="1200" b="0">
                <a:solidFill>
                  <a:srgbClr val="526879"/>
                </a:solidFill>
                <a:latin typeface="Arial"/>
                <a:ea typeface="Arial"/>
                <a:cs typeface="Arial"/>
              </a:rPr>
              <a:t>Hemanth Kumar Akunuri</a:t>
            </a:r>
          </a:p>
        </p:txBody>
      </p:sp>
      <p:sp>
        <p:nvSpPr>
          <p:cNvPr id="6" name="">
            <a:extLst xmlns:a="http://schemas.openxmlformats.org/drawingml/2006/main">
              <a:ext uri="{FF2B5EF4-FFF2-40B4-BE49-F238E27FC236}">
                <a16:creationId xmlns:a16="http://schemas.microsoft.com/office/drawing/2014/main" id="{2FDBC1BF-C874-466A-B2A0-47B4F815EC31}"/>
              </a:ext>
            </a:extLst>
          </p:cNvPr>
          <p:cNvSpPr>
            <a:spLocks xmlns:a="http://schemas.openxmlformats.org/drawingml/2006/main" noGrp="1"/>
          </p:cNvSpPr>
          <p:nvPr/>
        </p:nvSpPr>
        <p:spPr>
          <a:xfrm xmlns:a="http://schemas.openxmlformats.org/drawingml/2006/main">
            <a:off x="10763250" y="6486525"/>
            <a:ext cx="933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879"/>
                </a:solidFill>
                <a:latin typeface="Arial"/>
                <a:ea typeface="Arial"/>
                <a:cs typeface="Arial"/>
              </a:defRPr>
            </a:defPPr>
            <a:lvl1pPr>
              <a:defRPr sz="1200" b="0">
                <a:solidFill>
                  <a:srgbClr val="526879"/>
                </a:solidFill>
                <a:latin typeface="Arial"/>
                <a:ea typeface="Arial"/>
                <a:cs typeface="Arial"/>
              </a:defRPr>
            </a:lvl1pPr>
            <a:lvl2pPr>
              <a:defRPr sz="1200" b="0">
                <a:solidFill>
                  <a:srgbClr val="526879"/>
                </a:solidFill>
                <a:latin typeface="Arial"/>
                <a:ea typeface="Arial"/>
                <a:cs typeface="Arial"/>
              </a:defRPr>
            </a:lvl2pPr>
            <a:lvl3pPr>
              <a:defRPr sz="1200" b="0">
                <a:solidFill>
                  <a:srgbClr val="526879"/>
                </a:solidFill>
                <a:latin typeface="Arial"/>
                <a:ea typeface="Arial"/>
                <a:cs typeface="Arial"/>
              </a:defRPr>
            </a:lvl3pPr>
            <a:lvl4pPr>
              <a:defRPr sz="1200" b="0">
                <a:solidFill>
                  <a:srgbClr val="526879"/>
                </a:solidFill>
                <a:latin typeface="Arial"/>
                <a:ea typeface="Arial"/>
                <a:cs typeface="Arial"/>
              </a:defRPr>
            </a:lvl4pPr>
            <a:lvl5pPr>
              <a:defRPr sz="1200" b="0">
                <a:solidFill>
                  <a:srgbClr val="526879"/>
                </a:solidFill>
                <a:latin typeface="Arial"/>
                <a:ea typeface="Arial"/>
                <a:cs typeface="Arial"/>
              </a:defRPr>
            </a:lvl5pPr>
            <a:lvl6pPr>
              <a:defRPr sz="1200" b="0">
                <a:solidFill>
                  <a:srgbClr val="526879"/>
                </a:solidFill>
                <a:latin typeface="Arial"/>
                <a:ea typeface="Arial"/>
                <a:cs typeface="Arial"/>
              </a:defRPr>
            </a:lvl6pPr>
            <a:lvl7pPr>
              <a:defRPr sz="1200" b="0">
                <a:solidFill>
                  <a:srgbClr val="526879"/>
                </a:solidFill>
                <a:latin typeface="Arial"/>
                <a:ea typeface="Arial"/>
                <a:cs typeface="Arial"/>
              </a:defRPr>
            </a:lvl7pPr>
            <a:lvl8pPr>
              <a:defRPr sz="1200" b="0">
                <a:solidFill>
                  <a:srgbClr val="526879"/>
                </a:solidFill>
                <a:latin typeface="Arial"/>
                <a:ea typeface="Arial"/>
                <a:cs typeface="Arial"/>
              </a:defRPr>
            </a:lvl8pPr>
            <a:lvl9pPr>
              <a:defRPr sz="1200" b="0">
                <a:solidFill>
                  <a:srgbClr val="526879"/>
                </a:solidFill>
                <a:latin typeface="Arial"/>
                <a:ea typeface="Arial"/>
                <a:cs typeface="Arial"/>
              </a:defRPr>
            </a:lvl9pPr>
          </a:lstStyle>
          <a:p xmlns:a="http://schemas.openxmlformats.org/drawingml/2006/main">
            <a:pPr>
              <a:defRPr sz="1200" b="0">
                <a:solidFill>
                  <a:srgbClr val="526879"/>
                </a:solidFill>
                <a:latin typeface="Arial"/>
                <a:ea typeface="Arial"/>
                <a:cs typeface="Arial"/>
              </a:defRPr>
            </a:pPr>
            <a:r>
              <a:rPr sz="1200" b="0">
                <a:solidFill>
                  <a:srgbClr val="526879"/>
                </a:solidFill>
                <a:latin typeface="Arial"/>
                <a:ea typeface="Arial"/>
                <a:cs typeface="Arial"/>
              </a:rPr>
              <a:t>03 / 07</a:t>
            </a:r>
          </a:p>
        </p:txBody>
      </p:sp>
      <p:graphicFrame>
        <p:nvGraphicFramePr>
          <p:cNvPr id="7" name="">
            <a:extLst xmlns:a="http://schemas.openxmlformats.org/drawingml/2006/main">
              <a:ext uri="{FF2B5EF4-FFF2-40B4-BE49-F238E27FC236}">
                <a16:creationId xmlns:a16="http://schemas.microsoft.com/office/drawing/2014/main" id="{C48EDDBF-E83D-4DD3-AA5E-047D68D17A6C}"/>
              </a:ext>
            </a:extLst>
          </p:cNvPr>
          <p:cNvGraphicFramePr/>
          <p:nvPr/>
        </p:nvGraphicFramePr>
        <p:xfrm>
          <a:off xmlns:a="http://schemas.openxmlformats.org/drawingml/2006/main" x="495300" y="1733550"/>
          <a:ext xmlns:a="http://schemas.openxmlformats.org/drawingml/2006/main" cx="9144000" cy="3733800"/>
        </p:xfrm>
        <a:graphic xmlns:a="http://schemas.openxmlformats.org/drawingml/2006/main">
          <a:graphicData uri="http://schemas.openxmlformats.org/drawingml/2006/table">
            <a:tbl>
              <a:tblPr/>
              <a:tblGrid>
                <a:gridCol w="3714750"/>
                <a:gridCol w="1476375"/>
                <a:gridCol w="1762125"/>
                <a:gridCol w="2190750"/>
              </a:tblGrid>
              <a:tr h="466725">
                <a:tc>
                  <a:txBody>
                    <a:bodyPr lIns="66675" tIns="66675" rIns="66675" bIns="66675"/>
                    <a:lstStyle/>
                    <a:p>
                      <a:r>
                        <a:rPr sz="1575" b="1">
                          <a:solidFill>
                            <a:srgbClr val="FFFFFF"/>
                          </a:solidFill>
                          <a:latin typeface="Arial"/>
                          <a:ea typeface="Arial"/>
                          <a:cs typeface="Arial"/>
                        </a:rPr>
                        <a:t>Question / test</a:t>
                      </a:r>
                    </a:p>
                  </a:txBody>
                  <a:tcPr marL="91440" marR="91440" marT="45720" marB="45720" anchor="ctr">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122C43"/>
                    </a:solidFill>
                  </a:tcPr>
                </a:tc>
                <a:tc>
                  <a:txBody>
                    <a:bodyPr lIns="66675" tIns="66675" rIns="66675" bIns="66675"/>
                    <a:lstStyle/>
                    <a:p>
                      <a:r>
                        <a:rPr sz="1575" b="1">
                          <a:solidFill>
                            <a:srgbClr val="FFFFFF"/>
                          </a:solidFill>
                          <a:latin typeface="Arial"/>
                          <a:ea typeface="Arial"/>
                          <a:cs typeface="Arial"/>
                        </a:rPr>
                        <a:t>Statistic</a:t>
                      </a:r>
                    </a:p>
                  </a:txBody>
                  <a:tcPr marL="91440" marR="91440" marT="45720" marB="45720" anchor="ctr">
                    <a:lnR w="9525">
                      <a:solidFill>
                        <a:srgbClr val="FFFFFF"/>
                      </a:solidFill>
                      <a:prstDash val="solid"/>
                    </a:lnR>
                    <a:lnT w="9525">
                      <a:solidFill>
                        <a:srgbClr val="FFFFFF"/>
                      </a:solidFill>
                      <a:prstDash val="solid"/>
                    </a:lnT>
                    <a:lnB w="9525">
                      <a:solidFill>
                        <a:srgbClr val="FFFFFF"/>
                      </a:solidFill>
                      <a:prstDash val="solid"/>
                    </a:lnB>
                    <a:solidFill>
                      <a:srgbClr val="122C43"/>
                    </a:solidFill>
                  </a:tcPr>
                </a:tc>
                <a:tc>
                  <a:txBody>
                    <a:bodyPr lIns="66675" tIns="66675" rIns="66675" bIns="66675"/>
                    <a:lstStyle/>
                    <a:p>
                      <a:r>
                        <a:rPr sz="1575" b="1">
                          <a:solidFill>
                            <a:srgbClr val="FFFFFF"/>
                          </a:solidFill>
                          <a:latin typeface="Arial"/>
                          <a:ea typeface="Arial"/>
                          <a:cs typeface="Arial"/>
                        </a:rPr>
                        <a:t>Adjusted p</a:t>
                      </a:r>
                    </a:p>
                  </a:txBody>
                  <a:tcPr marL="91440" marR="91440" marT="45720" marB="45720" anchor="ctr">
                    <a:lnR w="9525">
                      <a:solidFill>
                        <a:srgbClr val="FFFFFF"/>
                      </a:solidFill>
                      <a:prstDash val="solid"/>
                    </a:lnR>
                    <a:lnT w="9525">
                      <a:solidFill>
                        <a:srgbClr val="FFFFFF"/>
                      </a:solidFill>
                      <a:prstDash val="solid"/>
                    </a:lnT>
                    <a:lnB w="9525">
                      <a:solidFill>
                        <a:srgbClr val="FFFFFF"/>
                      </a:solidFill>
                      <a:prstDash val="solid"/>
                    </a:lnB>
                    <a:solidFill>
                      <a:srgbClr val="122C43"/>
                    </a:solidFill>
                  </a:tcPr>
                </a:tc>
                <a:tc>
                  <a:txBody>
                    <a:bodyPr lIns="66675" tIns="66675" rIns="66675" bIns="66675"/>
                    <a:lstStyle/>
                    <a:p>
                      <a:r>
                        <a:rPr sz="1575" b="1">
                          <a:solidFill>
                            <a:srgbClr val="FFFFFF"/>
                          </a:solidFill>
                          <a:latin typeface="Arial"/>
                          <a:ea typeface="Arial"/>
                          <a:cs typeface="Arial"/>
                        </a:rPr>
                        <a:t>Finding</a:t>
                      </a:r>
                    </a:p>
                  </a:txBody>
                  <a:tcPr marL="91440" marR="91440" marT="45720" marB="45720" anchor="ctr">
                    <a:lnR w="9525">
                      <a:solidFill>
                        <a:srgbClr val="FFFFFF"/>
                      </a:solidFill>
                      <a:prstDash val="solid"/>
                    </a:lnR>
                    <a:lnT w="9525">
                      <a:solidFill>
                        <a:srgbClr val="FFFFFF"/>
                      </a:solidFill>
                      <a:prstDash val="solid"/>
                    </a:lnT>
                    <a:lnB w="9525">
                      <a:solidFill>
                        <a:srgbClr val="FFFFFF"/>
                      </a:solidFill>
                      <a:prstDash val="solid"/>
                    </a:lnB>
                    <a:solidFill>
                      <a:srgbClr val="122C43"/>
                    </a:solidFill>
                  </a:tcPr>
                </a:tc>
              </a:tr>
              <a:tr h="466725">
                <a:tc>
                  <a:txBody>
                    <a:bodyPr lIns="66675" tIns="66675" rIns="66675" bIns="66675"/>
                    <a:lstStyle/>
                    <a:p>
                      <a:r>
                        <a:rPr sz="1575" b="0">
                          <a:solidFill>
                            <a:srgbClr val="17334A"/>
                          </a:solidFill>
                          <a:latin typeface="Arial"/>
                          <a:ea typeface="Arial"/>
                          <a:cs typeface="Arial"/>
                        </a:rPr>
                        <a:t>Leavers’ overtime vs 20 h (t)</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EAF3F4"/>
                    </a:solidFill>
                  </a:tcPr>
                </a:tc>
                <a:tc>
                  <a:txBody>
                    <a:bodyPr lIns="66675" tIns="66675" rIns="66675" bIns="66675"/>
                    <a:lstStyle/>
                    <a:p>
                      <a:r>
                        <a:rPr sz="1575" b="0">
                          <a:solidFill>
                            <a:srgbClr val="17334A"/>
                          </a:solidFill>
                          <a:latin typeface="Arial"/>
                          <a:ea typeface="Arial"/>
                          <a:cs typeface="Arial"/>
                        </a:rPr>
                        <a:t>t = −10.46</a:t>
                      </a:r>
                    </a:p>
                  </a:txBody>
                  <a:tcPr marL="91440" marR="91440" marT="45720" marB="45720" anchor="ctr">
                    <a:lnR w="9525">
                      <a:solidFill>
                        <a:srgbClr val="FFFFFF"/>
                      </a:solidFill>
                      <a:prstDash val="solid"/>
                    </a:lnR>
                    <a:lnB w="9525">
                      <a:solidFill>
                        <a:srgbClr val="FFFFFF"/>
                      </a:solidFill>
                      <a:prstDash val="solid"/>
                    </a:lnB>
                    <a:solidFill>
                      <a:srgbClr val="EAF3F4"/>
                    </a:solidFill>
                  </a:tcPr>
                </a:tc>
                <a:tc>
                  <a:txBody>
                    <a:bodyPr lIns="66675" tIns="66675" rIns="66675" bIns="66675"/>
                    <a:lstStyle/>
                    <a:p>
                      <a:r>
                        <a:rPr sz="1575" b="0">
                          <a:solidFill>
                            <a:srgbClr val="17334A"/>
                          </a:solidFill>
                          <a:latin typeface="Arial"/>
                          <a:ea typeface="Arial"/>
                          <a:cs typeface="Arial"/>
                        </a:rPr>
                        <a:t>2.76 × 10⁻²³</a:t>
                      </a:r>
                    </a:p>
                  </a:txBody>
                  <a:tcPr marL="91440" marR="91440" marT="45720" marB="45720" anchor="ctr">
                    <a:lnR w="9525">
                      <a:solidFill>
                        <a:srgbClr val="FFFFFF"/>
                      </a:solidFill>
                      <a:prstDash val="solid"/>
                    </a:lnR>
                    <a:lnB w="9525">
                      <a:solidFill>
                        <a:srgbClr val="FFFFFF"/>
                      </a:solidFill>
                      <a:prstDash val="solid"/>
                    </a:lnB>
                    <a:solidFill>
                      <a:srgbClr val="EAF3F4"/>
                    </a:solidFill>
                  </a:tcPr>
                </a:tc>
                <a:tc>
                  <a:txBody>
                    <a:bodyPr lIns="66675" tIns="66675" rIns="66675" bIns="66675"/>
                    <a:lstStyle/>
                    <a:p>
                      <a:r>
                        <a:rPr sz="1575" b="0">
                          <a:solidFill>
                            <a:srgbClr val="17334A"/>
                          </a:solidFill>
                          <a:latin typeface="Arial"/>
                          <a:ea typeface="Arial"/>
                          <a:cs typeface="Arial"/>
                        </a:rPr>
                        <a:t>Below 20 h</a:t>
                      </a:r>
                    </a:p>
                  </a:txBody>
                  <a:tcPr marL="91440" marR="91440" marT="45720" marB="45720" anchor="ctr">
                    <a:lnR w="9525">
                      <a:solidFill>
                        <a:srgbClr val="FFFFFF"/>
                      </a:solidFill>
                      <a:prstDash val="solid"/>
                    </a:lnR>
                    <a:lnB w="9525">
                      <a:solidFill>
                        <a:srgbClr val="FFFFFF"/>
                      </a:solidFill>
                      <a:prstDash val="solid"/>
                    </a:lnB>
                    <a:solidFill>
                      <a:srgbClr val="EAF3F4"/>
                    </a:solidFill>
                  </a:tcPr>
                </a:tc>
              </a:tr>
              <a:tr h="466725">
                <a:tc>
                  <a:txBody>
                    <a:bodyPr lIns="66675" tIns="66675" rIns="66675" bIns="66675"/>
                    <a:lstStyle/>
                    <a:p>
                      <a:r>
                        <a:rPr sz="1575" b="0">
                          <a:solidFill>
                            <a:srgbClr val="17334A"/>
                          </a:solidFill>
                          <a:latin typeface="Arial"/>
                          <a:ea typeface="Arial"/>
                          <a:cs typeface="Arial"/>
                        </a:rPr>
                        <a:t>Salary by attrition (Welch t)</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FFFFFF"/>
                    </a:solidFill>
                  </a:tcPr>
                </a:tc>
                <a:tc>
                  <a:txBody>
                    <a:bodyPr lIns="66675" tIns="66675" rIns="66675" bIns="66675"/>
                    <a:lstStyle/>
                    <a:p>
                      <a:r>
                        <a:rPr sz="1575" b="0">
                          <a:solidFill>
                            <a:srgbClr val="17334A"/>
                          </a:solidFill>
                          <a:latin typeface="Arial"/>
                          <a:ea typeface="Arial"/>
                          <a:cs typeface="Arial"/>
                        </a:rPr>
                        <a:t>t = 6.24</a:t>
                      </a:r>
                    </a:p>
                  </a:txBody>
                  <a:tcPr marL="91440" marR="91440" marT="45720" marB="45720" anchor="ctr">
                    <a:lnR w="9525">
                      <a:solidFill>
                        <a:srgbClr val="FFFFFF"/>
                      </a:solidFill>
                      <a:prstDash val="solid"/>
                    </a:lnR>
                    <a:lnB w="9525">
                      <a:solidFill>
                        <a:srgbClr val="FFFFFF"/>
                      </a:solidFill>
                      <a:prstDash val="solid"/>
                    </a:lnB>
                    <a:solidFill>
                      <a:srgbClr val="FFFFFF"/>
                    </a:solidFill>
                  </a:tcPr>
                </a:tc>
                <a:tc>
                  <a:txBody>
                    <a:bodyPr lIns="66675" tIns="66675" rIns="66675" bIns="66675"/>
                    <a:lstStyle/>
                    <a:p>
                      <a:r>
                        <a:rPr sz="1575" b="0">
                          <a:solidFill>
                            <a:srgbClr val="17334A"/>
                          </a:solidFill>
                          <a:latin typeface="Arial"/>
                          <a:ea typeface="Arial"/>
                          <a:cs typeface="Arial"/>
                        </a:rPr>
                        <a:t>3.10 × 10⁻⁹</a:t>
                      </a:r>
                    </a:p>
                  </a:txBody>
                  <a:tcPr marL="91440" marR="91440" marT="45720" marB="45720" anchor="ctr">
                    <a:lnR w="9525">
                      <a:solidFill>
                        <a:srgbClr val="FFFFFF"/>
                      </a:solidFill>
                      <a:prstDash val="solid"/>
                    </a:lnR>
                    <a:lnB w="9525">
                      <a:solidFill>
                        <a:srgbClr val="FFFFFF"/>
                      </a:solidFill>
                      <a:prstDash val="solid"/>
                    </a:lnB>
                    <a:solidFill>
                      <a:srgbClr val="FFFFFF"/>
                    </a:solidFill>
                  </a:tcPr>
                </a:tc>
                <a:tc>
                  <a:txBody>
                    <a:bodyPr lIns="66675" tIns="66675" rIns="66675" bIns="66675"/>
                    <a:lstStyle/>
                    <a:p>
                      <a:r>
                        <a:rPr sz="1575" b="0">
                          <a:solidFill>
                            <a:srgbClr val="17334A"/>
                          </a:solidFill>
                          <a:latin typeface="Arial"/>
                          <a:ea typeface="Arial"/>
                          <a:cs typeface="Arial"/>
                        </a:rPr>
                        <a:t>Lower for leavers</a:t>
                      </a:r>
                    </a:p>
                  </a:txBody>
                  <a:tcPr marL="91440" marR="91440" marT="45720" marB="45720" anchor="ctr">
                    <a:lnR w="9525">
                      <a:solidFill>
                        <a:srgbClr val="FFFFFF"/>
                      </a:solidFill>
                      <a:prstDash val="solid"/>
                    </a:lnR>
                    <a:lnB w="9525">
                      <a:solidFill>
                        <a:srgbClr val="FFFFFF"/>
                      </a:solidFill>
                      <a:prstDash val="solid"/>
                    </a:lnB>
                    <a:solidFill>
                      <a:srgbClr val="FFFFFF"/>
                    </a:solidFill>
                  </a:tcPr>
                </a:tc>
              </a:tr>
              <a:tr h="466725">
                <a:tc>
                  <a:txBody>
                    <a:bodyPr lIns="66675" tIns="66675" rIns="66675" bIns="66675"/>
                    <a:lstStyle/>
                    <a:p>
                      <a:r>
                        <a:rPr sz="1575" b="0">
                          <a:solidFill>
                            <a:srgbClr val="17334A"/>
                          </a:solidFill>
                          <a:latin typeface="Arial"/>
                          <a:ea typeface="Arial"/>
                          <a:cs typeface="Arial"/>
                        </a:rPr>
                        <a:t>Overtime by attrition (Welch t)</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EAF3F4"/>
                    </a:solidFill>
                  </a:tcPr>
                </a:tc>
                <a:tc>
                  <a:txBody>
                    <a:bodyPr lIns="66675" tIns="66675" rIns="66675" bIns="66675"/>
                    <a:lstStyle/>
                    <a:p>
                      <a:r>
                        <a:rPr sz="1575" b="0">
                          <a:solidFill>
                            <a:srgbClr val="17334A"/>
                          </a:solidFill>
                          <a:latin typeface="Arial"/>
                          <a:ea typeface="Arial"/>
                          <a:cs typeface="Arial"/>
                        </a:rPr>
                        <a:t>t = −2.72</a:t>
                      </a:r>
                    </a:p>
                  </a:txBody>
                  <a:tcPr marL="91440" marR="91440" marT="45720" marB="45720" anchor="ctr">
                    <a:lnR w="9525">
                      <a:solidFill>
                        <a:srgbClr val="FFFFFF"/>
                      </a:solidFill>
                      <a:prstDash val="solid"/>
                    </a:lnR>
                    <a:lnB w="9525">
                      <a:solidFill>
                        <a:srgbClr val="FFFFFF"/>
                      </a:solidFill>
                      <a:prstDash val="solid"/>
                    </a:lnB>
                    <a:solidFill>
                      <a:srgbClr val="EAF3F4"/>
                    </a:solidFill>
                  </a:tcPr>
                </a:tc>
                <a:tc>
                  <a:txBody>
                    <a:bodyPr lIns="66675" tIns="66675" rIns="66675" bIns="66675"/>
                    <a:lstStyle/>
                    <a:p>
                      <a:r>
                        <a:rPr sz="1575" b="0">
                          <a:solidFill>
                            <a:srgbClr val="17334A"/>
                          </a:solidFill>
                          <a:latin typeface="Arial"/>
                          <a:ea typeface="Arial"/>
                          <a:cs typeface="Arial"/>
                        </a:rPr>
                        <a:t>0.0133</a:t>
                      </a:r>
                    </a:p>
                  </a:txBody>
                  <a:tcPr marL="91440" marR="91440" marT="45720" marB="45720" anchor="ctr">
                    <a:lnR w="9525">
                      <a:solidFill>
                        <a:srgbClr val="FFFFFF"/>
                      </a:solidFill>
                      <a:prstDash val="solid"/>
                    </a:lnR>
                    <a:lnB w="9525">
                      <a:solidFill>
                        <a:srgbClr val="FFFFFF"/>
                      </a:solidFill>
                      <a:prstDash val="solid"/>
                    </a:lnB>
                    <a:solidFill>
                      <a:srgbClr val="EAF3F4"/>
                    </a:solidFill>
                  </a:tcPr>
                </a:tc>
                <a:tc>
                  <a:txBody>
                    <a:bodyPr lIns="66675" tIns="66675" rIns="66675" bIns="66675"/>
                    <a:lstStyle/>
                    <a:p>
                      <a:r>
                        <a:rPr sz="1575" b="0">
                          <a:solidFill>
                            <a:srgbClr val="17334A"/>
                          </a:solidFill>
                          <a:latin typeface="Arial"/>
                          <a:ea typeface="Arial"/>
                          <a:cs typeface="Arial"/>
                        </a:rPr>
                        <a:t>Higher for leavers</a:t>
                      </a:r>
                    </a:p>
                  </a:txBody>
                  <a:tcPr marL="91440" marR="91440" marT="45720" marB="45720" anchor="ctr">
                    <a:lnR w="9525">
                      <a:solidFill>
                        <a:srgbClr val="FFFFFF"/>
                      </a:solidFill>
                      <a:prstDash val="solid"/>
                    </a:lnR>
                    <a:lnB w="9525">
                      <a:solidFill>
                        <a:srgbClr val="FFFFFF"/>
                      </a:solidFill>
                      <a:prstDash val="solid"/>
                    </a:lnB>
                    <a:solidFill>
                      <a:srgbClr val="EAF3F4"/>
                    </a:solidFill>
                  </a:tcPr>
                </a:tc>
              </a:tr>
              <a:tr h="466725">
                <a:tc>
                  <a:txBody>
                    <a:bodyPr lIns="66675" tIns="66675" rIns="66675" bIns="66675"/>
                    <a:lstStyle/>
                    <a:p>
                      <a:r>
                        <a:rPr sz="1575" b="0">
                          <a:solidFill>
                            <a:srgbClr val="17334A"/>
                          </a:solidFill>
                          <a:latin typeface="Arial"/>
                          <a:ea typeface="Arial"/>
                          <a:cs typeface="Arial"/>
                        </a:rPr>
                        <a:t>Department vs attrition (χ²)</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FFFFFF"/>
                    </a:solidFill>
                  </a:tcPr>
                </a:tc>
                <a:tc>
                  <a:txBody>
                    <a:bodyPr lIns="66675" tIns="66675" rIns="66675" bIns="66675"/>
                    <a:lstStyle/>
                    <a:p>
                      <a:r>
                        <a:rPr sz="1575" b="0">
                          <a:solidFill>
                            <a:srgbClr val="17334A"/>
                          </a:solidFill>
                          <a:latin typeface="Arial"/>
                          <a:ea typeface="Arial"/>
                          <a:cs typeface="Arial"/>
                        </a:rPr>
                        <a:t>χ² = 10.65</a:t>
                      </a:r>
                    </a:p>
                  </a:txBody>
                  <a:tcPr marL="91440" marR="91440" marT="45720" marB="45720" anchor="ctr">
                    <a:lnR w="9525">
                      <a:solidFill>
                        <a:srgbClr val="FFFFFF"/>
                      </a:solidFill>
                      <a:prstDash val="solid"/>
                    </a:lnR>
                    <a:lnB w="9525">
                      <a:solidFill>
                        <a:srgbClr val="FFFFFF"/>
                      </a:solidFill>
                      <a:prstDash val="solid"/>
                    </a:lnB>
                    <a:solidFill>
                      <a:srgbClr val="FFFFFF"/>
                    </a:solidFill>
                  </a:tcPr>
                </a:tc>
                <a:tc>
                  <a:txBody>
                    <a:bodyPr lIns="66675" tIns="66675" rIns="66675" bIns="66675"/>
                    <a:lstStyle/>
                    <a:p>
                      <a:r>
                        <a:rPr sz="1575" b="0">
                          <a:solidFill>
                            <a:srgbClr val="17334A"/>
                          </a:solidFill>
                          <a:latin typeface="Arial"/>
                          <a:ea typeface="Arial"/>
                          <a:cs typeface="Arial"/>
                        </a:rPr>
                        <a:t>0.1545</a:t>
                      </a:r>
                    </a:p>
                  </a:txBody>
                  <a:tcPr marL="91440" marR="91440" marT="45720" marB="45720" anchor="ctr">
                    <a:lnR w="9525">
                      <a:solidFill>
                        <a:srgbClr val="FFFFFF"/>
                      </a:solidFill>
                      <a:prstDash val="solid"/>
                    </a:lnR>
                    <a:lnB w="9525">
                      <a:solidFill>
                        <a:srgbClr val="FFFFFF"/>
                      </a:solidFill>
                      <a:prstDash val="solid"/>
                    </a:lnB>
                    <a:solidFill>
                      <a:srgbClr val="FFFFFF"/>
                    </a:solidFill>
                  </a:tcPr>
                </a:tc>
                <a:tc>
                  <a:txBody>
                    <a:bodyPr lIns="66675" tIns="66675" rIns="66675" bIns="66675"/>
                    <a:lstStyle/>
                    <a:p>
                      <a:r>
                        <a:rPr sz="1575" b="0">
                          <a:solidFill>
                            <a:srgbClr val="17334A"/>
                          </a:solidFill>
                          <a:latin typeface="Arial"/>
                          <a:ea typeface="Arial"/>
                          <a:cs typeface="Arial"/>
                        </a:rPr>
                        <a:t>No clear association</a:t>
                      </a:r>
                    </a:p>
                  </a:txBody>
                  <a:tcPr marL="91440" marR="91440" marT="45720" marB="45720" anchor="ctr">
                    <a:lnR w="9525">
                      <a:solidFill>
                        <a:srgbClr val="FFFFFF"/>
                      </a:solidFill>
                      <a:prstDash val="solid"/>
                    </a:lnR>
                    <a:lnB w="9525">
                      <a:solidFill>
                        <a:srgbClr val="FFFFFF"/>
                      </a:solidFill>
                      <a:prstDash val="solid"/>
                    </a:lnB>
                    <a:solidFill>
                      <a:srgbClr val="FFFFFF"/>
                    </a:solidFill>
                  </a:tcPr>
                </a:tc>
              </a:tr>
              <a:tr h="466725">
                <a:tc>
                  <a:txBody>
                    <a:bodyPr lIns="66675" tIns="66675" rIns="66675" bIns="66675"/>
                    <a:lstStyle/>
                    <a:p>
                      <a:r>
                        <a:rPr sz="1575" b="0">
                          <a:solidFill>
                            <a:srgbClr val="17334A"/>
                          </a:solidFill>
                          <a:latin typeface="Arial"/>
                          <a:ea typeface="Arial"/>
                          <a:cs typeface="Arial"/>
                        </a:rPr>
                        <a:t>Travel vs attrition (χ²)</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EAF3F4"/>
                    </a:solidFill>
                  </a:tcPr>
                </a:tc>
                <a:tc>
                  <a:txBody>
                    <a:bodyPr lIns="66675" tIns="66675" rIns="66675" bIns="66675"/>
                    <a:lstStyle/>
                    <a:p>
                      <a:r>
                        <a:rPr sz="1575" b="0">
                          <a:solidFill>
                            <a:srgbClr val="17334A"/>
                          </a:solidFill>
                          <a:latin typeface="Arial"/>
                          <a:ea typeface="Arial"/>
                          <a:cs typeface="Arial"/>
                        </a:rPr>
                        <a:t>χ² = 16.43</a:t>
                      </a:r>
                    </a:p>
                  </a:txBody>
                  <a:tcPr marL="91440" marR="91440" marT="45720" marB="45720" anchor="ctr">
                    <a:lnR w="9525">
                      <a:solidFill>
                        <a:srgbClr val="FFFFFF"/>
                      </a:solidFill>
                      <a:prstDash val="solid"/>
                    </a:lnR>
                    <a:lnB w="9525">
                      <a:solidFill>
                        <a:srgbClr val="FFFFFF"/>
                      </a:solidFill>
                      <a:prstDash val="solid"/>
                    </a:lnB>
                    <a:solidFill>
                      <a:srgbClr val="EAF3F4"/>
                    </a:solidFill>
                  </a:tcPr>
                </a:tc>
                <a:tc>
                  <a:txBody>
                    <a:bodyPr lIns="66675" tIns="66675" rIns="66675" bIns="66675"/>
                    <a:lstStyle/>
                    <a:p>
                      <a:r>
                        <a:rPr sz="1575" b="0">
                          <a:solidFill>
                            <a:srgbClr val="17334A"/>
                          </a:solidFill>
                          <a:latin typeface="Arial"/>
                          <a:ea typeface="Arial"/>
                          <a:cs typeface="Arial"/>
                        </a:rPr>
                        <a:t>0.000813</a:t>
                      </a:r>
                    </a:p>
                  </a:txBody>
                  <a:tcPr marL="91440" marR="91440" marT="45720" marB="45720" anchor="ctr">
                    <a:lnR w="9525">
                      <a:solidFill>
                        <a:srgbClr val="FFFFFF"/>
                      </a:solidFill>
                      <a:prstDash val="solid"/>
                    </a:lnR>
                    <a:lnB w="9525">
                      <a:solidFill>
                        <a:srgbClr val="FFFFFF"/>
                      </a:solidFill>
                      <a:prstDash val="solid"/>
                    </a:lnB>
                    <a:solidFill>
                      <a:srgbClr val="EAF3F4"/>
                    </a:solidFill>
                  </a:tcPr>
                </a:tc>
                <a:tc>
                  <a:txBody>
                    <a:bodyPr lIns="66675" tIns="66675" rIns="66675" bIns="66675"/>
                    <a:lstStyle/>
                    <a:p>
                      <a:r>
                        <a:rPr sz="1575" b="0">
                          <a:solidFill>
                            <a:srgbClr val="17334A"/>
                          </a:solidFill>
                          <a:latin typeface="Arial"/>
                          <a:ea typeface="Arial"/>
                          <a:cs typeface="Arial"/>
                        </a:rPr>
                        <a:t>Weak association</a:t>
                      </a:r>
                    </a:p>
                  </a:txBody>
                  <a:tcPr marL="91440" marR="91440" marT="45720" marB="45720" anchor="ctr">
                    <a:lnR w="9525">
                      <a:solidFill>
                        <a:srgbClr val="FFFFFF"/>
                      </a:solidFill>
                      <a:prstDash val="solid"/>
                    </a:lnR>
                    <a:lnB w="9525">
                      <a:solidFill>
                        <a:srgbClr val="FFFFFF"/>
                      </a:solidFill>
                      <a:prstDash val="solid"/>
                    </a:lnB>
                    <a:solidFill>
                      <a:srgbClr val="EAF3F4"/>
                    </a:solidFill>
                  </a:tcPr>
                </a:tc>
              </a:tr>
              <a:tr h="466725">
                <a:tc>
                  <a:txBody>
                    <a:bodyPr lIns="66675" tIns="66675" rIns="66675" bIns="66675"/>
                    <a:lstStyle/>
                    <a:p>
                      <a:r>
                        <a:rPr sz="1575" b="0">
                          <a:solidFill>
                            <a:srgbClr val="17334A"/>
                          </a:solidFill>
                          <a:latin typeface="Arial"/>
                          <a:ea typeface="Arial"/>
                          <a:cs typeface="Arial"/>
                        </a:rPr>
                        <a:t>Leavers’ salary by dept (ANOVA)</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FFFFFF"/>
                    </a:solidFill>
                  </a:tcPr>
                </a:tc>
                <a:tc>
                  <a:txBody>
                    <a:bodyPr lIns="66675" tIns="66675" rIns="66675" bIns="66675"/>
                    <a:lstStyle/>
                    <a:p>
                      <a:r>
                        <a:rPr sz="1575" b="0">
                          <a:solidFill>
                            <a:srgbClr val="17334A"/>
                          </a:solidFill>
                          <a:latin typeface="Arial"/>
                          <a:ea typeface="Arial"/>
                          <a:cs typeface="Arial"/>
                        </a:rPr>
                        <a:t>F = 5.87</a:t>
                      </a:r>
                    </a:p>
                  </a:txBody>
                  <a:tcPr marL="91440" marR="91440" marT="45720" marB="45720" anchor="ctr">
                    <a:lnR w="9525">
                      <a:solidFill>
                        <a:srgbClr val="FFFFFF"/>
                      </a:solidFill>
                      <a:prstDash val="solid"/>
                    </a:lnR>
                    <a:lnB w="9525">
                      <a:solidFill>
                        <a:srgbClr val="FFFFFF"/>
                      </a:solidFill>
                      <a:prstDash val="solid"/>
                    </a:lnB>
                    <a:solidFill>
                      <a:srgbClr val="FFFFFF"/>
                    </a:solidFill>
                  </a:tcPr>
                </a:tc>
                <a:tc>
                  <a:txBody>
                    <a:bodyPr lIns="66675" tIns="66675" rIns="66675" bIns="66675"/>
                    <a:lstStyle/>
                    <a:p>
                      <a:r>
                        <a:rPr sz="1575" b="0">
                          <a:solidFill>
                            <a:srgbClr val="17334A"/>
                          </a:solidFill>
                          <a:latin typeface="Arial"/>
                          <a:ea typeface="Arial"/>
                          <a:cs typeface="Arial"/>
                        </a:rPr>
                        <a:t>4.59 × 10⁻⁶</a:t>
                      </a:r>
                    </a:p>
                  </a:txBody>
                  <a:tcPr marL="91440" marR="91440" marT="45720" marB="45720" anchor="ctr">
                    <a:lnR w="9525">
                      <a:solidFill>
                        <a:srgbClr val="FFFFFF"/>
                      </a:solidFill>
                      <a:prstDash val="solid"/>
                    </a:lnR>
                    <a:lnB w="9525">
                      <a:solidFill>
                        <a:srgbClr val="FFFFFF"/>
                      </a:solidFill>
                      <a:prstDash val="solid"/>
                    </a:lnB>
                    <a:solidFill>
                      <a:srgbClr val="FFFFFF"/>
                    </a:solidFill>
                  </a:tcPr>
                </a:tc>
                <a:tc>
                  <a:txBody>
                    <a:bodyPr lIns="66675" tIns="66675" rIns="66675" bIns="66675"/>
                    <a:lstStyle/>
                    <a:p>
                      <a:r>
                        <a:rPr sz="1575" b="0">
                          <a:solidFill>
                            <a:srgbClr val="17334A"/>
                          </a:solidFill>
                          <a:latin typeface="Arial"/>
                          <a:ea typeface="Arial"/>
                          <a:cs typeface="Arial"/>
                        </a:rPr>
                        <a:t>Some means differ</a:t>
                      </a:r>
                    </a:p>
                  </a:txBody>
                  <a:tcPr marL="91440" marR="91440" marT="45720" marB="45720" anchor="ctr">
                    <a:lnR w="9525">
                      <a:solidFill>
                        <a:srgbClr val="FFFFFF"/>
                      </a:solidFill>
                      <a:prstDash val="solid"/>
                    </a:lnR>
                    <a:lnB w="9525">
                      <a:solidFill>
                        <a:srgbClr val="FFFFFF"/>
                      </a:solidFill>
                      <a:prstDash val="solid"/>
                    </a:lnB>
                    <a:solidFill>
                      <a:srgbClr val="FFFFFF"/>
                    </a:solidFill>
                  </a:tcPr>
                </a:tc>
              </a:tr>
              <a:tr h="466725">
                <a:tc>
                  <a:txBody>
                    <a:bodyPr lIns="66675" tIns="66675" rIns="66675" bIns="66675"/>
                    <a:lstStyle/>
                    <a:p>
                      <a:r>
                        <a:rPr sz="1575" b="0">
                          <a:solidFill>
                            <a:srgbClr val="17334A"/>
                          </a:solidFill>
                          <a:latin typeface="Arial"/>
                          <a:ea typeface="Arial"/>
                          <a:cs typeface="Arial"/>
                        </a:rPr>
                        <a:t>Leavers’ overtime by dept (ANOVA)</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EAF3F4"/>
                    </a:solidFill>
                  </a:tcPr>
                </a:tc>
                <a:tc>
                  <a:txBody>
                    <a:bodyPr lIns="66675" tIns="66675" rIns="66675" bIns="66675"/>
                    <a:lstStyle/>
                    <a:p>
                      <a:r>
                        <a:rPr sz="1575" b="0">
                          <a:solidFill>
                            <a:srgbClr val="17334A"/>
                          </a:solidFill>
                          <a:latin typeface="Arial"/>
                          <a:ea typeface="Arial"/>
                          <a:cs typeface="Arial"/>
                        </a:rPr>
                        <a:t>F = 11.78</a:t>
                      </a:r>
                    </a:p>
                  </a:txBody>
                  <a:tcPr marL="91440" marR="91440" marT="45720" marB="45720" anchor="ctr">
                    <a:lnR w="9525">
                      <a:solidFill>
                        <a:srgbClr val="FFFFFF"/>
                      </a:solidFill>
                      <a:prstDash val="solid"/>
                    </a:lnR>
                    <a:lnB w="9525">
                      <a:solidFill>
                        <a:srgbClr val="FFFFFF"/>
                      </a:solidFill>
                      <a:prstDash val="solid"/>
                    </a:lnB>
                    <a:solidFill>
                      <a:srgbClr val="EAF3F4"/>
                    </a:solidFill>
                  </a:tcPr>
                </a:tc>
                <a:tc>
                  <a:txBody>
                    <a:bodyPr lIns="66675" tIns="66675" rIns="66675" bIns="66675"/>
                    <a:lstStyle/>
                    <a:p>
                      <a:r>
                        <a:rPr sz="1575" b="0">
                          <a:solidFill>
                            <a:srgbClr val="17334A"/>
                          </a:solidFill>
                          <a:latin typeface="Arial"/>
                          <a:ea typeface="Arial"/>
                          <a:cs typeface="Arial"/>
                        </a:rPr>
                        <a:t>1.48 × 10⁻¹³</a:t>
                      </a:r>
                    </a:p>
                  </a:txBody>
                  <a:tcPr marL="91440" marR="91440" marT="45720" marB="45720" anchor="ctr">
                    <a:lnR w="9525">
                      <a:solidFill>
                        <a:srgbClr val="FFFFFF"/>
                      </a:solidFill>
                      <a:prstDash val="solid"/>
                    </a:lnR>
                    <a:lnB w="9525">
                      <a:solidFill>
                        <a:srgbClr val="FFFFFF"/>
                      </a:solidFill>
                      <a:prstDash val="solid"/>
                    </a:lnB>
                    <a:solidFill>
                      <a:srgbClr val="EAF3F4"/>
                    </a:solidFill>
                  </a:tcPr>
                </a:tc>
                <a:tc>
                  <a:txBody>
                    <a:bodyPr lIns="66675" tIns="66675" rIns="66675" bIns="66675"/>
                    <a:lstStyle/>
                    <a:p>
                      <a:r>
                        <a:rPr sz="1575" b="0">
                          <a:solidFill>
                            <a:srgbClr val="17334A"/>
                          </a:solidFill>
                          <a:latin typeface="Arial"/>
                          <a:ea typeface="Arial"/>
                          <a:cs typeface="Arial"/>
                        </a:rPr>
                        <a:t>Some means differ</a:t>
                      </a:r>
                    </a:p>
                  </a:txBody>
                  <a:tcPr marL="91440" marR="91440" marT="45720" marB="45720" anchor="ctr">
                    <a:lnR w="9525">
                      <a:solidFill>
                        <a:srgbClr val="FFFFFF"/>
                      </a:solidFill>
                      <a:prstDash val="solid"/>
                    </a:lnR>
                    <a:lnB w="9525">
                      <a:solidFill>
                        <a:srgbClr val="FFFFFF"/>
                      </a:solidFill>
                      <a:prstDash val="solid"/>
                    </a:lnB>
                    <a:solidFill>
                      <a:srgbClr val="EAF3F4"/>
                    </a:solidFill>
                  </a:tcPr>
                </a:tc>
              </a:tr>
            </a:tbl>
          </a:graphicData>
        </a:graphic>
      </p:graphicFrame>
      <p:sp>
        <p:nvSpPr>
          <p:cNvPr id="8" name="">
            <a:extLst xmlns:a="http://schemas.openxmlformats.org/drawingml/2006/main">
              <a:ext uri="{FF2B5EF4-FFF2-40B4-BE49-F238E27FC236}">
                <a16:creationId xmlns:a16="http://schemas.microsoft.com/office/drawing/2014/main" id="{D250A277-00BC-4781-B5DD-9FE0C06A32D7}"/>
              </a:ext>
            </a:extLst>
          </p:cNvPr>
          <p:cNvSpPr>
            <a:spLocks xmlns:a="http://schemas.openxmlformats.org/drawingml/2006/main" noGrp="1"/>
          </p:cNvSpPr>
          <p:nvPr/>
        </p:nvSpPr>
        <p:spPr>
          <a:xfrm xmlns:a="http://schemas.openxmlformats.org/drawingml/2006/main">
            <a:off x="495300" y="5657850"/>
            <a:ext cx="11201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122C43"/>
                </a:solidFill>
                <a:latin typeface="Arial"/>
                <a:ea typeface="Arial"/>
                <a:cs typeface="Arial"/>
              </a:defRPr>
            </a:defPPr>
            <a:lvl1pPr>
              <a:defRPr sz="1800" b="1">
                <a:solidFill>
                  <a:srgbClr val="122C43"/>
                </a:solidFill>
                <a:latin typeface="Arial"/>
                <a:ea typeface="Arial"/>
                <a:cs typeface="Arial"/>
              </a:defRPr>
            </a:lvl1pPr>
            <a:lvl2pPr>
              <a:defRPr sz="1800" b="1">
                <a:solidFill>
                  <a:srgbClr val="122C43"/>
                </a:solidFill>
                <a:latin typeface="Arial"/>
                <a:ea typeface="Arial"/>
                <a:cs typeface="Arial"/>
              </a:defRPr>
            </a:lvl2pPr>
            <a:lvl3pPr>
              <a:defRPr sz="1800" b="1">
                <a:solidFill>
                  <a:srgbClr val="122C43"/>
                </a:solidFill>
                <a:latin typeface="Arial"/>
                <a:ea typeface="Arial"/>
                <a:cs typeface="Arial"/>
              </a:defRPr>
            </a:lvl3pPr>
            <a:lvl4pPr>
              <a:defRPr sz="1800" b="1">
                <a:solidFill>
                  <a:srgbClr val="122C43"/>
                </a:solidFill>
                <a:latin typeface="Arial"/>
                <a:ea typeface="Arial"/>
                <a:cs typeface="Arial"/>
              </a:defRPr>
            </a:lvl4pPr>
            <a:lvl5pPr>
              <a:defRPr sz="1800" b="1">
                <a:solidFill>
                  <a:srgbClr val="122C43"/>
                </a:solidFill>
                <a:latin typeface="Arial"/>
                <a:ea typeface="Arial"/>
                <a:cs typeface="Arial"/>
              </a:defRPr>
            </a:lvl5pPr>
            <a:lvl6pPr>
              <a:defRPr sz="1800" b="1">
                <a:solidFill>
                  <a:srgbClr val="122C43"/>
                </a:solidFill>
                <a:latin typeface="Arial"/>
                <a:ea typeface="Arial"/>
                <a:cs typeface="Arial"/>
              </a:defRPr>
            </a:lvl6pPr>
            <a:lvl7pPr>
              <a:defRPr sz="1800" b="1">
                <a:solidFill>
                  <a:srgbClr val="122C43"/>
                </a:solidFill>
                <a:latin typeface="Arial"/>
                <a:ea typeface="Arial"/>
                <a:cs typeface="Arial"/>
              </a:defRPr>
            </a:lvl7pPr>
            <a:lvl8pPr>
              <a:defRPr sz="1800" b="1">
                <a:solidFill>
                  <a:srgbClr val="122C43"/>
                </a:solidFill>
                <a:latin typeface="Arial"/>
                <a:ea typeface="Arial"/>
                <a:cs typeface="Arial"/>
              </a:defRPr>
            </a:lvl8pPr>
            <a:lvl9pPr>
              <a:defRPr sz="1800" b="1">
                <a:solidFill>
                  <a:srgbClr val="122C43"/>
                </a:solidFill>
                <a:latin typeface="Arial"/>
                <a:ea typeface="Arial"/>
                <a:cs typeface="Arial"/>
              </a:defRPr>
            </a:lvl9pPr>
          </a:lstStyle>
          <a:p xmlns:a="http://schemas.openxmlformats.org/drawingml/2006/main">
            <a:pPr>
              <a:defRPr sz="1800" b="1">
                <a:solidFill>
                  <a:srgbClr val="122C43"/>
                </a:solidFill>
                <a:latin typeface="Arial"/>
                <a:ea typeface="Arial"/>
                <a:cs typeface="Arial"/>
              </a:defRPr>
            </a:pPr>
            <a:r>
              <a:rPr sz="1800" b="1">
                <a:solidFill>
                  <a:srgbClr val="122C43"/>
                </a:solidFill>
                <a:latin typeface="Arial"/>
                <a:ea typeface="Arial"/>
                <a:cs typeface="Arial"/>
              </a:rPr>
              <a:t>Salary means: 14,876 stayed vs 13,224 left. Overtime: 12.60 h vs 14.21 h.</a:t>
            </a:r>
          </a:p>
        </p:txBody>
      </p:sp>
      <p:sp>
        <p:nvSpPr>
          <p:cNvPr id="9" name="">
            <a:extLst xmlns:a="http://schemas.openxmlformats.org/drawingml/2006/main">
              <a:ext uri="{FF2B5EF4-FFF2-40B4-BE49-F238E27FC236}">
                <a16:creationId xmlns:a16="http://schemas.microsoft.com/office/drawing/2014/main" id="{1658473F-D1E3-4208-B9F3-7F8AC4A47AD3}"/>
              </a:ext>
            </a:extLst>
          </p:cNvPr>
          <p:cNvSpPr>
            <a:spLocks xmlns:a="http://schemas.openxmlformats.org/drawingml/2006/main" noGrp="1"/>
          </p:cNvSpPr>
          <p:nvPr/>
        </p:nvSpPr>
        <p:spPr>
          <a:xfrm xmlns:a="http://schemas.openxmlformats.org/drawingml/2006/main">
            <a:off x="495300" y="5972175"/>
            <a:ext cx="11201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26879"/>
                </a:solidFill>
                <a:latin typeface="Arial"/>
                <a:ea typeface="Arial"/>
                <a:cs typeface="Arial"/>
              </a:defRPr>
            </a:defPPr>
            <a:lvl1pPr>
              <a:defRPr sz="1500" b="0">
                <a:solidFill>
                  <a:srgbClr val="526879"/>
                </a:solidFill>
                <a:latin typeface="Arial"/>
                <a:ea typeface="Arial"/>
                <a:cs typeface="Arial"/>
              </a:defRPr>
            </a:lvl1pPr>
            <a:lvl2pPr>
              <a:defRPr sz="1500" b="0">
                <a:solidFill>
                  <a:srgbClr val="526879"/>
                </a:solidFill>
                <a:latin typeface="Arial"/>
                <a:ea typeface="Arial"/>
                <a:cs typeface="Arial"/>
              </a:defRPr>
            </a:lvl2pPr>
            <a:lvl3pPr>
              <a:defRPr sz="1500" b="0">
                <a:solidFill>
                  <a:srgbClr val="526879"/>
                </a:solidFill>
                <a:latin typeface="Arial"/>
                <a:ea typeface="Arial"/>
                <a:cs typeface="Arial"/>
              </a:defRPr>
            </a:lvl3pPr>
            <a:lvl4pPr>
              <a:defRPr sz="1500" b="0">
                <a:solidFill>
                  <a:srgbClr val="526879"/>
                </a:solidFill>
                <a:latin typeface="Arial"/>
                <a:ea typeface="Arial"/>
                <a:cs typeface="Arial"/>
              </a:defRPr>
            </a:lvl4pPr>
            <a:lvl5pPr>
              <a:defRPr sz="1500" b="0">
                <a:solidFill>
                  <a:srgbClr val="526879"/>
                </a:solidFill>
                <a:latin typeface="Arial"/>
                <a:ea typeface="Arial"/>
                <a:cs typeface="Arial"/>
              </a:defRPr>
            </a:lvl5pPr>
            <a:lvl6pPr>
              <a:defRPr sz="1500" b="0">
                <a:solidFill>
                  <a:srgbClr val="526879"/>
                </a:solidFill>
                <a:latin typeface="Arial"/>
                <a:ea typeface="Arial"/>
                <a:cs typeface="Arial"/>
              </a:defRPr>
            </a:lvl6pPr>
            <a:lvl7pPr>
              <a:defRPr sz="1500" b="0">
                <a:solidFill>
                  <a:srgbClr val="526879"/>
                </a:solidFill>
                <a:latin typeface="Arial"/>
                <a:ea typeface="Arial"/>
                <a:cs typeface="Arial"/>
              </a:defRPr>
            </a:lvl7pPr>
            <a:lvl8pPr>
              <a:defRPr sz="1500" b="0">
                <a:solidFill>
                  <a:srgbClr val="526879"/>
                </a:solidFill>
                <a:latin typeface="Arial"/>
                <a:ea typeface="Arial"/>
                <a:cs typeface="Arial"/>
              </a:defRPr>
            </a:lvl8pPr>
            <a:lvl9pPr>
              <a:defRPr sz="1500" b="0">
                <a:solidFill>
                  <a:srgbClr val="526879"/>
                </a:solidFill>
                <a:latin typeface="Arial"/>
                <a:ea typeface="Arial"/>
                <a:cs typeface="Arial"/>
              </a:defRPr>
            </a:lvl9pPr>
          </a:lstStyle>
          <a:p xmlns:a="http://schemas.openxmlformats.org/drawingml/2006/main">
            <a:pPr>
              <a:defRPr sz="1500" b="0">
                <a:solidFill>
                  <a:srgbClr val="526879"/>
                </a:solidFill>
                <a:latin typeface="Arial"/>
                <a:ea typeface="Arial"/>
                <a:cs typeface="Arial"/>
              </a:defRPr>
            </a:pPr>
            <a:r>
              <a:rPr sz="1500" b="0">
                <a:solidFill>
                  <a:srgbClr val="526879"/>
                </a:solidFill>
                <a:latin typeface="Arial"/>
                <a:ea typeface="Arial"/>
                <a:cs typeface="Arial"/>
              </a:rPr>
              <a:t>Exploratory associations, not causes. Historical EDA includes 30 duplicates.</a:t>
            </a:r>
          </a:p>
          <a:p xmlns:a="http://schemas.openxmlformats.org/drawingml/2006/main">
            <a:pPr>
              <a:defRPr sz="1500" b="0">
                <a:solidFill>
                  <a:srgbClr val="526879"/>
                </a:solidFill>
                <a:latin typeface="Arial"/>
                <a:ea typeface="Arial"/>
                <a:cs typeface="Arial"/>
              </a:defRPr>
            </a:pPr>
            <a:r>
              <a:rPr sz="1500" b="0">
                <a:solidFill>
                  <a:srgbClr val="526879"/>
                </a:solidFill>
                <a:latin typeface="Arial"/>
                <a:ea typeface="Arial"/>
                <a:cs typeface="Arial"/>
              </a:rPr>
              <a:t>ANOVA does not identify which groups differ. A small p-value need not mean a large effect.</a:t>
            </a:r>
          </a:p>
        </p:txBody>
      </p:sp>
      <p:sp>
        <p:nvSpPr>
          <p:cNvPr id="10" name="">
            <a:extLst xmlns:a="http://schemas.openxmlformats.org/drawingml/2006/main">
              <a:ext uri="{FF2B5EF4-FFF2-40B4-BE49-F238E27FC236}">
                <a16:creationId xmlns:a16="http://schemas.microsoft.com/office/drawing/2014/main" id="{6BCE382D-0C57-4109-B7B2-8DD06E54FF01}"/>
              </a:ext>
            </a:extLst>
          </p:cNvPr>
          <p:cNvSpPr>
            <a:spLocks xmlns:a="http://schemas.openxmlformats.org/drawingml/2006/main" noGrp="1"/>
          </p:cNvSpPr>
          <p:nvPr/>
        </p:nvSpPr>
        <p:spPr>
          <a:xfrm xmlns:a="http://schemas.openxmlformats.org/drawingml/2006/main">
            <a:off x="9829800" y="1733550"/>
            <a:ext cx="1866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122C43"/>
                </a:solidFill>
                <a:latin typeface="Arial"/>
                <a:ea typeface="Arial"/>
                <a:cs typeface="Arial"/>
              </a:defRPr>
            </a:defPPr>
            <a:lvl1pPr>
              <a:defRPr sz="2025" b="1">
                <a:solidFill>
                  <a:srgbClr val="122C43"/>
                </a:solidFill>
                <a:latin typeface="Arial"/>
                <a:ea typeface="Arial"/>
                <a:cs typeface="Arial"/>
              </a:defRPr>
            </a:lvl1pPr>
            <a:lvl2pPr>
              <a:defRPr sz="2025" b="1">
                <a:solidFill>
                  <a:srgbClr val="122C43"/>
                </a:solidFill>
                <a:latin typeface="Arial"/>
                <a:ea typeface="Arial"/>
                <a:cs typeface="Arial"/>
              </a:defRPr>
            </a:lvl2pPr>
            <a:lvl3pPr>
              <a:defRPr sz="2025" b="1">
                <a:solidFill>
                  <a:srgbClr val="122C43"/>
                </a:solidFill>
                <a:latin typeface="Arial"/>
                <a:ea typeface="Arial"/>
                <a:cs typeface="Arial"/>
              </a:defRPr>
            </a:lvl3pPr>
            <a:lvl4pPr>
              <a:defRPr sz="2025" b="1">
                <a:solidFill>
                  <a:srgbClr val="122C43"/>
                </a:solidFill>
                <a:latin typeface="Arial"/>
                <a:ea typeface="Arial"/>
                <a:cs typeface="Arial"/>
              </a:defRPr>
            </a:lvl4pPr>
            <a:lvl5pPr>
              <a:defRPr sz="2025" b="1">
                <a:solidFill>
                  <a:srgbClr val="122C43"/>
                </a:solidFill>
                <a:latin typeface="Arial"/>
                <a:ea typeface="Arial"/>
                <a:cs typeface="Arial"/>
              </a:defRPr>
            </a:lvl5pPr>
            <a:lvl6pPr>
              <a:defRPr sz="2025" b="1">
                <a:solidFill>
                  <a:srgbClr val="122C43"/>
                </a:solidFill>
                <a:latin typeface="Arial"/>
                <a:ea typeface="Arial"/>
                <a:cs typeface="Arial"/>
              </a:defRPr>
            </a:lvl6pPr>
            <a:lvl7pPr>
              <a:defRPr sz="2025" b="1">
                <a:solidFill>
                  <a:srgbClr val="122C43"/>
                </a:solidFill>
                <a:latin typeface="Arial"/>
                <a:ea typeface="Arial"/>
                <a:cs typeface="Arial"/>
              </a:defRPr>
            </a:lvl7pPr>
            <a:lvl8pPr>
              <a:defRPr sz="2025" b="1">
                <a:solidFill>
                  <a:srgbClr val="122C43"/>
                </a:solidFill>
                <a:latin typeface="Arial"/>
                <a:ea typeface="Arial"/>
                <a:cs typeface="Arial"/>
              </a:defRPr>
            </a:lvl8pPr>
            <a:lvl9pPr>
              <a:defRPr sz="2025" b="1">
                <a:solidFill>
                  <a:srgbClr val="122C43"/>
                </a:solidFill>
                <a:latin typeface="Arial"/>
                <a:ea typeface="Arial"/>
                <a:cs typeface="Arial"/>
              </a:defRPr>
            </a:lvl9pPr>
          </a:lstStyle>
          <a:p xmlns:a="http://schemas.openxmlformats.org/drawingml/2006/main">
            <a:pPr>
              <a:defRPr sz="2025" b="1">
                <a:solidFill>
                  <a:srgbClr val="122C43"/>
                </a:solidFill>
                <a:latin typeface="Arial"/>
                <a:ea typeface="Arial"/>
                <a:cs typeface="Arial"/>
              </a:defRPr>
            </a:pPr>
            <a:r>
              <a:rPr sz="2025" b="1">
                <a:solidFill>
                  <a:srgbClr val="122C43"/>
                </a:solidFill>
                <a:latin typeface="Arial"/>
                <a:ea typeface="Arial"/>
                <a:cs typeface="Arial"/>
              </a:rPr>
              <a:t>Effect sizes</a:t>
            </a:r>
          </a:p>
        </p:txBody>
      </p:sp>
      <p:sp>
        <p:nvSpPr>
          <p:cNvPr id="11" name="">
            <a:extLst xmlns:a="http://schemas.openxmlformats.org/drawingml/2006/main">
              <a:ext uri="{FF2B5EF4-FFF2-40B4-BE49-F238E27FC236}">
                <a16:creationId xmlns:a16="http://schemas.microsoft.com/office/drawing/2014/main" id="{2FAFDBBB-4FCB-4E4D-B533-5381E3FC22A3}"/>
              </a:ext>
            </a:extLst>
          </p:cNvPr>
          <p:cNvSpPr>
            <a:spLocks xmlns:a="http://schemas.openxmlformats.org/drawingml/2006/main" noGrp="1"/>
          </p:cNvSpPr>
          <p:nvPr/>
        </p:nvSpPr>
        <p:spPr>
          <a:xfrm xmlns:a="http://schemas.openxmlformats.org/drawingml/2006/main">
            <a:off x="9829800" y="2238375"/>
            <a:ext cx="18669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087E8B"/>
                </a:solidFill>
                <a:latin typeface="Arial"/>
                <a:ea typeface="Arial"/>
                <a:cs typeface="Arial"/>
              </a:defRPr>
            </a:defPPr>
            <a:lvl1pPr>
              <a:defRPr sz="3225" b="1">
                <a:solidFill>
                  <a:srgbClr val="087E8B"/>
                </a:solidFill>
                <a:latin typeface="Arial"/>
                <a:ea typeface="Arial"/>
                <a:cs typeface="Arial"/>
              </a:defRPr>
            </a:lvl1pPr>
            <a:lvl2pPr>
              <a:defRPr sz="3225" b="1">
                <a:solidFill>
                  <a:srgbClr val="087E8B"/>
                </a:solidFill>
                <a:latin typeface="Arial"/>
                <a:ea typeface="Arial"/>
                <a:cs typeface="Arial"/>
              </a:defRPr>
            </a:lvl2pPr>
            <a:lvl3pPr>
              <a:defRPr sz="3225" b="1">
                <a:solidFill>
                  <a:srgbClr val="087E8B"/>
                </a:solidFill>
                <a:latin typeface="Arial"/>
                <a:ea typeface="Arial"/>
                <a:cs typeface="Arial"/>
              </a:defRPr>
            </a:lvl3pPr>
            <a:lvl4pPr>
              <a:defRPr sz="3225" b="1">
                <a:solidFill>
                  <a:srgbClr val="087E8B"/>
                </a:solidFill>
                <a:latin typeface="Arial"/>
                <a:ea typeface="Arial"/>
                <a:cs typeface="Arial"/>
              </a:defRPr>
            </a:lvl4pPr>
            <a:lvl5pPr>
              <a:defRPr sz="3225" b="1">
                <a:solidFill>
                  <a:srgbClr val="087E8B"/>
                </a:solidFill>
                <a:latin typeface="Arial"/>
                <a:ea typeface="Arial"/>
                <a:cs typeface="Arial"/>
              </a:defRPr>
            </a:lvl5pPr>
            <a:lvl6pPr>
              <a:defRPr sz="3225" b="1">
                <a:solidFill>
                  <a:srgbClr val="087E8B"/>
                </a:solidFill>
                <a:latin typeface="Arial"/>
                <a:ea typeface="Arial"/>
                <a:cs typeface="Arial"/>
              </a:defRPr>
            </a:lvl6pPr>
            <a:lvl7pPr>
              <a:defRPr sz="3225" b="1">
                <a:solidFill>
                  <a:srgbClr val="087E8B"/>
                </a:solidFill>
                <a:latin typeface="Arial"/>
                <a:ea typeface="Arial"/>
                <a:cs typeface="Arial"/>
              </a:defRPr>
            </a:lvl7pPr>
            <a:lvl8pPr>
              <a:defRPr sz="3225" b="1">
                <a:solidFill>
                  <a:srgbClr val="087E8B"/>
                </a:solidFill>
                <a:latin typeface="Arial"/>
                <a:ea typeface="Arial"/>
                <a:cs typeface="Arial"/>
              </a:defRPr>
            </a:lvl8pPr>
            <a:lvl9pPr>
              <a:defRPr sz="3225" b="1">
                <a:solidFill>
                  <a:srgbClr val="087E8B"/>
                </a:solidFill>
                <a:latin typeface="Arial"/>
                <a:ea typeface="Arial"/>
                <a:cs typeface="Arial"/>
              </a:defRPr>
            </a:lvl9pPr>
          </a:lstStyle>
          <a:p xmlns:a="http://schemas.openxmlformats.org/drawingml/2006/main">
            <a:pPr>
              <a:defRPr sz="3225" b="1">
                <a:solidFill>
                  <a:srgbClr val="087E8B"/>
                </a:solidFill>
                <a:latin typeface="Arial"/>
                <a:ea typeface="Arial"/>
                <a:cs typeface="Arial"/>
              </a:defRPr>
            </a:pPr>
            <a:r>
              <a:rPr sz="3225" b="1">
                <a:solidFill>
                  <a:srgbClr val="087E8B"/>
                </a:solidFill>
                <a:latin typeface="Arial"/>
                <a:ea typeface="Arial"/>
                <a:cs typeface="Arial"/>
              </a:rPr>
              <a:t>0.057</a:t>
            </a:r>
          </a:p>
        </p:txBody>
      </p:sp>
      <p:sp>
        <p:nvSpPr>
          <p:cNvPr id="12" name="">
            <a:extLst xmlns:a="http://schemas.openxmlformats.org/drawingml/2006/main">
              <a:ext uri="{FF2B5EF4-FFF2-40B4-BE49-F238E27FC236}">
                <a16:creationId xmlns:a16="http://schemas.microsoft.com/office/drawing/2014/main" id="{65C38F84-F65B-4406-97CC-ECF9CC263EA8}"/>
              </a:ext>
            </a:extLst>
          </p:cNvPr>
          <p:cNvSpPr>
            <a:spLocks xmlns:a="http://schemas.openxmlformats.org/drawingml/2006/main" noGrp="1"/>
          </p:cNvSpPr>
          <p:nvPr/>
        </p:nvSpPr>
        <p:spPr>
          <a:xfrm xmlns:a="http://schemas.openxmlformats.org/drawingml/2006/main">
            <a:off x="9829800" y="2819400"/>
            <a:ext cx="18669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17334A"/>
                </a:solidFill>
                <a:latin typeface="Arial"/>
                <a:ea typeface="Arial"/>
                <a:cs typeface="Arial"/>
              </a:defRPr>
            </a:defPPr>
            <a:lvl1pPr>
              <a:defRPr sz="1725" b="0">
                <a:solidFill>
                  <a:srgbClr val="17334A"/>
                </a:solidFill>
                <a:latin typeface="Arial"/>
                <a:ea typeface="Arial"/>
                <a:cs typeface="Arial"/>
              </a:defRPr>
            </a:lvl1pPr>
            <a:lvl2pPr>
              <a:defRPr sz="1725" b="0">
                <a:solidFill>
                  <a:srgbClr val="17334A"/>
                </a:solidFill>
                <a:latin typeface="Arial"/>
                <a:ea typeface="Arial"/>
                <a:cs typeface="Arial"/>
              </a:defRPr>
            </a:lvl2pPr>
            <a:lvl3pPr>
              <a:defRPr sz="1725" b="0">
                <a:solidFill>
                  <a:srgbClr val="17334A"/>
                </a:solidFill>
                <a:latin typeface="Arial"/>
                <a:ea typeface="Arial"/>
                <a:cs typeface="Arial"/>
              </a:defRPr>
            </a:lvl3pPr>
            <a:lvl4pPr>
              <a:defRPr sz="1725" b="0">
                <a:solidFill>
                  <a:srgbClr val="17334A"/>
                </a:solidFill>
                <a:latin typeface="Arial"/>
                <a:ea typeface="Arial"/>
                <a:cs typeface="Arial"/>
              </a:defRPr>
            </a:lvl4pPr>
            <a:lvl5pPr>
              <a:defRPr sz="1725" b="0">
                <a:solidFill>
                  <a:srgbClr val="17334A"/>
                </a:solidFill>
                <a:latin typeface="Arial"/>
                <a:ea typeface="Arial"/>
                <a:cs typeface="Arial"/>
              </a:defRPr>
            </a:lvl5pPr>
            <a:lvl6pPr>
              <a:defRPr sz="1725" b="0">
                <a:solidFill>
                  <a:srgbClr val="17334A"/>
                </a:solidFill>
                <a:latin typeface="Arial"/>
                <a:ea typeface="Arial"/>
                <a:cs typeface="Arial"/>
              </a:defRPr>
            </a:lvl6pPr>
            <a:lvl7pPr>
              <a:defRPr sz="1725" b="0">
                <a:solidFill>
                  <a:srgbClr val="17334A"/>
                </a:solidFill>
                <a:latin typeface="Arial"/>
                <a:ea typeface="Arial"/>
                <a:cs typeface="Arial"/>
              </a:defRPr>
            </a:lvl7pPr>
            <a:lvl8pPr>
              <a:defRPr sz="1725" b="0">
                <a:solidFill>
                  <a:srgbClr val="17334A"/>
                </a:solidFill>
                <a:latin typeface="Arial"/>
                <a:ea typeface="Arial"/>
                <a:cs typeface="Arial"/>
              </a:defRPr>
            </a:lvl8pPr>
            <a:lvl9pPr>
              <a:defRPr sz="1725" b="0">
                <a:solidFill>
                  <a:srgbClr val="17334A"/>
                </a:solidFill>
                <a:latin typeface="Arial"/>
                <a:ea typeface="Arial"/>
                <a:cs typeface="Arial"/>
              </a:defRPr>
            </a:lvl9pPr>
          </a:lstStyle>
          <a:p xmlns:a="http://schemas.openxmlformats.org/drawingml/2006/main">
            <a:pPr>
              <a:defRPr sz="1725" b="0">
                <a:solidFill>
                  <a:srgbClr val="17334A"/>
                </a:solidFill>
                <a:latin typeface="Arial"/>
                <a:ea typeface="Arial"/>
                <a:cs typeface="Arial"/>
              </a:defRPr>
            </a:pPr>
            <a:r>
              <a:rPr sz="1725" b="0">
                <a:solidFill>
                  <a:srgbClr val="17334A"/>
                </a:solidFill>
                <a:latin typeface="Arial"/>
                <a:ea typeface="Arial"/>
                <a:cs typeface="Arial"/>
              </a:rPr>
              <a:t>Travel</a:t>
            </a:r>
          </a:p>
          <a:p xmlns:a="http://schemas.openxmlformats.org/drawingml/2006/main">
            <a:pPr>
              <a:defRPr sz="1725" b="0">
                <a:solidFill>
                  <a:srgbClr val="17334A"/>
                </a:solidFill>
                <a:latin typeface="Arial"/>
                <a:ea typeface="Arial"/>
                <a:cs typeface="Arial"/>
              </a:defRPr>
            </a:pPr>
            <a:r>
              <a:rPr sz="1725" b="0">
                <a:solidFill>
                  <a:srgbClr val="17334A"/>
                </a:solidFill>
                <a:latin typeface="Arial"/>
                <a:ea typeface="Arial"/>
                <a:cs typeface="Arial"/>
              </a:rPr>
              <a:t>Cramér’s V</a:t>
            </a:r>
          </a:p>
        </p:txBody>
      </p:sp>
      <p:sp>
        <p:nvSpPr>
          <p:cNvPr id="13" name="">
            <a:extLst xmlns:a="http://schemas.openxmlformats.org/drawingml/2006/main">
              <a:ext uri="{FF2B5EF4-FFF2-40B4-BE49-F238E27FC236}">
                <a16:creationId xmlns:a16="http://schemas.microsoft.com/office/drawing/2014/main" id="{B7F806E4-0C2C-4F0C-9B12-5471F4C0638B}"/>
              </a:ext>
            </a:extLst>
          </p:cNvPr>
          <p:cNvSpPr>
            <a:spLocks xmlns:a="http://schemas.openxmlformats.org/drawingml/2006/main" noGrp="1"/>
          </p:cNvSpPr>
          <p:nvPr/>
        </p:nvSpPr>
        <p:spPr>
          <a:xfrm xmlns:a="http://schemas.openxmlformats.org/drawingml/2006/main">
            <a:off x="9829800" y="3600450"/>
            <a:ext cx="18669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087E8B"/>
                </a:solidFill>
                <a:latin typeface="Arial"/>
                <a:ea typeface="Arial"/>
                <a:cs typeface="Arial"/>
              </a:defRPr>
            </a:defPPr>
            <a:lvl1pPr>
              <a:defRPr sz="3225" b="1">
                <a:solidFill>
                  <a:srgbClr val="087E8B"/>
                </a:solidFill>
                <a:latin typeface="Arial"/>
                <a:ea typeface="Arial"/>
                <a:cs typeface="Arial"/>
              </a:defRPr>
            </a:lvl1pPr>
            <a:lvl2pPr>
              <a:defRPr sz="3225" b="1">
                <a:solidFill>
                  <a:srgbClr val="087E8B"/>
                </a:solidFill>
                <a:latin typeface="Arial"/>
                <a:ea typeface="Arial"/>
                <a:cs typeface="Arial"/>
              </a:defRPr>
            </a:lvl2pPr>
            <a:lvl3pPr>
              <a:defRPr sz="3225" b="1">
                <a:solidFill>
                  <a:srgbClr val="087E8B"/>
                </a:solidFill>
                <a:latin typeface="Arial"/>
                <a:ea typeface="Arial"/>
                <a:cs typeface="Arial"/>
              </a:defRPr>
            </a:lvl3pPr>
            <a:lvl4pPr>
              <a:defRPr sz="3225" b="1">
                <a:solidFill>
                  <a:srgbClr val="087E8B"/>
                </a:solidFill>
                <a:latin typeface="Arial"/>
                <a:ea typeface="Arial"/>
                <a:cs typeface="Arial"/>
              </a:defRPr>
            </a:lvl4pPr>
            <a:lvl5pPr>
              <a:defRPr sz="3225" b="1">
                <a:solidFill>
                  <a:srgbClr val="087E8B"/>
                </a:solidFill>
                <a:latin typeface="Arial"/>
                <a:ea typeface="Arial"/>
                <a:cs typeface="Arial"/>
              </a:defRPr>
            </a:lvl5pPr>
            <a:lvl6pPr>
              <a:defRPr sz="3225" b="1">
                <a:solidFill>
                  <a:srgbClr val="087E8B"/>
                </a:solidFill>
                <a:latin typeface="Arial"/>
                <a:ea typeface="Arial"/>
                <a:cs typeface="Arial"/>
              </a:defRPr>
            </a:lvl6pPr>
            <a:lvl7pPr>
              <a:defRPr sz="3225" b="1">
                <a:solidFill>
                  <a:srgbClr val="087E8B"/>
                </a:solidFill>
                <a:latin typeface="Arial"/>
                <a:ea typeface="Arial"/>
                <a:cs typeface="Arial"/>
              </a:defRPr>
            </a:lvl7pPr>
            <a:lvl8pPr>
              <a:defRPr sz="3225" b="1">
                <a:solidFill>
                  <a:srgbClr val="087E8B"/>
                </a:solidFill>
                <a:latin typeface="Arial"/>
                <a:ea typeface="Arial"/>
                <a:cs typeface="Arial"/>
              </a:defRPr>
            </a:lvl8pPr>
            <a:lvl9pPr>
              <a:defRPr sz="3225" b="1">
                <a:solidFill>
                  <a:srgbClr val="087E8B"/>
                </a:solidFill>
                <a:latin typeface="Arial"/>
                <a:ea typeface="Arial"/>
                <a:cs typeface="Arial"/>
              </a:defRPr>
            </a:lvl9pPr>
          </a:lstStyle>
          <a:p xmlns:a="http://schemas.openxmlformats.org/drawingml/2006/main">
            <a:pPr>
              <a:defRPr sz="3225" b="1">
                <a:solidFill>
                  <a:srgbClr val="087E8B"/>
                </a:solidFill>
                <a:latin typeface="Arial"/>
                <a:ea typeface="Arial"/>
                <a:cs typeface="Arial"/>
              </a:defRPr>
            </a:pPr>
            <a:r>
              <a:rPr sz="3225" b="1">
                <a:solidFill>
                  <a:srgbClr val="087E8B"/>
                </a:solidFill>
                <a:latin typeface="Arial"/>
                <a:ea typeface="Arial"/>
                <a:cs typeface="Arial"/>
              </a:rPr>
              <a:t>0.046</a:t>
            </a:r>
          </a:p>
        </p:txBody>
      </p:sp>
      <p:sp>
        <p:nvSpPr>
          <p:cNvPr id="14" name="">
            <a:extLst xmlns:a="http://schemas.openxmlformats.org/drawingml/2006/main">
              <a:ext uri="{FF2B5EF4-FFF2-40B4-BE49-F238E27FC236}">
                <a16:creationId xmlns:a16="http://schemas.microsoft.com/office/drawing/2014/main" id="{162C94BE-1DF9-44DE-8C26-B631D2DB2458}"/>
              </a:ext>
            </a:extLst>
          </p:cNvPr>
          <p:cNvSpPr>
            <a:spLocks xmlns:a="http://schemas.openxmlformats.org/drawingml/2006/main" noGrp="1"/>
          </p:cNvSpPr>
          <p:nvPr/>
        </p:nvSpPr>
        <p:spPr>
          <a:xfrm xmlns:a="http://schemas.openxmlformats.org/drawingml/2006/main">
            <a:off x="9829800" y="4181475"/>
            <a:ext cx="18669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17334A"/>
                </a:solidFill>
                <a:latin typeface="Arial"/>
                <a:ea typeface="Arial"/>
                <a:cs typeface="Arial"/>
              </a:defRPr>
            </a:defPPr>
            <a:lvl1pPr>
              <a:defRPr sz="1725" b="0">
                <a:solidFill>
                  <a:srgbClr val="17334A"/>
                </a:solidFill>
                <a:latin typeface="Arial"/>
                <a:ea typeface="Arial"/>
                <a:cs typeface="Arial"/>
              </a:defRPr>
            </a:lvl1pPr>
            <a:lvl2pPr>
              <a:defRPr sz="1725" b="0">
                <a:solidFill>
                  <a:srgbClr val="17334A"/>
                </a:solidFill>
                <a:latin typeface="Arial"/>
                <a:ea typeface="Arial"/>
                <a:cs typeface="Arial"/>
              </a:defRPr>
            </a:lvl2pPr>
            <a:lvl3pPr>
              <a:defRPr sz="1725" b="0">
                <a:solidFill>
                  <a:srgbClr val="17334A"/>
                </a:solidFill>
                <a:latin typeface="Arial"/>
                <a:ea typeface="Arial"/>
                <a:cs typeface="Arial"/>
              </a:defRPr>
            </a:lvl3pPr>
            <a:lvl4pPr>
              <a:defRPr sz="1725" b="0">
                <a:solidFill>
                  <a:srgbClr val="17334A"/>
                </a:solidFill>
                <a:latin typeface="Arial"/>
                <a:ea typeface="Arial"/>
                <a:cs typeface="Arial"/>
              </a:defRPr>
            </a:lvl4pPr>
            <a:lvl5pPr>
              <a:defRPr sz="1725" b="0">
                <a:solidFill>
                  <a:srgbClr val="17334A"/>
                </a:solidFill>
                <a:latin typeface="Arial"/>
                <a:ea typeface="Arial"/>
                <a:cs typeface="Arial"/>
              </a:defRPr>
            </a:lvl5pPr>
            <a:lvl6pPr>
              <a:defRPr sz="1725" b="0">
                <a:solidFill>
                  <a:srgbClr val="17334A"/>
                </a:solidFill>
                <a:latin typeface="Arial"/>
                <a:ea typeface="Arial"/>
                <a:cs typeface="Arial"/>
              </a:defRPr>
            </a:lvl6pPr>
            <a:lvl7pPr>
              <a:defRPr sz="1725" b="0">
                <a:solidFill>
                  <a:srgbClr val="17334A"/>
                </a:solidFill>
                <a:latin typeface="Arial"/>
                <a:ea typeface="Arial"/>
                <a:cs typeface="Arial"/>
              </a:defRPr>
            </a:lvl7pPr>
            <a:lvl8pPr>
              <a:defRPr sz="1725" b="0">
                <a:solidFill>
                  <a:srgbClr val="17334A"/>
                </a:solidFill>
                <a:latin typeface="Arial"/>
                <a:ea typeface="Arial"/>
                <a:cs typeface="Arial"/>
              </a:defRPr>
            </a:lvl8pPr>
            <a:lvl9pPr>
              <a:defRPr sz="1725" b="0">
                <a:solidFill>
                  <a:srgbClr val="17334A"/>
                </a:solidFill>
                <a:latin typeface="Arial"/>
                <a:ea typeface="Arial"/>
                <a:cs typeface="Arial"/>
              </a:defRPr>
            </a:lvl9pPr>
          </a:lstStyle>
          <a:p xmlns:a="http://schemas.openxmlformats.org/drawingml/2006/main">
            <a:pPr>
              <a:defRPr sz="1725" b="0">
                <a:solidFill>
                  <a:srgbClr val="17334A"/>
                </a:solidFill>
                <a:latin typeface="Arial"/>
                <a:ea typeface="Arial"/>
                <a:cs typeface="Arial"/>
              </a:defRPr>
            </a:pPr>
            <a:r>
              <a:rPr sz="1725" b="0">
                <a:solidFill>
                  <a:srgbClr val="17334A"/>
                </a:solidFill>
                <a:latin typeface="Arial"/>
                <a:ea typeface="Arial"/>
                <a:cs typeface="Arial"/>
              </a:rPr>
              <a:t>Department</a:t>
            </a:r>
          </a:p>
          <a:p xmlns:a="http://schemas.openxmlformats.org/drawingml/2006/main">
            <a:pPr>
              <a:defRPr sz="1725" b="0">
                <a:solidFill>
                  <a:srgbClr val="17334A"/>
                </a:solidFill>
                <a:latin typeface="Arial"/>
                <a:ea typeface="Arial"/>
                <a:cs typeface="Arial"/>
              </a:defRPr>
            </a:pPr>
            <a:r>
              <a:rPr sz="1725" b="0">
                <a:solidFill>
                  <a:srgbClr val="17334A"/>
                </a:solidFill>
                <a:latin typeface="Arial"/>
                <a:ea typeface="Arial"/>
                <a:cs typeface="Arial"/>
              </a:rPr>
              <a:t>Cramér’s V</a:t>
            </a:r>
          </a:p>
        </p:txBody>
      </p:sp>
      <p:sp>
        <p:nvSpPr>
          <p:cNvPr id="15" name="">
            <a:extLst xmlns:a="http://schemas.openxmlformats.org/drawingml/2006/main">
              <a:ext uri="{FF2B5EF4-FFF2-40B4-BE49-F238E27FC236}">
                <a16:creationId xmlns:a16="http://schemas.microsoft.com/office/drawing/2014/main" id="{2A15B76E-A893-4F70-BF4B-0A3FBAA9BDD5}"/>
              </a:ext>
            </a:extLst>
          </p:cNvPr>
          <p:cNvSpPr>
            <a:spLocks xmlns:a="http://schemas.openxmlformats.org/drawingml/2006/main" noGrp="1"/>
          </p:cNvSpPr>
          <p:nvPr/>
        </p:nvSpPr>
        <p:spPr>
          <a:xfrm xmlns:a="http://schemas.openxmlformats.org/drawingml/2006/main">
            <a:off x="9829800" y="4981575"/>
            <a:ext cx="18669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26879"/>
                </a:solidFill>
                <a:latin typeface="Arial"/>
                <a:ea typeface="Arial"/>
                <a:cs typeface="Arial"/>
              </a:defRPr>
            </a:defPPr>
            <a:lvl1pPr>
              <a:defRPr sz="1650" b="0">
                <a:solidFill>
                  <a:srgbClr val="526879"/>
                </a:solidFill>
                <a:latin typeface="Arial"/>
                <a:ea typeface="Arial"/>
                <a:cs typeface="Arial"/>
              </a:defRPr>
            </a:lvl1pPr>
            <a:lvl2pPr>
              <a:defRPr sz="1650" b="0">
                <a:solidFill>
                  <a:srgbClr val="526879"/>
                </a:solidFill>
                <a:latin typeface="Arial"/>
                <a:ea typeface="Arial"/>
                <a:cs typeface="Arial"/>
              </a:defRPr>
            </a:lvl2pPr>
            <a:lvl3pPr>
              <a:defRPr sz="1650" b="0">
                <a:solidFill>
                  <a:srgbClr val="526879"/>
                </a:solidFill>
                <a:latin typeface="Arial"/>
                <a:ea typeface="Arial"/>
                <a:cs typeface="Arial"/>
              </a:defRPr>
            </a:lvl3pPr>
            <a:lvl4pPr>
              <a:defRPr sz="1650" b="0">
                <a:solidFill>
                  <a:srgbClr val="526879"/>
                </a:solidFill>
                <a:latin typeface="Arial"/>
                <a:ea typeface="Arial"/>
                <a:cs typeface="Arial"/>
              </a:defRPr>
            </a:lvl4pPr>
            <a:lvl5pPr>
              <a:defRPr sz="1650" b="0">
                <a:solidFill>
                  <a:srgbClr val="526879"/>
                </a:solidFill>
                <a:latin typeface="Arial"/>
                <a:ea typeface="Arial"/>
                <a:cs typeface="Arial"/>
              </a:defRPr>
            </a:lvl5pPr>
            <a:lvl6pPr>
              <a:defRPr sz="1650" b="0">
                <a:solidFill>
                  <a:srgbClr val="526879"/>
                </a:solidFill>
                <a:latin typeface="Arial"/>
                <a:ea typeface="Arial"/>
                <a:cs typeface="Arial"/>
              </a:defRPr>
            </a:lvl6pPr>
            <a:lvl7pPr>
              <a:defRPr sz="1650" b="0">
                <a:solidFill>
                  <a:srgbClr val="526879"/>
                </a:solidFill>
                <a:latin typeface="Arial"/>
                <a:ea typeface="Arial"/>
                <a:cs typeface="Arial"/>
              </a:defRPr>
            </a:lvl7pPr>
            <a:lvl8pPr>
              <a:defRPr sz="1650" b="0">
                <a:solidFill>
                  <a:srgbClr val="526879"/>
                </a:solidFill>
                <a:latin typeface="Arial"/>
                <a:ea typeface="Arial"/>
                <a:cs typeface="Arial"/>
              </a:defRPr>
            </a:lvl8pPr>
            <a:lvl9pPr>
              <a:defRPr sz="1650" b="0">
                <a:solidFill>
                  <a:srgbClr val="526879"/>
                </a:solidFill>
                <a:latin typeface="Arial"/>
                <a:ea typeface="Arial"/>
                <a:cs typeface="Arial"/>
              </a:defRPr>
            </a:lvl9pPr>
          </a:lstStyle>
          <a:p xmlns:a="http://schemas.openxmlformats.org/drawingml/2006/main">
            <a:pPr>
              <a:defRPr sz="1650" b="0">
                <a:solidFill>
                  <a:srgbClr val="526879"/>
                </a:solidFill>
                <a:latin typeface="Arial"/>
                <a:ea typeface="Arial"/>
                <a:cs typeface="Arial"/>
              </a:defRPr>
            </a:pPr>
            <a:r>
              <a:rPr sz="1650" b="0">
                <a:solidFill>
                  <a:srgbClr val="526879"/>
                </a:solidFill>
                <a:latin typeface="Arial"/>
                <a:ea typeface="Arial"/>
                <a:cs typeface="Arial"/>
              </a:rPr>
              <a:t>Both associations</a:t>
            </a:r>
          </a:p>
          <a:p xmlns:a="http://schemas.openxmlformats.org/drawingml/2006/main">
            <a:pPr>
              <a:defRPr sz="1650" b="0">
                <a:solidFill>
                  <a:srgbClr val="526879"/>
                </a:solidFill>
                <a:latin typeface="Arial"/>
                <a:ea typeface="Arial"/>
                <a:cs typeface="Arial"/>
              </a:defRPr>
            </a:pPr>
            <a:r>
              <a:rPr sz="1650" b="0">
                <a:solidFill>
                  <a:srgbClr val="526879"/>
                </a:solidFill>
                <a:latin typeface="Arial"/>
                <a:ea typeface="Arial"/>
                <a:cs typeface="Arial"/>
              </a:rPr>
              <a:t>are weak.</a:t>
            </a:r>
          </a:p>
        </p:txBody>
      </p:sp>
    </p:spTree>
    <p:extLst>
      <p:ext uri="{BB962C8B-B14F-4D97-AF65-F5344CB8AC3E}">
        <p14:creationId xmlns:p14="http://schemas.microsoft.com/office/powerpoint/2010/main" val="110591150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F5B7FE65-6540-4BA3-85CF-2D4B3423ED2A}"/>
              </a:ext>
            </a:extLst>
          </p:cNvPr>
          <p:cNvSpPr>
            <a:spLocks xmlns:a="http://schemas.openxmlformats.org/drawingml/2006/main" noGrp="1"/>
          </p:cNvSpPr>
          <p:nvPr/>
        </p:nvSpPr>
        <p:spPr>
          <a:xfrm xmlns:a="http://schemas.openxmlformats.org/drawingml/2006/main">
            <a:off x="495300" y="2476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087E8B"/>
                </a:solidFill>
                <a:latin typeface="Arial"/>
                <a:ea typeface="Arial"/>
                <a:cs typeface="Arial"/>
              </a:defRPr>
            </a:defPPr>
            <a:lvl1pPr>
              <a:defRPr sz="1275" b="1">
                <a:solidFill>
                  <a:srgbClr val="087E8B"/>
                </a:solidFill>
                <a:latin typeface="Arial"/>
                <a:ea typeface="Arial"/>
                <a:cs typeface="Arial"/>
              </a:defRPr>
            </a:lvl1pPr>
            <a:lvl2pPr>
              <a:defRPr sz="1275" b="1">
                <a:solidFill>
                  <a:srgbClr val="087E8B"/>
                </a:solidFill>
                <a:latin typeface="Arial"/>
                <a:ea typeface="Arial"/>
                <a:cs typeface="Arial"/>
              </a:defRPr>
            </a:lvl2pPr>
            <a:lvl3pPr>
              <a:defRPr sz="1275" b="1">
                <a:solidFill>
                  <a:srgbClr val="087E8B"/>
                </a:solidFill>
                <a:latin typeface="Arial"/>
                <a:ea typeface="Arial"/>
                <a:cs typeface="Arial"/>
              </a:defRPr>
            </a:lvl3pPr>
            <a:lvl4pPr>
              <a:defRPr sz="1275" b="1">
                <a:solidFill>
                  <a:srgbClr val="087E8B"/>
                </a:solidFill>
                <a:latin typeface="Arial"/>
                <a:ea typeface="Arial"/>
                <a:cs typeface="Arial"/>
              </a:defRPr>
            </a:lvl4pPr>
            <a:lvl5pPr>
              <a:defRPr sz="1275" b="1">
                <a:solidFill>
                  <a:srgbClr val="087E8B"/>
                </a:solidFill>
                <a:latin typeface="Arial"/>
                <a:ea typeface="Arial"/>
                <a:cs typeface="Arial"/>
              </a:defRPr>
            </a:lvl5pPr>
            <a:lvl6pPr>
              <a:defRPr sz="1275" b="1">
                <a:solidFill>
                  <a:srgbClr val="087E8B"/>
                </a:solidFill>
                <a:latin typeface="Arial"/>
                <a:ea typeface="Arial"/>
                <a:cs typeface="Arial"/>
              </a:defRPr>
            </a:lvl6pPr>
            <a:lvl7pPr>
              <a:defRPr sz="1275" b="1">
                <a:solidFill>
                  <a:srgbClr val="087E8B"/>
                </a:solidFill>
                <a:latin typeface="Arial"/>
                <a:ea typeface="Arial"/>
                <a:cs typeface="Arial"/>
              </a:defRPr>
            </a:lvl7pPr>
            <a:lvl8pPr>
              <a:defRPr sz="1275" b="1">
                <a:solidFill>
                  <a:srgbClr val="087E8B"/>
                </a:solidFill>
                <a:latin typeface="Arial"/>
                <a:ea typeface="Arial"/>
                <a:cs typeface="Arial"/>
              </a:defRPr>
            </a:lvl8pPr>
            <a:lvl9pPr>
              <a:defRPr sz="1275" b="1">
                <a:solidFill>
                  <a:srgbClr val="087E8B"/>
                </a:solidFill>
                <a:latin typeface="Arial"/>
                <a:ea typeface="Arial"/>
                <a:cs typeface="Arial"/>
              </a:defRPr>
            </a:lvl9pPr>
          </a:lstStyle>
          <a:p xmlns:a="http://schemas.openxmlformats.org/drawingml/2006/main">
            <a:pPr>
              <a:defRPr sz="1275" b="1">
                <a:solidFill>
                  <a:srgbClr val="087E8B"/>
                </a:solidFill>
                <a:latin typeface="Arial"/>
                <a:ea typeface="Arial"/>
                <a:cs typeface="Arial"/>
              </a:defRPr>
            </a:pPr>
            <a:r>
              <a:rPr sz="1275" b="1">
                <a:solidFill>
                  <a:srgbClr val="087E8B"/>
                </a:solidFill>
                <a:latin typeface="Arial"/>
                <a:ea typeface="Arial"/>
                <a:cs typeface="Arial"/>
              </a:rPr>
              <a:t>EMPLOYEE ATTRITION</a:t>
            </a:r>
          </a:p>
        </p:txBody>
      </p:sp>
      <p:sp>
        <p:nvSpPr>
          <p:cNvPr id="3" name="">
            <a:extLst xmlns:a="http://schemas.openxmlformats.org/drawingml/2006/main">
              <a:ext uri="{FF2B5EF4-FFF2-40B4-BE49-F238E27FC236}">
                <a16:creationId xmlns:a16="http://schemas.microsoft.com/office/drawing/2014/main" id="{EBB80063-2A2D-4CEC-B3F2-000CA848318E}"/>
              </a:ext>
            </a:extLst>
          </p:cNvPr>
          <p:cNvSpPr>
            <a:spLocks xmlns:a="http://schemas.openxmlformats.org/drawingml/2006/main" noGrp="1"/>
          </p:cNvSpPr>
          <p:nvPr/>
        </p:nvSpPr>
        <p:spPr>
          <a:xfrm xmlns:a="http://schemas.openxmlformats.org/drawingml/2006/main">
            <a:off x="495300" y="619125"/>
            <a:ext cx="11201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22C43"/>
                </a:solidFill>
                <a:latin typeface="Arial"/>
                <a:ea typeface="Arial"/>
                <a:cs typeface="Arial"/>
              </a:defRPr>
            </a:defPPr>
            <a:lvl1pPr>
              <a:defRPr sz="3300" b="1">
                <a:solidFill>
                  <a:srgbClr val="122C43"/>
                </a:solidFill>
                <a:latin typeface="Arial"/>
                <a:ea typeface="Arial"/>
                <a:cs typeface="Arial"/>
              </a:defRPr>
            </a:lvl1pPr>
            <a:lvl2pPr>
              <a:defRPr sz="3300" b="1">
                <a:solidFill>
                  <a:srgbClr val="122C43"/>
                </a:solidFill>
                <a:latin typeface="Arial"/>
                <a:ea typeface="Arial"/>
                <a:cs typeface="Arial"/>
              </a:defRPr>
            </a:lvl2pPr>
            <a:lvl3pPr>
              <a:defRPr sz="3300" b="1">
                <a:solidFill>
                  <a:srgbClr val="122C43"/>
                </a:solidFill>
                <a:latin typeface="Arial"/>
                <a:ea typeface="Arial"/>
                <a:cs typeface="Arial"/>
              </a:defRPr>
            </a:lvl3pPr>
            <a:lvl4pPr>
              <a:defRPr sz="3300" b="1">
                <a:solidFill>
                  <a:srgbClr val="122C43"/>
                </a:solidFill>
                <a:latin typeface="Arial"/>
                <a:ea typeface="Arial"/>
                <a:cs typeface="Arial"/>
              </a:defRPr>
            </a:lvl4pPr>
            <a:lvl5pPr>
              <a:defRPr sz="3300" b="1">
                <a:solidFill>
                  <a:srgbClr val="122C43"/>
                </a:solidFill>
                <a:latin typeface="Arial"/>
                <a:ea typeface="Arial"/>
                <a:cs typeface="Arial"/>
              </a:defRPr>
            </a:lvl5pPr>
            <a:lvl6pPr>
              <a:defRPr sz="3300" b="1">
                <a:solidFill>
                  <a:srgbClr val="122C43"/>
                </a:solidFill>
                <a:latin typeface="Arial"/>
                <a:ea typeface="Arial"/>
                <a:cs typeface="Arial"/>
              </a:defRPr>
            </a:lvl6pPr>
            <a:lvl7pPr>
              <a:defRPr sz="3300" b="1">
                <a:solidFill>
                  <a:srgbClr val="122C43"/>
                </a:solidFill>
                <a:latin typeface="Arial"/>
                <a:ea typeface="Arial"/>
                <a:cs typeface="Arial"/>
              </a:defRPr>
            </a:lvl7pPr>
            <a:lvl8pPr>
              <a:defRPr sz="3300" b="1">
                <a:solidFill>
                  <a:srgbClr val="122C43"/>
                </a:solidFill>
                <a:latin typeface="Arial"/>
                <a:ea typeface="Arial"/>
                <a:cs typeface="Arial"/>
              </a:defRPr>
            </a:lvl8pPr>
            <a:lvl9pPr>
              <a:defRPr sz="3300" b="1">
                <a:solidFill>
                  <a:srgbClr val="122C43"/>
                </a:solidFill>
                <a:latin typeface="Arial"/>
                <a:ea typeface="Arial"/>
                <a:cs typeface="Arial"/>
              </a:defRPr>
            </a:lvl9pPr>
          </a:lstStyle>
          <a:p xmlns:a="http://schemas.openxmlformats.org/drawingml/2006/main">
            <a:pPr>
              <a:defRPr sz="3300" b="1">
                <a:solidFill>
                  <a:srgbClr val="122C43"/>
                </a:solidFill>
                <a:latin typeface="Arial"/>
                <a:ea typeface="Arial"/>
                <a:cs typeface="Arial"/>
              </a:defRPr>
            </a:pPr>
            <a:r>
              <a:rPr sz="3300" b="1">
                <a:solidFill>
                  <a:srgbClr val="122C43"/>
                </a:solidFill>
                <a:latin typeface="Arial"/>
                <a:ea typeface="Arial"/>
                <a:cs typeface="Arial"/>
              </a:rPr>
              <a:t>Feature experiments favoured a simpler input set</a:t>
            </a:r>
          </a:p>
        </p:txBody>
      </p:sp>
      <p:sp>
        <p:nvSpPr>
          <p:cNvPr id="4" name="">
            <a:extLst xmlns:a="http://schemas.openxmlformats.org/drawingml/2006/main">
              <a:ext uri="{FF2B5EF4-FFF2-40B4-BE49-F238E27FC236}">
                <a16:creationId xmlns:a16="http://schemas.microsoft.com/office/drawing/2014/main" id="{2DE56CF7-DB82-42DA-B670-2D5631A100EB}"/>
              </a:ext>
            </a:extLst>
          </p:cNvPr>
          <p:cNvSpPr>
            <a:spLocks xmlns:a="http://schemas.openxmlformats.org/drawingml/2006/main" noGrp="1"/>
          </p:cNvSpPr>
          <p:nvPr/>
        </p:nvSpPr>
        <p:spPr>
          <a:xfrm xmlns:a="http://schemas.openxmlformats.org/drawingml/2006/main">
            <a:off x="495300" y="1219200"/>
            <a:ext cx="11201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26879"/>
                </a:solidFill>
                <a:latin typeface="Arial"/>
                <a:ea typeface="Arial"/>
                <a:cs typeface="Arial"/>
              </a:defRPr>
            </a:defPPr>
            <a:lvl1pPr>
              <a:defRPr sz="1725" b="0">
                <a:solidFill>
                  <a:srgbClr val="526879"/>
                </a:solidFill>
                <a:latin typeface="Arial"/>
                <a:ea typeface="Arial"/>
                <a:cs typeface="Arial"/>
              </a:defRPr>
            </a:lvl1pPr>
            <a:lvl2pPr>
              <a:defRPr sz="1725" b="0">
                <a:solidFill>
                  <a:srgbClr val="526879"/>
                </a:solidFill>
                <a:latin typeface="Arial"/>
                <a:ea typeface="Arial"/>
                <a:cs typeface="Arial"/>
              </a:defRPr>
            </a:lvl2pPr>
            <a:lvl3pPr>
              <a:defRPr sz="1725" b="0">
                <a:solidFill>
                  <a:srgbClr val="526879"/>
                </a:solidFill>
                <a:latin typeface="Arial"/>
                <a:ea typeface="Arial"/>
                <a:cs typeface="Arial"/>
              </a:defRPr>
            </a:lvl3pPr>
            <a:lvl4pPr>
              <a:defRPr sz="1725" b="0">
                <a:solidFill>
                  <a:srgbClr val="526879"/>
                </a:solidFill>
                <a:latin typeface="Arial"/>
                <a:ea typeface="Arial"/>
                <a:cs typeface="Arial"/>
              </a:defRPr>
            </a:lvl4pPr>
            <a:lvl5pPr>
              <a:defRPr sz="1725" b="0">
                <a:solidFill>
                  <a:srgbClr val="526879"/>
                </a:solidFill>
                <a:latin typeface="Arial"/>
                <a:ea typeface="Arial"/>
                <a:cs typeface="Arial"/>
              </a:defRPr>
            </a:lvl5pPr>
            <a:lvl6pPr>
              <a:defRPr sz="1725" b="0">
                <a:solidFill>
                  <a:srgbClr val="526879"/>
                </a:solidFill>
                <a:latin typeface="Arial"/>
                <a:ea typeface="Arial"/>
                <a:cs typeface="Arial"/>
              </a:defRPr>
            </a:lvl6pPr>
            <a:lvl7pPr>
              <a:defRPr sz="1725" b="0">
                <a:solidFill>
                  <a:srgbClr val="526879"/>
                </a:solidFill>
                <a:latin typeface="Arial"/>
                <a:ea typeface="Arial"/>
                <a:cs typeface="Arial"/>
              </a:defRPr>
            </a:lvl7pPr>
            <a:lvl8pPr>
              <a:defRPr sz="1725" b="0">
                <a:solidFill>
                  <a:srgbClr val="526879"/>
                </a:solidFill>
                <a:latin typeface="Arial"/>
                <a:ea typeface="Arial"/>
                <a:cs typeface="Arial"/>
              </a:defRPr>
            </a:lvl8pPr>
            <a:lvl9pPr>
              <a:defRPr sz="1725" b="0">
                <a:solidFill>
                  <a:srgbClr val="526879"/>
                </a:solidFill>
                <a:latin typeface="Arial"/>
                <a:ea typeface="Arial"/>
                <a:cs typeface="Arial"/>
              </a:defRPr>
            </a:lvl9pPr>
          </a:lstStyle>
          <a:p xmlns:a="http://schemas.openxmlformats.org/drawingml/2006/main">
            <a:pPr>
              <a:defRPr sz="1725" b="0">
                <a:solidFill>
                  <a:srgbClr val="526879"/>
                </a:solidFill>
                <a:latin typeface="Arial"/>
                <a:ea typeface="Arial"/>
                <a:cs typeface="Arial"/>
              </a:defRPr>
            </a:pPr>
            <a:r>
              <a:rPr sz="1725" b="0">
                <a:solidFill>
                  <a:srgbClr val="526879"/>
                </a:solidFill>
                <a:latin typeface="Arial"/>
                <a:ea typeface="Arial"/>
                <a:cs typeface="Arial"/>
              </a:rPr>
              <a:t>Predictive tests, group collinearity checks and importance guided retention decisions</a:t>
            </a:r>
          </a:p>
        </p:txBody>
      </p:sp>
      <p:sp>
        <p:nvSpPr>
          <p:cNvPr id="5" name="">
            <a:extLst xmlns:a="http://schemas.openxmlformats.org/drawingml/2006/main">
              <a:ext uri="{FF2B5EF4-FFF2-40B4-BE49-F238E27FC236}">
                <a16:creationId xmlns:a16="http://schemas.microsoft.com/office/drawing/2014/main" id="{520DF035-3A16-46B8-BC67-EB0557BF9DCE}"/>
              </a:ext>
            </a:extLst>
          </p:cNvPr>
          <p:cNvSpPr>
            <a:spLocks xmlns:a="http://schemas.openxmlformats.org/drawingml/2006/main" noGrp="1"/>
          </p:cNvSpPr>
          <p:nvPr/>
        </p:nvSpPr>
        <p:spPr>
          <a:xfrm xmlns:a="http://schemas.openxmlformats.org/drawingml/2006/main">
            <a:off x="495300" y="6486525"/>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879"/>
                </a:solidFill>
                <a:latin typeface="Arial"/>
                <a:ea typeface="Arial"/>
                <a:cs typeface="Arial"/>
              </a:defRPr>
            </a:defPPr>
            <a:lvl1pPr>
              <a:defRPr sz="1200" b="0">
                <a:solidFill>
                  <a:srgbClr val="526879"/>
                </a:solidFill>
                <a:latin typeface="Arial"/>
                <a:ea typeface="Arial"/>
                <a:cs typeface="Arial"/>
              </a:defRPr>
            </a:lvl1pPr>
            <a:lvl2pPr>
              <a:defRPr sz="1200" b="0">
                <a:solidFill>
                  <a:srgbClr val="526879"/>
                </a:solidFill>
                <a:latin typeface="Arial"/>
                <a:ea typeface="Arial"/>
                <a:cs typeface="Arial"/>
              </a:defRPr>
            </a:lvl2pPr>
            <a:lvl3pPr>
              <a:defRPr sz="1200" b="0">
                <a:solidFill>
                  <a:srgbClr val="526879"/>
                </a:solidFill>
                <a:latin typeface="Arial"/>
                <a:ea typeface="Arial"/>
                <a:cs typeface="Arial"/>
              </a:defRPr>
            </a:lvl3pPr>
            <a:lvl4pPr>
              <a:defRPr sz="1200" b="0">
                <a:solidFill>
                  <a:srgbClr val="526879"/>
                </a:solidFill>
                <a:latin typeface="Arial"/>
                <a:ea typeface="Arial"/>
                <a:cs typeface="Arial"/>
              </a:defRPr>
            </a:lvl4pPr>
            <a:lvl5pPr>
              <a:defRPr sz="1200" b="0">
                <a:solidFill>
                  <a:srgbClr val="526879"/>
                </a:solidFill>
                <a:latin typeface="Arial"/>
                <a:ea typeface="Arial"/>
                <a:cs typeface="Arial"/>
              </a:defRPr>
            </a:lvl5pPr>
            <a:lvl6pPr>
              <a:defRPr sz="1200" b="0">
                <a:solidFill>
                  <a:srgbClr val="526879"/>
                </a:solidFill>
                <a:latin typeface="Arial"/>
                <a:ea typeface="Arial"/>
                <a:cs typeface="Arial"/>
              </a:defRPr>
            </a:lvl6pPr>
            <a:lvl7pPr>
              <a:defRPr sz="1200" b="0">
                <a:solidFill>
                  <a:srgbClr val="526879"/>
                </a:solidFill>
                <a:latin typeface="Arial"/>
                <a:ea typeface="Arial"/>
                <a:cs typeface="Arial"/>
              </a:defRPr>
            </a:lvl7pPr>
            <a:lvl8pPr>
              <a:defRPr sz="1200" b="0">
                <a:solidFill>
                  <a:srgbClr val="526879"/>
                </a:solidFill>
                <a:latin typeface="Arial"/>
                <a:ea typeface="Arial"/>
                <a:cs typeface="Arial"/>
              </a:defRPr>
            </a:lvl8pPr>
            <a:lvl9pPr>
              <a:defRPr sz="1200" b="0">
                <a:solidFill>
                  <a:srgbClr val="526879"/>
                </a:solidFill>
                <a:latin typeface="Arial"/>
                <a:ea typeface="Arial"/>
                <a:cs typeface="Arial"/>
              </a:defRPr>
            </a:lvl9pPr>
          </a:lstStyle>
          <a:p xmlns:a="http://schemas.openxmlformats.org/drawingml/2006/main">
            <a:pPr>
              <a:defRPr sz="1200" b="0">
                <a:solidFill>
                  <a:srgbClr val="526879"/>
                </a:solidFill>
                <a:latin typeface="Arial"/>
                <a:ea typeface="Arial"/>
                <a:cs typeface="Arial"/>
              </a:defRPr>
            </a:pPr>
            <a:r>
              <a:rPr sz="1200" b="0">
                <a:solidFill>
                  <a:srgbClr val="526879"/>
                </a:solidFill>
                <a:latin typeface="Arial"/>
                <a:ea typeface="Arial"/>
                <a:cs typeface="Arial"/>
              </a:rPr>
              <a:t>Hemanth Kumar Akunuri</a:t>
            </a:r>
          </a:p>
        </p:txBody>
      </p:sp>
      <p:sp>
        <p:nvSpPr>
          <p:cNvPr id="6" name="">
            <a:extLst xmlns:a="http://schemas.openxmlformats.org/drawingml/2006/main">
              <a:ext uri="{FF2B5EF4-FFF2-40B4-BE49-F238E27FC236}">
                <a16:creationId xmlns:a16="http://schemas.microsoft.com/office/drawing/2014/main" id="{CCE68265-62EA-41A6-B316-7E348D4B8DB6}"/>
              </a:ext>
            </a:extLst>
          </p:cNvPr>
          <p:cNvSpPr>
            <a:spLocks xmlns:a="http://schemas.openxmlformats.org/drawingml/2006/main" noGrp="1"/>
          </p:cNvSpPr>
          <p:nvPr/>
        </p:nvSpPr>
        <p:spPr>
          <a:xfrm xmlns:a="http://schemas.openxmlformats.org/drawingml/2006/main">
            <a:off x="10763250" y="6486525"/>
            <a:ext cx="933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879"/>
                </a:solidFill>
                <a:latin typeface="Arial"/>
                <a:ea typeface="Arial"/>
                <a:cs typeface="Arial"/>
              </a:defRPr>
            </a:defPPr>
            <a:lvl1pPr>
              <a:defRPr sz="1200" b="0">
                <a:solidFill>
                  <a:srgbClr val="526879"/>
                </a:solidFill>
                <a:latin typeface="Arial"/>
                <a:ea typeface="Arial"/>
                <a:cs typeface="Arial"/>
              </a:defRPr>
            </a:lvl1pPr>
            <a:lvl2pPr>
              <a:defRPr sz="1200" b="0">
                <a:solidFill>
                  <a:srgbClr val="526879"/>
                </a:solidFill>
                <a:latin typeface="Arial"/>
                <a:ea typeface="Arial"/>
                <a:cs typeface="Arial"/>
              </a:defRPr>
            </a:lvl2pPr>
            <a:lvl3pPr>
              <a:defRPr sz="1200" b="0">
                <a:solidFill>
                  <a:srgbClr val="526879"/>
                </a:solidFill>
                <a:latin typeface="Arial"/>
                <a:ea typeface="Arial"/>
                <a:cs typeface="Arial"/>
              </a:defRPr>
            </a:lvl3pPr>
            <a:lvl4pPr>
              <a:defRPr sz="1200" b="0">
                <a:solidFill>
                  <a:srgbClr val="526879"/>
                </a:solidFill>
                <a:latin typeface="Arial"/>
                <a:ea typeface="Arial"/>
                <a:cs typeface="Arial"/>
              </a:defRPr>
            </a:lvl4pPr>
            <a:lvl5pPr>
              <a:defRPr sz="1200" b="0">
                <a:solidFill>
                  <a:srgbClr val="526879"/>
                </a:solidFill>
                <a:latin typeface="Arial"/>
                <a:ea typeface="Arial"/>
                <a:cs typeface="Arial"/>
              </a:defRPr>
            </a:lvl5pPr>
            <a:lvl6pPr>
              <a:defRPr sz="1200" b="0">
                <a:solidFill>
                  <a:srgbClr val="526879"/>
                </a:solidFill>
                <a:latin typeface="Arial"/>
                <a:ea typeface="Arial"/>
                <a:cs typeface="Arial"/>
              </a:defRPr>
            </a:lvl6pPr>
            <a:lvl7pPr>
              <a:defRPr sz="1200" b="0">
                <a:solidFill>
                  <a:srgbClr val="526879"/>
                </a:solidFill>
                <a:latin typeface="Arial"/>
                <a:ea typeface="Arial"/>
                <a:cs typeface="Arial"/>
              </a:defRPr>
            </a:lvl7pPr>
            <a:lvl8pPr>
              <a:defRPr sz="1200" b="0">
                <a:solidFill>
                  <a:srgbClr val="526879"/>
                </a:solidFill>
                <a:latin typeface="Arial"/>
                <a:ea typeface="Arial"/>
                <a:cs typeface="Arial"/>
              </a:defRPr>
            </a:lvl8pPr>
            <a:lvl9pPr>
              <a:defRPr sz="1200" b="0">
                <a:solidFill>
                  <a:srgbClr val="526879"/>
                </a:solidFill>
                <a:latin typeface="Arial"/>
                <a:ea typeface="Arial"/>
                <a:cs typeface="Arial"/>
              </a:defRPr>
            </a:lvl9pPr>
          </a:lstStyle>
          <a:p xmlns:a="http://schemas.openxmlformats.org/drawingml/2006/main">
            <a:pPr>
              <a:defRPr sz="1200" b="0">
                <a:solidFill>
                  <a:srgbClr val="526879"/>
                </a:solidFill>
                <a:latin typeface="Arial"/>
                <a:ea typeface="Arial"/>
                <a:cs typeface="Arial"/>
              </a:defRPr>
            </a:pPr>
            <a:r>
              <a:rPr sz="1200" b="0">
                <a:solidFill>
                  <a:srgbClr val="526879"/>
                </a:solidFill>
                <a:latin typeface="Arial"/>
                <a:ea typeface="Arial"/>
                <a:cs typeface="Arial"/>
              </a:rPr>
              <a:t>04 / 07</a:t>
            </a:r>
          </a:p>
        </p:txBody>
      </p:sp>
      <p:sp>
        <p:nvSpPr>
          <p:cNvPr id="7" name="">
            <a:extLst xmlns:a="http://schemas.openxmlformats.org/drawingml/2006/main">
              <a:ext uri="{FF2B5EF4-FFF2-40B4-BE49-F238E27FC236}">
                <a16:creationId xmlns:a16="http://schemas.microsoft.com/office/drawing/2014/main" id="{8077431E-8641-4E8E-AAFC-70D387190E45}"/>
              </a:ext>
            </a:extLst>
          </p:cNvPr>
          <p:cNvSpPr>
            <a:spLocks xmlns:a="http://schemas.openxmlformats.org/drawingml/2006/main" noGrp="1"/>
          </p:cNvSpPr>
          <p:nvPr/>
        </p:nvSpPr>
        <p:spPr>
          <a:xfrm xmlns:a="http://schemas.openxmlformats.org/drawingml/2006/main">
            <a:off x="495300" y="1724025"/>
            <a:ext cx="6810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122C43"/>
                </a:solidFill>
                <a:latin typeface="Arial"/>
                <a:ea typeface="Arial"/>
                <a:cs typeface="Arial"/>
              </a:defRPr>
            </a:defPPr>
            <a:lvl1pPr>
              <a:defRPr sz="2025" b="1">
                <a:solidFill>
                  <a:srgbClr val="122C43"/>
                </a:solidFill>
                <a:latin typeface="Arial"/>
                <a:ea typeface="Arial"/>
                <a:cs typeface="Arial"/>
              </a:defRPr>
            </a:lvl1pPr>
            <a:lvl2pPr>
              <a:defRPr sz="2025" b="1">
                <a:solidFill>
                  <a:srgbClr val="122C43"/>
                </a:solidFill>
                <a:latin typeface="Arial"/>
                <a:ea typeface="Arial"/>
                <a:cs typeface="Arial"/>
              </a:defRPr>
            </a:lvl2pPr>
            <a:lvl3pPr>
              <a:defRPr sz="2025" b="1">
                <a:solidFill>
                  <a:srgbClr val="122C43"/>
                </a:solidFill>
                <a:latin typeface="Arial"/>
                <a:ea typeface="Arial"/>
                <a:cs typeface="Arial"/>
              </a:defRPr>
            </a:lvl3pPr>
            <a:lvl4pPr>
              <a:defRPr sz="2025" b="1">
                <a:solidFill>
                  <a:srgbClr val="122C43"/>
                </a:solidFill>
                <a:latin typeface="Arial"/>
                <a:ea typeface="Arial"/>
                <a:cs typeface="Arial"/>
              </a:defRPr>
            </a:lvl4pPr>
            <a:lvl5pPr>
              <a:defRPr sz="2025" b="1">
                <a:solidFill>
                  <a:srgbClr val="122C43"/>
                </a:solidFill>
                <a:latin typeface="Arial"/>
                <a:ea typeface="Arial"/>
                <a:cs typeface="Arial"/>
              </a:defRPr>
            </a:lvl5pPr>
            <a:lvl6pPr>
              <a:defRPr sz="2025" b="1">
                <a:solidFill>
                  <a:srgbClr val="122C43"/>
                </a:solidFill>
                <a:latin typeface="Arial"/>
                <a:ea typeface="Arial"/>
                <a:cs typeface="Arial"/>
              </a:defRPr>
            </a:lvl6pPr>
            <a:lvl7pPr>
              <a:defRPr sz="2025" b="1">
                <a:solidFill>
                  <a:srgbClr val="122C43"/>
                </a:solidFill>
                <a:latin typeface="Arial"/>
                <a:ea typeface="Arial"/>
                <a:cs typeface="Arial"/>
              </a:defRPr>
            </a:lvl7pPr>
            <a:lvl8pPr>
              <a:defRPr sz="2025" b="1">
                <a:solidFill>
                  <a:srgbClr val="122C43"/>
                </a:solidFill>
                <a:latin typeface="Arial"/>
                <a:ea typeface="Arial"/>
                <a:cs typeface="Arial"/>
              </a:defRPr>
            </a:lvl8pPr>
            <a:lvl9pPr>
              <a:defRPr sz="2025" b="1">
                <a:solidFill>
                  <a:srgbClr val="122C43"/>
                </a:solidFill>
                <a:latin typeface="Arial"/>
                <a:ea typeface="Arial"/>
                <a:cs typeface="Arial"/>
              </a:defRPr>
            </a:lvl9pPr>
          </a:lstStyle>
          <a:p xmlns:a="http://schemas.openxmlformats.org/drawingml/2006/main">
            <a:pPr>
              <a:defRPr sz="2025" b="1">
                <a:solidFill>
                  <a:srgbClr val="122C43"/>
                </a:solidFill>
                <a:latin typeface="Arial"/>
                <a:ea typeface="Arial"/>
                <a:cs typeface="Arial"/>
              </a:defRPr>
            </a:pPr>
            <a:r>
              <a:rPr sz="2025" b="1">
                <a:solidFill>
                  <a:srgbClr val="122C43"/>
                </a:solidFill>
                <a:latin typeface="Arial"/>
                <a:ea typeface="Arial"/>
                <a:cs typeface="Arial"/>
              </a:rPr>
              <a:t>Random forest permutation importance</a:t>
            </a:r>
          </a:p>
        </p:txBody>
      </p:sp>
      <p:sp>
        <p:nvSpPr>
          <p:cNvPr id="8" name="">
            <a:extLst xmlns:a="http://schemas.openxmlformats.org/drawingml/2006/main">
              <a:ext uri="{FF2B5EF4-FFF2-40B4-BE49-F238E27FC236}">
                <a16:creationId xmlns:a16="http://schemas.microsoft.com/office/drawing/2014/main" id="{4A6AD96C-5923-4B04-B2C0-CCE5DA7B57D2}"/>
              </a:ext>
            </a:extLst>
          </p:cNvPr>
          <p:cNvSpPr>
            <a:spLocks xmlns:a="http://schemas.openxmlformats.org/drawingml/2006/main" noGrp="1"/>
          </p:cNvSpPr>
          <p:nvPr/>
        </p:nvSpPr>
        <p:spPr>
          <a:xfrm xmlns:a="http://schemas.openxmlformats.org/drawingml/2006/main">
            <a:off x="495300" y="2095500"/>
            <a:ext cx="6953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526879"/>
                </a:solidFill>
                <a:latin typeface="Arial"/>
                <a:ea typeface="Arial"/>
                <a:cs typeface="Arial"/>
              </a:defRPr>
            </a:defPPr>
            <a:lvl1pPr>
              <a:defRPr sz="1575" b="0">
                <a:solidFill>
                  <a:srgbClr val="526879"/>
                </a:solidFill>
                <a:latin typeface="Arial"/>
                <a:ea typeface="Arial"/>
                <a:cs typeface="Arial"/>
              </a:defRPr>
            </a:lvl1pPr>
            <a:lvl2pPr>
              <a:defRPr sz="1575" b="0">
                <a:solidFill>
                  <a:srgbClr val="526879"/>
                </a:solidFill>
                <a:latin typeface="Arial"/>
                <a:ea typeface="Arial"/>
                <a:cs typeface="Arial"/>
              </a:defRPr>
            </a:lvl2pPr>
            <a:lvl3pPr>
              <a:defRPr sz="1575" b="0">
                <a:solidFill>
                  <a:srgbClr val="526879"/>
                </a:solidFill>
                <a:latin typeface="Arial"/>
                <a:ea typeface="Arial"/>
                <a:cs typeface="Arial"/>
              </a:defRPr>
            </a:lvl3pPr>
            <a:lvl4pPr>
              <a:defRPr sz="1575" b="0">
                <a:solidFill>
                  <a:srgbClr val="526879"/>
                </a:solidFill>
                <a:latin typeface="Arial"/>
                <a:ea typeface="Arial"/>
                <a:cs typeface="Arial"/>
              </a:defRPr>
            </a:lvl4pPr>
            <a:lvl5pPr>
              <a:defRPr sz="1575" b="0">
                <a:solidFill>
                  <a:srgbClr val="526879"/>
                </a:solidFill>
                <a:latin typeface="Arial"/>
                <a:ea typeface="Arial"/>
                <a:cs typeface="Arial"/>
              </a:defRPr>
            </a:lvl5pPr>
            <a:lvl6pPr>
              <a:defRPr sz="1575" b="0">
                <a:solidFill>
                  <a:srgbClr val="526879"/>
                </a:solidFill>
                <a:latin typeface="Arial"/>
                <a:ea typeface="Arial"/>
                <a:cs typeface="Arial"/>
              </a:defRPr>
            </a:lvl6pPr>
            <a:lvl7pPr>
              <a:defRPr sz="1575" b="0">
                <a:solidFill>
                  <a:srgbClr val="526879"/>
                </a:solidFill>
                <a:latin typeface="Arial"/>
                <a:ea typeface="Arial"/>
                <a:cs typeface="Arial"/>
              </a:defRPr>
            </a:lvl7pPr>
            <a:lvl8pPr>
              <a:defRPr sz="1575" b="0">
                <a:solidFill>
                  <a:srgbClr val="526879"/>
                </a:solidFill>
                <a:latin typeface="Arial"/>
                <a:ea typeface="Arial"/>
                <a:cs typeface="Arial"/>
              </a:defRPr>
            </a:lvl8pPr>
            <a:lvl9pPr>
              <a:defRPr sz="1575" b="0">
                <a:solidFill>
                  <a:srgbClr val="526879"/>
                </a:solidFill>
                <a:latin typeface="Arial"/>
                <a:ea typeface="Arial"/>
                <a:cs typeface="Arial"/>
              </a:defRPr>
            </a:lvl9pPr>
          </a:lstStyle>
          <a:p xmlns:a="http://schemas.openxmlformats.org/drawingml/2006/main">
            <a:pPr>
              <a:defRPr sz="1575" b="0">
                <a:solidFill>
                  <a:srgbClr val="526879"/>
                </a:solidFill>
                <a:latin typeface="Arial"/>
                <a:ea typeface="Arial"/>
                <a:cs typeface="Arial"/>
              </a:defRPr>
            </a:pPr>
            <a:r>
              <a:rPr sz="1575" b="0">
                <a:solidFill>
                  <a:srgbClr val="526879"/>
                </a:solidFill>
                <a:latin typeface="Arial"/>
                <a:ea typeface="Arial"/>
                <a:cs typeface="Arial"/>
              </a:rPr>
              <a:t>Average precision decrease, in percentage points</a:t>
            </a:r>
          </a:p>
        </p:txBody>
      </p:sp>
      <p:graphicFrame>
        <p:nvGraphicFramePr>
          <p:cNvPr id="9" name="Chart">
            <a:extLst xmlns:a="http://schemas.openxmlformats.org/drawingml/2006/main">
              <a:ext uri="{FF2B5EF4-FFF2-40B4-BE49-F238E27FC236}">
                <a16:creationId xmlns:a16="http://schemas.microsoft.com/office/drawing/2014/main" id="{9E233BFE-A933-4B45-85EE-E0165B05418C}"/>
              </a:ext>
            </a:extLst>
          </p:cNvPr>
          <p:cNvGraphicFramePr/>
          <p:nvPr/>
        </p:nvGraphicFramePr>
        <p:xfrm>
          <a:off xmlns:a="http://schemas.openxmlformats.org/drawingml/2006/main" x="495300" y="2428875"/>
          <a:ext xmlns:a="http://schemas.openxmlformats.org/drawingml/2006/main" cx="6762750" cy="2619375"/>
        </p:xfrm>
        <a:graphic xmlns:a="http://schemas.openxmlformats.org/drawingml/2006/main">
          <a:graphicData uri="http://schemas.openxmlformats.org/drawingml/2006/chart">
            <c:chart xmlns:r="http://schemas.openxmlformats.org/officeDocument/2006/relationships" xmlns:c="http://schemas.openxmlformats.org/drawingml/2006/chart" r:id="Rf02dba3807944bc7"/>
          </a:graphicData>
        </a:graphic>
      </p:graphicFrame>
      <p:sp>
        <p:nvSpPr>
          <p:cNvPr id="10" name="">
            <a:extLst xmlns:a="http://schemas.openxmlformats.org/drawingml/2006/main">
              <a:ext uri="{FF2B5EF4-FFF2-40B4-BE49-F238E27FC236}">
                <a16:creationId xmlns:a16="http://schemas.microsoft.com/office/drawing/2014/main" id="{682D6BBE-548F-42C7-A275-558FFC503FA3}"/>
              </a:ext>
            </a:extLst>
          </p:cNvPr>
          <p:cNvSpPr>
            <a:spLocks xmlns:a="http://schemas.openxmlformats.org/drawingml/2006/main" noGrp="1"/>
          </p:cNvSpPr>
          <p:nvPr/>
        </p:nvSpPr>
        <p:spPr>
          <a:xfrm xmlns:a="http://schemas.openxmlformats.org/drawingml/2006/main">
            <a:off x="7753350" y="4286250"/>
            <a:ext cx="39433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087E8B"/>
                </a:solidFill>
                <a:latin typeface="Arial"/>
                <a:ea typeface="Arial"/>
                <a:cs typeface="Arial"/>
              </a:defRPr>
            </a:defPPr>
            <a:lvl1pPr>
              <a:defRPr sz="2250" b="1">
                <a:solidFill>
                  <a:srgbClr val="087E8B"/>
                </a:solidFill>
                <a:latin typeface="Arial"/>
                <a:ea typeface="Arial"/>
                <a:cs typeface="Arial"/>
              </a:defRPr>
            </a:lvl1pPr>
            <a:lvl2pPr>
              <a:defRPr sz="2250" b="1">
                <a:solidFill>
                  <a:srgbClr val="087E8B"/>
                </a:solidFill>
                <a:latin typeface="Arial"/>
                <a:ea typeface="Arial"/>
                <a:cs typeface="Arial"/>
              </a:defRPr>
            </a:lvl2pPr>
            <a:lvl3pPr>
              <a:defRPr sz="2250" b="1">
                <a:solidFill>
                  <a:srgbClr val="087E8B"/>
                </a:solidFill>
                <a:latin typeface="Arial"/>
                <a:ea typeface="Arial"/>
                <a:cs typeface="Arial"/>
              </a:defRPr>
            </a:lvl3pPr>
            <a:lvl4pPr>
              <a:defRPr sz="2250" b="1">
                <a:solidFill>
                  <a:srgbClr val="087E8B"/>
                </a:solidFill>
                <a:latin typeface="Arial"/>
                <a:ea typeface="Arial"/>
                <a:cs typeface="Arial"/>
              </a:defRPr>
            </a:lvl4pPr>
            <a:lvl5pPr>
              <a:defRPr sz="2250" b="1">
                <a:solidFill>
                  <a:srgbClr val="087E8B"/>
                </a:solidFill>
                <a:latin typeface="Arial"/>
                <a:ea typeface="Arial"/>
                <a:cs typeface="Arial"/>
              </a:defRPr>
            </a:lvl5pPr>
            <a:lvl6pPr>
              <a:defRPr sz="2250" b="1">
                <a:solidFill>
                  <a:srgbClr val="087E8B"/>
                </a:solidFill>
                <a:latin typeface="Arial"/>
                <a:ea typeface="Arial"/>
                <a:cs typeface="Arial"/>
              </a:defRPr>
            </a:lvl6pPr>
            <a:lvl7pPr>
              <a:defRPr sz="2250" b="1">
                <a:solidFill>
                  <a:srgbClr val="087E8B"/>
                </a:solidFill>
                <a:latin typeface="Arial"/>
                <a:ea typeface="Arial"/>
                <a:cs typeface="Arial"/>
              </a:defRPr>
            </a:lvl7pPr>
            <a:lvl8pPr>
              <a:defRPr sz="2250" b="1">
                <a:solidFill>
                  <a:srgbClr val="087E8B"/>
                </a:solidFill>
                <a:latin typeface="Arial"/>
                <a:ea typeface="Arial"/>
                <a:cs typeface="Arial"/>
              </a:defRPr>
            </a:lvl8pPr>
            <a:lvl9pPr>
              <a:defRPr sz="2250" b="1">
                <a:solidFill>
                  <a:srgbClr val="087E8B"/>
                </a:solidFill>
                <a:latin typeface="Arial"/>
                <a:ea typeface="Arial"/>
                <a:cs typeface="Arial"/>
              </a:defRPr>
            </a:lvl9pPr>
          </a:lstStyle>
          <a:p xmlns:a="http://schemas.openxmlformats.org/drawingml/2006/main">
            <a:pPr>
              <a:defRPr sz="2250" b="1">
                <a:solidFill>
                  <a:srgbClr val="087E8B"/>
                </a:solidFill>
                <a:latin typeface="Arial"/>
                <a:ea typeface="Arial"/>
                <a:cs typeface="Arial"/>
              </a:defRPr>
            </a:pPr>
            <a:r>
              <a:rPr sz="2250" b="1">
                <a:solidFill>
                  <a:srgbClr val="087E8B"/>
                </a:solidFill>
                <a:latin typeface="Arial"/>
                <a:ea typeface="Arial"/>
                <a:cs typeface="Arial"/>
              </a:rPr>
              <a:t>31.44 maximum VIF</a:t>
            </a:r>
          </a:p>
        </p:txBody>
      </p:sp>
      <p:sp>
        <p:nvSpPr>
          <p:cNvPr id="11" name="">
            <a:extLst xmlns:a="http://schemas.openxmlformats.org/drawingml/2006/main">
              <a:ext uri="{FF2B5EF4-FFF2-40B4-BE49-F238E27FC236}">
                <a16:creationId xmlns:a16="http://schemas.microsoft.com/office/drawing/2014/main" id="{E5343D26-5833-4A9C-8777-18A4C2068B70}"/>
              </a:ext>
            </a:extLst>
          </p:cNvPr>
          <p:cNvSpPr>
            <a:spLocks xmlns:a="http://schemas.openxmlformats.org/drawingml/2006/main" noGrp="1"/>
          </p:cNvSpPr>
          <p:nvPr/>
        </p:nvSpPr>
        <p:spPr>
          <a:xfrm xmlns:a="http://schemas.openxmlformats.org/drawingml/2006/main">
            <a:off x="7753350" y="4762500"/>
            <a:ext cx="39433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17334A"/>
                </a:solidFill>
                <a:latin typeface="Arial"/>
                <a:ea typeface="Arial"/>
                <a:cs typeface="Arial"/>
              </a:defRPr>
            </a:defPPr>
            <a:lvl1pPr>
              <a:defRPr sz="1725" b="0">
                <a:solidFill>
                  <a:srgbClr val="17334A"/>
                </a:solidFill>
                <a:latin typeface="Arial"/>
                <a:ea typeface="Arial"/>
                <a:cs typeface="Arial"/>
              </a:defRPr>
            </a:lvl1pPr>
            <a:lvl2pPr>
              <a:defRPr sz="1725" b="0">
                <a:solidFill>
                  <a:srgbClr val="17334A"/>
                </a:solidFill>
                <a:latin typeface="Arial"/>
                <a:ea typeface="Arial"/>
                <a:cs typeface="Arial"/>
              </a:defRPr>
            </a:lvl2pPr>
            <a:lvl3pPr>
              <a:defRPr sz="1725" b="0">
                <a:solidFill>
                  <a:srgbClr val="17334A"/>
                </a:solidFill>
                <a:latin typeface="Arial"/>
                <a:ea typeface="Arial"/>
                <a:cs typeface="Arial"/>
              </a:defRPr>
            </a:lvl3pPr>
            <a:lvl4pPr>
              <a:defRPr sz="1725" b="0">
                <a:solidFill>
                  <a:srgbClr val="17334A"/>
                </a:solidFill>
                <a:latin typeface="Arial"/>
                <a:ea typeface="Arial"/>
                <a:cs typeface="Arial"/>
              </a:defRPr>
            </a:lvl4pPr>
            <a:lvl5pPr>
              <a:defRPr sz="1725" b="0">
                <a:solidFill>
                  <a:srgbClr val="17334A"/>
                </a:solidFill>
                <a:latin typeface="Arial"/>
                <a:ea typeface="Arial"/>
                <a:cs typeface="Arial"/>
              </a:defRPr>
            </a:lvl5pPr>
            <a:lvl6pPr>
              <a:defRPr sz="1725" b="0">
                <a:solidFill>
                  <a:srgbClr val="17334A"/>
                </a:solidFill>
                <a:latin typeface="Arial"/>
                <a:ea typeface="Arial"/>
                <a:cs typeface="Arial"/>
              </a:defRPr>
            </a:lvl6pPr>
            <a:lvl7pPr>
              <a:defRPr sz="1725" b="0">
                <a:solidFill>
                  <a:srgbClr val="17334A"/>
                </a:solidFill>
                <a:latin typeface="Arial"/>
                <a:ea typeface="Arial"/>
                <a:cs typeface="Arial"/>
              </a:defRPr>
            </a:lvl7pPr>
            <a:lvl8pPr>
              <a:defRPr sz="1725" b="0">
                <a:solidFill>
                  <a:srgbClr val="17334A"/>
                </a:solidFill>
                <a:latin typeface="Arial"/>
                <a:ea typeface="Arial"/>
                <a:cs typeface="Arial"/>
              </a:defRPr>
            </a:lvl8pPr>
            <a:lvl9pPr>
              <a:defRPr sz="1725" b="0">
                <a:solidFill>
                  <a:srgbClr val="17334A"/>
                </a:solidFill>
                <a:latin typeface="Arial"/>
                <a:ea typeface="Arial"/>
                <a:cs typeface="Arial"/>
              </a:defRPr>
            </a:lvl9pPr>
          </a:lstStyle>
          <a:p xmlns:a="http://schemas.openxmlformats.org/drawingml/2006/main">
            <a:pPr>
              <a:defRPr sz="1725" b="0">
                <a:solidFill>
                  <a:srgbClr val="17334A"/>
                </a:solidFill>
                <a:latin typeface="Arial"/>
                <a:ea typeface="Arial"/>
                <a:cs typeface="Arial"/>
              </a:defRPr>
            </a:pPr>
            <a:r>
              <a:rPr sz="1725" b="0">
                <a:solidFill>
                  <a:srgbClr val="17334A"/>
                </a:solidFill>
                <a:latin typeface="Arial"/>
                <a:ea typeface="Arial"/>
                <a:cs typeface="Arial"/>
              </a:rPr>
              <a:t>Salary VIF: 19.45. Correlated</a:t>
            </a:r>
          </a:p>
          <a:p xmlns:a="http://schemas.openxmlformats.org/drawingml/2006/main">
            <a:pPr>
              <a:defRPr sz="1725" b="0">
                <a:solidFill>
                  <a:srgbClr val="17334A"/>
                </a:solidFill>
                <a:latin typeface="Arial"/>
                <a:ea typeface="Arial"/>
                <a:cs typeface="Arial"/>
              </a:defRPr>
            </a:pPr>
            <a:r>
              <a:rPr sz="1725" b="0">
                <a:solidFill>
                  <a:srgbClr val="17334A"/>
                </a:solidFill>
                <a:latin typeface="Arial"/>
                <a:ea typeface="Arial"/>
                <a:cs typeface="Arial"/>
              </a:rPr>
              <a:t>features were tested, not deleted</a:t>
            </a:r>
          </a:p>
          <a:p xmlns:a="http://schemas.openxmlformats.org/drawingml/2006/main">
            <a:pPr>
              <a:defRPr sz="1725" b="0">
                <a:solidFill>
                  <a:srgbClr val="17334A"/>
                </a:solidFill>
                <a:latin typeface="Arial"/>
                <a:ea typeface="Arial"/>
                <a:cs typeface="Arial"/>
              </a:defRPr>
            </a:pPr>
            <a:r>
              <a:rPr sz="1725" b="0">
                <a:solidFill>
                  <a:srgbClr val="17334A"/>
                </a:solidFill>
                <a:latin typeface="Arial"/>
                <a:ea typeface="Arial"/>
                <a:cs typeface="Arial"/>
              </a:rPr>
              <a:t>automatically. Regularisation helped.</a:t>
            </a:r>
          </a:p>
        </p:txBody>
      </p:sp>
      <p:sp>
        <p:nvSpPr>
          <p:cNvPr id="12" name="">
            <a:extLst xmlns:a="http://schemas.openxmlformats.org/drawingml/2006/main">
              <a:ext uri="{FF2B5EF4-FFF2-40B4-BE49-F238E27FC236}">
                <a16:creationId xmlns:a16="http://schemas.microsoft.com/office/drawing/2014/main" id="{9557D02D-3AF1-4139-BC44-15CF2B2716BB}"/>
              </a:ext>
            </a:extLst>
          </p:cNvPr>
          <p:cNvSpPr>
            <a:spLocks xmlns:a="http://schemas.openxmlformats.org/drawingml/2006/main" noGrp="1"/>
          </p:cNvSpPr>
          <p:nvPr/>
        </p:nvSpPr>
        <p:spPr>
          <a:xfrm xmlns:a="http://schemas.openxmlformats.org/drawingml/2006/main">
            <a:off x="495300" y="5276850"/>
            <a:ext cx="6762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17334A"/>
                </a:solidFill>
                <a:latin typeface="Arial"/>
                <a:ea typeface="Arial"/>
                <a:cs typeface="Arial"/>
              </a:defRPr>
            </a:defPPr>
            <a:lvl1pPr>
              <a:defRPr sz="1800" b="0">
                <a:solidFill>
                  <a:srgbClr val="17334A"/>
                </a:solidFill>
                <a:latin typeface="Arial"/>
                <a:ea typeface="Arial"/>
                <a:cs typeface="Arial"/>
              </a:defRPr>
            </a:lvl1pPr>
            <a:lvl2pPr>
              <a:defRPr sz="1800" b="0">
                <a:solidFill>
                  <a:srgbClr val="17334A"/>
                </a:solidFill>
                <a:latin typeface="Arial"/>
                <a:ea typeface="Arial"/>
                <a:cs typeface="Arial"/>
              </a:defRPr>
            </a:lvl2pPr>
            <a:lvl3pPr>
              <a:defRPr sz="1800" b="0">
                <a:solidFill>
                  <a:srgbClr val="17334A"/>
                </a:solidFill>
                <a:latin typeface="Arial"/>
                <a:ea typeface="Arial"/>
                <a:cs typeface="Arial"/>
              </a:defRPr>
            </a:lvl3pPr>
            <a:lvl4pPr>
              <a:defRPr sz="1800" b="0">
                <a:solidFill>
                  <a:srgbClr val="17334A"/>
                </a:solidFill>
                <a:latin typeface="Arial"/>
                <a:ea typeface="Arial"/>
                <a:cs typeface="Arial"/>
              </a:defRPr>
            </a:lvl4pPr>
            <a:lvl5pPr>
              <a:defRPr sz="1800" b="0">
                <a:solidFill>
                  <a:srgbClr val="17334A"/>
                </a:solidFill>
                <a:latin typeface="Arial"/>
                <a:ea typeface="Arial"/>
                <a:cs typeface="Arial"/>
              </a:defRPr>
            </a:lvl5pPr>
            <a:lvl6pPr>
              <a:defRPr sz="1800" b="0">
                <a:solidFill>
                  <a:srgbClr val="17334A"/>
                </a:solidFill>
                <a:latin typeface="Arial"/>
                <a:ea typeface="Arial"/>
                <a:cs typeface="Arial"/>
              </a:defRPr>
            </a:lvl6pPr>
            <a:lvl7pPr>
              <a:defRPr sz="1800" b="0">
                <a:solidFill>
                  <a:srgbClr val="17334A"/>
                </a:solidFill>
                <a:latin typeface="Arial"/>
                <a:ea typeface="Arial"/>
                <a:cs typeface="Arial"/>
              </a:defRPr>
            </a:lvl7pPr>
            <a:lvl8pPr>
              <a:defRPr sz="1800" b="0">
                <a:solidFill>
                  <a:srgbClr val="17334A"/>
                </a:solidFill>
                <a:latin typeface="Arial"/>
                <a:ea typeface="Arial"/>
                <a:cs typeface="Arial"/>
              </a:defRPr>
            </a:lvl8pPr>
            <a:lvl9pPr>
              <a:defRPr sz="1800" b="0">
                <a:solidFill>
                  <a:srgbClr val="17334A"/>
                </a:solidFill>
                <a:latin typeface="Arial"/>
                <a:ea typeface="Arial"/>
                <a:cs typeface="Arial"/>
              </a:defRPr>
            </a:lvl9pPr>
          </a:lstStyle>
          <a:p xmlns:a="http://schemas.openxmlformats.org/drawingml/2006/main">
            <a:pPr>
              <a:defRPr sz="1800" b="0">
                <a:solidFill>
                  <a:srgbClr val="17334A"/>
                </a:solidFill>
                <a:latin typeface="Arial"/>
                <a:ea typeface="Arial"/>
                <a:cs typeface="Arial"/>
              </a:defRPr>
            </a:pPr>
            <a:r>
              <a:rPr sz="1800" b="0">
                <a:solidFill>
                  <a:srgbClr val="17334A"/>
                </a:solidFill>
                <a:latin typeface="Arial"/>
                <a:ea typeface="Arial"/>
                <a:cs typeface="Arial"/>
              </a:rPr>
              <a:t>Reference encoding: 43 to 39 inputs. Removing salary + job level reduced CV AP: 0.326 to 0.318.</a:t>
            </a:r>
          </a:p>
        </p:txBody>
      </p:sp>
      <p:sp>
        <p:nvSpPr>
          <p:cNvPr id="13" name="">
            <a:extLst xmlns:a="http://schemas.openxmlformats.org/drawingml/2006/main">
              <a:ext uri="{FF2B5EF4-FFF2-40B4-BE49-F238E27FC236}">
                <a16:creationId xmlns:a16="http://schemas.microsoft.com/office/drawing/2014/main" id="{22272534-4C4B-4829-B408-406C562D85E0}"/>
              </a:ext>
            </a:extLst>
          </p:cNvPr>
          <p:cNvSpPr>
            <a:spLocks xmlns:a="http://schemas.openxmlformats.org/drawingml/2006/main" noGrp="1"/>
          </p:cNvSpPr>
          <p:nvPr/>
        </p:nvSpPr>
        <p:spPr>
          <a:xfrm xmlns:a="http://schemas.openxmlformats.org/drawingml/2006/main">
            <a:off x="495300" y="6086475"/>
            <a:ext cx="11201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122C43"/>
                </a:solidFill>
                <a:latin typeface="Arial"/>
                <a:ea typeface="Arial"/>
                <a:cs typeface="Arial"/>
              </a:defRPr>
            </a:defPPr>
            <a:lvl1pPr>
              <a:defRPr sz="1725" b="1">
                <a:solidFill>
                  <a:srgbClr val="122C43"/>
                </a:solidFill>
                <a:latin typeface="Arial"/>
                <a:ea typeface="Arial"/>
                <a:cs typeface="Arial"/>
              </a:defRPr>
            </a:lvl1pPr>
            <a:lvl2pPr>
              <a:defRPr sz="1725" b="1">
                <a:solidFill>
                  <a:srgbClr val="122C43"/>
                </a:solidFill>
                <a:latin typeface="Arial"/>
                <a:ea typeface="Arial"/>
                <a:cs typeface="Arial"/>
              </a:defRPr>
            </a:lvl2pPr>
            <a:lvl3pPr>
              <a:defRPr sz="1725" b="1">
                <a:solidFill>
                  <a:srgbClr val="122C43"/>
                </a:solidFill>
                <a:latin typeface="Arial"/>
                <a:ea typeface="Arial"/>
                <a:cs typeface="Arial"/>
              </a:defRPr>
            </a:lvl3pPr>
            <a:lvl4pPr>
              <a:defRPr sz="1725" b="1">
                <a:solidFill>
                  <a:srgbClr val="122C43"/>
                </a:solidFill>
                <a:latin typeface="Arial"/>
                <a:ea typeface="Arial"/>
                <a:cs typeface="Arial"/>
              </a:defRPr>
            </a:lvl4pPr>
            <a:lvl5pPr>
              <a:defRPr sz="1725" b="1">
                <a:solidFill>
                  <a:srgbClr val="122C43"/>
                </a:solidFill>
                <a:latin typeface="Arial"/>
                <a:ea typeface="Arial"/>
                <a:cs typeface="Arial"/>
              </a:defRPr>
            </a:lvl5pPr>
            <a:lvl6pPr>
              <a:defRPr sz="1725" b="1">
                <a:solidFill>
                  <a:srgbClr val="122C43"/>
                </a:solidFill>
                <a:latin typeface="Arial"/>
                <a:ea typeface="Arial"/>
                <a:cs typeface="Arial"/>
              </a:defRPr>
            </a:lvl6pPr>
            <a:lvl7pPr>
              <a:defRPr sz="1725" b="1">
                <a:solidFill>
                  <a:srgbClr val="122C43"/>
                </a:solidFill>
                <a:latin typeface="Arial"/>
                <a:ea typeface="Arial"/>
                <a:cs typeface="Arial"/>
              </a:defRPr>
            </a:lvl7pPr>
            <a:lvl8pPr>
              <a:defRPr sz="1725" b="1">
                <a:solidFill>
                  <a:srgbClr val="122C43"/>
                </a:solidFill>
                <a:latin typeface="Arial"/>
                <a:ea typeface="Arial"/>
                <a:cs typeface="Arial"/>
              </a:defRPr>
            </a:lvl8pPr>
            <a:lvl9pPr>
              <a:defRPr sz="1725" b="1">
                <a:solidFill>
                  <a:srgbClr val="122C43"/>
                </a:solidFill>
                <a:latin typeface="Arial"/>
                <a:ea typeface="Arial"/>
                <a:cs typeface="Arial"/>
              </a:defRPr>
            </a:lvl9pPr>
          </a:lstStyle>
          <a:p xmlns:a="http://schemas.openxmlformats.org/drawingml/2006/main">
            <a:pPr>
              <a:defRPr sz="1725" b="1">
                <a:solidFill>
                  <a:srgbClr val="122C43"/>
                </a:solidFill>
                <a:latin typeface="Arial"/>
                <a:ea typeface="Arial"/>
                <a:cs typeface="Arial"/>
              </a:defRPr>
            </a:pPr>
            <a:r>
              <a:rPr sz="1725" b="1">
                <a:solidFill>
                  <a:srgbClr val="122C43"/>
                </a:solidFill>
                <a:latin typeface="Arial"/>
                <a:ea typeface="Arial"/>
                <a:cs typeface="Arial"/>
              </a:rPr>
              <a:t>Interactions and feature removals gave small or inconsistent gains. Final choice: retain original predictors.</a:t>
            </a:r>
          </a:p>
        </p:txBody>
      </p:sp>
      <p:sp>
        <p:nvSpPr>
          <p:cNvPr id="14" name="">
            <a:extLst xmlns:a="http://schemas.openxmlformats.org/drawingml/2006/main">
              <a:ext uri="{FF2B5EF4-FFF2-40B4-BE49-F238E27FC236}">
                <a16:creationId xmlns:a16="http://schemas.microsoft.com/office/drawing/2014/main" id="{73D78A33-85F3-4940-8DD3-C0AF7CC7A822}"/>
              </a:ext>
            </a:extLst>
          </p:cNvPr>
          <p:cNvSpPr>
            <a:spLocks xmlns:a="http://schemas.openxmlformats.org/drawingml/2006/main" noGrp="1"/>
          </p:cNvSpPr>
          <p:nvPr/>
        </p:nvSpPr>
        <p:spPr>
          <a:xfrm xmlns:a="http://schemas.openxmlformats.org/drawingml/2006/main">
            <a:off x="7753350" y="1724025"/>
            <a:ext cx="39433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122C43"/>
                </a:solidFill>
                <a:latin typeface="Arial"/>
                <a:ea typeface="Arial"/>
                <a:cs typeface="Arial"/>
              </a:defRPr>
            </a:defPPr>
            <a:lvl1pPr>
              <a:defRPr sz="2025" b="1">
                <a:solidFill>
                  <a:srgbClr val="122C43"/>
                </a:solidFill>
                <a:latin typeface="Arial"/>
                <a:ea typeface="Arial"/>
                <a:cs typeface="Arial"/>
              </a:defRPr>
            </a:lvl1pPr>
            <a:lvl2pPr>
              <a:defRPr sz="2025" b="1">
                <a:solidFill>
                  <a:srgbClr val="122C43"/>
                </a:solidFill>
                <a:latin typeface="Arial"/>
                <a:ea typeface="Arial"/>
                <a:cs typeface="Arial"/>
              </a:defRPr>
            </a:lvl2pPr>
            <a:lvl3pPr>
              <a:defRPr sz="2025" b="1">
                <a:solidFill>
                  <a:srgbClr val="122C43"/>
                </a:solidFill>
                <a:latin typeface="Arial"/>
                <a:ea typeface="Arial"/>
                <a:cs typeface="Arial"/>
              </a:defRPr>
            </a:lvl3pPr>
            <a:lvl4pPr>
              <a:defRPr sz="2025" b="1">
                <a:solidFill>
                  <a:srgbClr val="122C43"/>
                </a:solidFill>
                <a:latin typeface="Arial"/>
                <a:ea typeface="Arial"/>
                <a:cs typeface="Arial"/>
              </a:defRPr>
            </a:lvl4pPr>
            <a:lvl5pPr>
              <a:defRPr sz="2025" b="1">
                <a:solidFill>
                  <a:srgbClr val="122C43"/>
                </a:solidFill>
                <a:latin typeface="Arial"/>
                <a:ea typeface="Arial"/>
                <a:cs typeface="Arial"/>
              </a:defRPr>
            </a:lvl5pPr>
            <a:lvl6pPr>
              <a:defRPr sz="2025" b="1">
                <a:solidFill>
                  <a:srgbClr val="122C43"/>
                </a:solidFill>
                <a:latin typeface="Arial"/>
                <a:ea typeface="Arial"/>
                <a:cs typeface="Arial"/>
              </a:defRPr>
            </a:lvl6pPr>
            <a:lvl7pPr>
              <a:defRPr sz="2025" b="1">
                <a:solidFill>
                  <a:srgbClr val="122C43"/>
                </a:solidFill>
                <a:latin typeface="Arial"/>
                <a:ea typeface="Arial"/>
                <a:cs typeface="Arial"/>
              </a:defRPr>
            </a:lvl7pPr>
            <a:lvl8pPr>
              <a:defRPr sz="2025" b="1">
                <a:solidFill>
                  <a:srgbClr val="122C43"/>
                </a:solidFill>
                <a:latin typeface="Arial"/>
                <a:ea typeface="Arial"/>
                <a:cs typeface="Arial"/>
              </a:defRPr>
            </a:lvl8pPr>
            <a:lvl9pPr>
              <a:defRPr sz="2025" b="1">
                <a:solidFill>
                  <a:srgbClr val="122C43"/>
                </a:solidFill>
                <a:latin typeface="Arial"/>
                <a:ea typeface="Arial"/>
                <a:cs typeface="Arial"/>
              </a:defRPr>
            </a:lvl9pPr>
          </a:lstStyle>
          <a:p xmlns:a="http://schemas.openxmlformats.org/drawingml/2006/main">
            <a:pPr>
              <a:defRPr sz="2025" b="1">
                <a:solidFill>
                  <a:srgbClr val="122C43"/>
                </a:solidFill>
                <a:latin typeface="Arial"/>
                <a:ea typeface="Arial"/>
                <a:cs typeface="Arial"/>
              </a:defRPr>
            </a:pPr>
            <a:r>
              <a:rPr sz="2025" b="1">
                <a:solidFill>
                  <a:srgbClr val="122C43"/>
                </a:solidFill>
                <a:latin typeface="Arial"/>
                <a:ea typeface="Arial"/>
                <a:cs typeface="Arial"/>
              </a:rPr>
              <a:t>Feature engineering results</a:t>
            </a:r>
          </a:p>
        </p:txBody>
      </p:sp>
      <p:graphicFrame>
        <p:nvGraphicFramePr>
          <p:cNvPr id="15" name="">
            <a:extLst xmlns:a="http://schemas.openxmlformats.org/drawingml/2006/main">
              <a:ext uri="{FF2B5EF4-FFF2-40B4-BE49-F238E27FC236}">
                <a16:creationId xmlns:a16="http://schemas.microsoft.com/office/drawing/2014/main" id="{868F6DBD-26A2-4CA9-9FB9-E02B2A6D94CB}"/>
              </a:ext>
            </a:extLst>
          </p:cNvPr>
          <p:cNvGraphicFramePr/>
          <p:nvPr/>
        </p:nvGraphicFramePr>
        <p:xfrm>
          <a:off xmlns:a="http://schemas.openxmlformats.org/drawingml/2006/main" x="7753350" y="2143125"/>
          <a:ext xmlns:a="http://schemas.openxmlformats.org/drawingml/2006/main" cx="3943350" cy="1676400"/>
        </p:xfrm>
        <a:graphic xmlns:a="http://schemas.openxmlformats.org/drawingml/2006/main">
          <a:graphicData uri="http://schemas.openxmlformats.org/drawingml/2006/table">
            <a:tbl>
              <a:tblPr/>
              <a:tblGrid>
                <a:gridCol w="2057400"/>
                <a:gridCol w="942975"/>
                <a:gridCol w="942975"/>
              </a:tblGrid>
              <a:tr h="419100">
                <a:tc>
                  <a:txBody>
                    <a:bodyPr lIns="66675" tIns="66675" rIns="66675" bIns="66675"/>
                    <a:lstStyle/>
                    <a:p>
                      <a:r>
                        <a:rPr sz="1575" b="1">
                          <a:solidFill>
                            <a:srgbClr val="FFFFFF"/>
                          </a:solidFill>
                          <a:latin typeface="Arial"/>
                          <a:ea typeface="Arial"/>
                          <a:cs typeface="Arial"/>
                        </a:rPr>
                        <a:t>LR variant</a:t>
                      </a:r>
                    </a:p>
                  </a:txBody>
                  <a:tcPr marL="91440" marR="91440" marT="45720" marB="45720" anchor="ctr">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122C43"/>
                    </a:solidFill>
                  </a:tcPr>
                </a:tc>
                <a:tc>
                  <a:txBody>
                    <a:bodyPr lIns="66675" tIns="66675" rIns="66675" bIns="66675"/>
                    <a:lstStyle/>
                    <a:p>
                      <a:r>
                        <a:rPr sz="1575" b="1">
                          <a:solidFill>
                            <a:srgbClr val="FFFFFF"/>
                          </a:solidFill>
                          <a:latin typeface="Arial"/>
                          <a:ea typeface="Arial"/>
                          <a:cs typeface="Arial"/>
                        </a:rPr>
                        <a:t>CV AP</a:t>
                      </a:r>
                    </a:p>
                  </a:txBody>
                  <a:tcPr marL="91440" marR="91440" marT="45720" marB="45720" anchor="ctr">
                    <a:lnR w="9525">
                      <a:solidFill>
                        <a:srgbClr val="FFFFFF"/>
                      </a:solidFill>
                      <a:prstDash val="solid"/>
                    </a:lnR>
                    <a:lnT w="9525">
                      <a:solidFill>
                        <a:srgbClr val="FFFFFF"/>
                      </a:solidFill>
                      <a:prstDash val="solid"/>
                    </a:lnT>
                    <a:lnB w="9525">
                      <a:solidFill>
                        <a:srgbClr val="FFFFFF"/>
                      </a:solidFill>
                      <a:prstDash val="solid"/>
                    </a:lnB>
                    <a:solidFill>
                      <a:srgbClr val="122C43"/>
                    </a:solidFill>
                  </a:tcPr>
                </a:tc>
                <a:tc>
                  <a:txBody>
                    <a:bodyPr lIns="66675" tIns="66675" rIns="66675" bIns="66675"/>
                    <a:lstStyle/>
                    <a:p>
                      <a:r>
                        <a:rPr sz="1575" b="1">
                          <a:solidFill>
                            <a:srgbClr val="FFFFFF"/>
                          </a:solidFill>
                          <a:latin typeface="Arial"/>
                          <a:ea typeface="Arial"/>
                          <a:cs typeface="Arial"/>
                        </a:rPr>
                        <a:t>Val. AP</a:t>
                      </a:r>
                    </a:p>
                  </a:txBody>
                  <a:tcPr marL="91440" marR="91440" marT="45720" marB="45720" anchor="ctr">
                    <a:lnR w="9525">
                      <a:solidFill>
                        <a:srgbClr val="FFFFFF"/>
                      </a:solidFill>
                      <a:prstDash val="solid"/>
                    </a:lnR>
                    <a:lnT w="9525">
                      <a:solidFill>
                        <a:srgbClr val="FFFFFF"/>
                      </a:solidFill>
                      <a:prstDash val="solid"/>
                    </a:lnT>
                    <a:lnB w="9525">
                      <a:solidFill>
                        <a:srgbClr val="FFFFFF"/>
                      </a:solidFill>
                      <a:prstDash val="solid"/>
                    </a:lnB>
                    <a:solidFill>
                      <a:srgbClr val="122C43"/>
                    </a:solidFill>
                  </a:tcPr>
                </a:tc>
              </a:tr>
              <a:tr h="419100">
                <a:tc>
                  <a:txBody>
                    <a:bodyPr lIns="66675" tIns="66675" rIns="66675" bIns="66675"/>
                    <a:lstStyle/>
                    <a:p>
                      <a:r>
                        <a:rPr sz="1575" b="0">
                          <a:solidFill>
                            <a:srgbClr val="17334A"/>
                          </a:solidFill>
                          <a:latin typeface="Arial"/>
                          <a:ea typeface="Arial"/>
                          <a:cs typeface="Arial"/>
                        </a:rPr>
                        <a:t>Original predictors</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EAF3F4"/>
                    </a:solidFill>
                  </a:tcPr>
                </a:tc>
                <a:tc>
                  <a:txBody>
                    <a:bodyPr lIns="66675" tIns="66675" rIns="66675" bIns="66675"/>
                    <a:lstStyle/>
                    <a:p>
                      <a:r>
                        <a:rPr sz="1575" b="0">
                          <a:solidFill>
                            <a:srgbClr val="17334A"/>
                          </a:solidFill>
                          <a:latin typeface="Arial"/>
                          <a:ea typeface="Arial"/>
                          <a:cs typeface="Arial"/>
                        </a:rPr>
                        <a:t>0.3262</a:t>
                      </a:r>
                    </a:p>
                  </a:txBody>
                  <a:tcPr marL="91440" marR="91440" marT="45720" marB="45720" anchor="ctr">
                    <a:lnR w="9525">
                      <a:solidFill>
                        <a:srgbClr val="FFFFFF"/>
                      </a:solidFill>
                      <a:prstDash val="solid"/>
                    </a:lnR>
                    <a:lnB w="9525">
                      <a:solidFill>
                        <a:srgbClr val="FFFFFF"/>
                      </a:solidFill>
                      <a:prstDash val="solid"/>
                    </a:lnB>
                    <a:solidFill>
                      <a:srgbClr val="EAF3F4"/>
                    </a:solidFill>
                  </a:tcPr>
                </a:tc>
                <a:tc>
                  <a:txBody>
                    <a:bodyPr lIns="66675" tIns="66675" rIns="66675" bIns="66675"/>
                    <a:lstStyle/>
                    <a:p>
                      <a:r>
                        <a:rPr sz="1575" b="0">
                          <a:solidFill>
                            <a:srgbClr val="17334A"/>
                          </a:solidFill>
                          <a:latin typeface="Arial"/>
                          <a:ea typeface="Arial"/>
                          <a:cs typeface="Arial"/>
                        </a:rPr>
                        <a:t>0.2916</a:t>
                      </a:r>
                    </a:p>
                  </a:txBody>
                  <a:tcPr marL="91440" marR="91440" marT="45720" marB="45720" anchor="ctr">
                    <a:lnR w="9525">
                      <a:solidFill>
                        <a:srgbClr val="FFFFFF"/>
                      </a:solidFill>
                      <a:prstDash val="solid"/>
                    </a:lnR>
                    <a:lnB w="9525">
                      <a:solidFill>
                        <a:srgbClr val="FFFFFF"/>
                      </a:solidFill>
                      <a:prstDash val="solid"/>
                    </a:lnB>
                    <a:solidFill>
                      <a:srgbClr val="EAF3F4"/>
                    </a:solidFill>
                  </a:tcPr>
                </a:tc>
              </a:tr>
              <a:tr h="419100">
                <a:tc>
                  <a:txBody>
                    <a:bodyPr lIns="66675" tIns="66675" rIns="66675" bIns="66675"/>
                    <a:lstStyle/>
                    <a:p>
                      <a:r>
                        <a:rPr sz="1575" b="0">
                          <a:solidFill>
                            <a:srgbClr val="17334A"/>
                          </a:solidFill>
                          <a:latin typeface="Arial"/>
                          <a:ea typeface="Arial"/>
                          <a:cs typeface="Arial"/>
                        </a:rPr>
                        <a:t>Interactions added</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FFFFFF"/>
                    </a:solidFill>
                  </a:tcPr>
                </a:tc>
                <a:tc>
                  <a:txBody>
                    <a:bodyPr lIns="66675" tIns="66675" rIns="66675" bIns="66675"/>
                    <a:lstStyle/>
                    <a:p>
                      <a:r>
                        <a:rPr sz="1575" b="0">
                          <a:solidFill>
                            <a:srgbClr val="17334A"/>
                          </a:solidFill>
                          <a:latin typeface="Arial"/>
                          <a:ea typeface="Arial"/>
                          <a:cs typeface="Arial"/>
                        </a:rPr>
                        <a:t>0.3273</a:t>
                      </a:r>
                    </a:p>
                  </a:txBody>
                  <a:tcPr marL="91440" marR="91440" marT="45720" marB="45720" anchor="ctr">
                    <a:lnR w="9525">
                      <a:solidFill>
                        <a:srgbClr val="FFFFFF"/>
                      </a:solidFill>
                      <a:prstDash val="solid"/>
                    </a:lnR>
                    <a:lnB w="9525">
                      <a:solidFill>
                        <a:srgbClr val="FFFFFF"/>
                      </a:solidFill>
                      <a:prstDash val="solid"/>
                    </a:lnB>
                    <a:solidFill>
                      <a:srgbClr val="FFFFFF"/>
                    </a:solidFill>
                  </a:tcPr>
                </a:tc>
                <a:tc>
                  <a:txBody>
                    <a:bodyPr lIns="66675" tIns="66675" rIns="66675" bIns="66675"/>
                    <a:lstStyle/>
                    <a:p>
                      <a:r>
                        <a:rPr sz="1575" b="0">
                          <a:solidFill>
                            <a:srgbClr val="17334A"/>
                          </a:solidFill>
                          <a:latin typeface="Arial"/>
                          <a:ea typeface="Arial"/>
                          <a:cs typeface="Arial"/>
                        </a:rPr>
                        <a:t>0.2888</a:t>
                      </a:r>
                    </a:p>
                  </a:txBody>
                  <a:tcPr marL="91440" marR="91440" marT="45720" marB="45720" anchor="ctr">
                    <a:lnR w="9525">
                      <a:solidFill>
                        <a:srgbClr val="FFFFFF"/>
                      </a:solidFill>
                      <a:prstDash val="solid"/>
                    </a:lnR>
                    <a:lnB w="9525">
                      <a:solidFill>
                        <a:srgbClr val="FFFFFF"/>
                      </a:solidFill>
                      <a:prstDash val="solid"/>
                    </a:lnB>
                    <a:solidFill>
                      <a:srgbClr val="FFFFFF"/>
                    </a:solidFill>
                  </a:tcPr>
                </a:tc>
              </a:tr>
              <a:tr h="419100">
                <a:tc>
                  <a:txBody>
                    <a:bodyPr lIns="66675" tIns="66675" rIns="66675" bIns="66675"/>
                    <a:lstStyle/>
                    <a:p>
                      <a:r>
                        <a:rPr sz="1575" b="0">
                          <a:solidFill>
                            <a:srgbClr val="17334A"/>
                          </a:solidFill>
                          <a:latin typeface="Arial"/>
                          <a:ea typeface="Arial"/>
                          <a:cs typeface="Arial"/>
                        </a:rPr>
                        <a:t>Relative salary</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EAF3F4"/>
                    </a:solidFill>
                  </a:tcPr>
                </a:tc>
                <a:tc>
                  <a:txBody>
                    <a:bodyPr lIns="66675" tIns="66675" rIns="66675" bIns="66675"/>
                    <a:lstStyle/>
                    <a:p>
                      <a:r>
                        <a:rPr sz="1575" b="0">
                          <a:solidFill>
                            <a:srgbClr val="17334A"/>
                          </a:solidFill>
                          <a:latin typeface="Arial"/>
                          <a:ea typeface="Arial"/>
                          <a:cs typeface="Arial"/>
                        </a:rPr>
                        <a:t>0.3262</a:t>
                      </a:r>
                    </a:p>
                  </a:txBody>
                  <a:tcPr marL="91440" marR="91440" marT="45720" marB="45720" anchor="ctr">
                    <a:lnR w="9525">
                      <a:solidFill>
                        <a:srgbClr val="FFFFFF"/>
                      </a:solidFill>
                      <a:prstDash val="solid"/>
                    </a:lnR>
                    <a:lnB w="9525">
                      <a:solidFill>
                        <a:srgbClr val="FFFFFF"/>
                      </a:solidFill>
                      <a:prstDash val="solid"/>
                    </a:lnB>
                    <a:solidFill>
                      <a:srgbClr val="EAF3F4"/>
                    </a:solidFill>
                  </a:tcPr>
                </a:tc>
                <a:tc>
                  <a:txBody>
                    <a:bodyPr lIns="66675" tIns="66675" rIns="66675" bIns="66675"/>
                    <a:lstStyle/>
                    <a:p>
                      <a:r>
                        <a:rPr sz="1575" b="0">
                          <a:solidFill>
                            <a:srgbClr val="17334A"/>
                          </a:solidFill>
                          <a:latin typeface="Arial"/>
                          <a:ea typeface="Arial"/>
                          <a:cs typeface="Arial"/>
                        </a:rPr>
                        <a:t>0.2913</a:t>
                      </a:r>
                    </a:p>
                  </a:txBody>
                  <a:tcPr marL="91440" marR="91440" marT="45720" marB="45720" anchor="ctr">
                    <a:lnR w="9525">
                      <a:solidFill>
                        <a:srgbClr val="FFFFFF"/>
                      </a:solidFill>
                      <a:prstDash val="solid"/>
                    </a:lnR>
                    <a:lnB w="9525">
                      <a:solidFill>
                        <a:srgbClr val="FFFFFF"/>
                      </a:solidFill>
                      <a:prstDash val="solid"/>
                    </a:lnB>
                    <a:solidFill>
                      <a:srgbClr val="EAF3F4"/>
                    </a:solidFill>
                  </a:tcPr>
                </a:tc>
              </a:tr>
            </a:tbl>
          </a:graphicData>
        </a:graphic>
      </p:graphicFrame>
      <p:sp>
        <p:nvSpPr>
          <p:cNvPr id="16" name="">
            <a:extLst xmlns:a="http://schemas.openxmlformats.org/drawingml/2006/main">
              <a:ext uri="{FF2B5EF4-FFF2-40B4-BE49-F238E27FC236}">
                <a16:creationId xmlns:a16="http://schemas.microsoft.com/office/drawing/2014/main" id="{EF73662D-8A36-4F4C-9A20-FF479248D5C7}"/>
              </a:ext>
            </a:extLst>
          </p:cNvPr>
          <p:cNvSpPr>
            <a:spLocks xmlns:a="http://schemas.openxmlformats.org/drawingml/2006/main" noGrp="1"/>
          </p:cNvSpPr>
          <p:nvPr/>
        </p:nvSpPr>
        <p:spPr>
          <a:xfrm xmlns:a="http://schemas.openxmlformats.org/drawingml/2006/main">
            <a:off x="7753350" y="3905250"/>
            <a:ext cx="3943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526879"/>
                </a:solidFill>
                <a:latin typeface="Arial"/>
                <a:ea typeface="Arial"/>
                <a:cs typeface="Arial"/>
              </a:defRPr>
            </a:defPPr>
            <a:lvl1pPr>
              <a:defRPr sz="1575" b="0">
                <a:solidFill>
                  <a:srgbClr val="526879"/>
                </a:solidFill>
                <a:latin typeface="Arial"/>
                <a:ea typeface="Arial"/>
                <a:cs typeface="Arial"/>
              </a:defRPr>
            </a:lvl1pPr>
            <a:lvl2pPr>
              <a:defRPr sz="1575" b="0">
                <a:solidFill>
                  <a:srgbClr val="526879"/>
                </a:solidFill>
                <a:latin typeface="Arial"/>
                <a:ea typeface="Arial"/>
                <a:cs typeface="Arial"/>
              </a:defRPr>
            </a:lvl2pPr>
            <a:lvl3pPr>
              <a:defRPr sz="1575" b="0">
                <a:solidFill>
                  <a:srgbClr val="526879"/>
                </a:solidFill>
                <a:latin typeface="Arial"/>
                <a:ea typeface="Arial"/>
                <a:cs typeface="Arial"/>
              </a:defRPr>
            </a:lvl3pPr>
            <a:lvl4pPr>
              <a:defRPr sz="1575" b="0">
                <a:solidFill>
                  <a:srgbClr val="526879"/>
                </a:solidFill>
                <a:latin typeface="Arial"/>
                <a:ea typeface="Arial"/>
                <a:cs typeface="Arial"/>
              </a:defRPr>
            </a:lvl4pPr>
            <a:lvl5pPr>
              <a:defRPr sz="1575" b="0">
                <a:solidFill>
                  <a:srgbClr val="526879"/>
                </a:solidFill>
                <a:latin typeface="Arial"/>
                <a:ea typeface="Arial"/>
                <a:cs typeface="Arial"/>
              </a:defRPr>
            </a:lvl5pPr>
            <a:lvl6pPr>
              <a:defRPr sz="1575" b="0">
                <a:solidFill>
                  <a:srgbClr val="526879"/>
                </a:solidFill>
                <a:latin typeface="Arial"/>
                <a:ea typeface="Arial"/>
                <a:cs typeface="Arial"/>
              </a:defRPr>
            </a:lvl6pPr>
            <a:lvl7pPr>
              <a:defRPr sz="1575" b="0">
                <a:solidFill>
                  <a:srgbClr val="526879"/>
                </a:solidFill>
                <a:latin typeface="Arial"/>
                <a:ea typeface="Arial"/>
                <a:cs typeface="Arial"/>
              </a:defRPr>
            </a:lvl7pPr>
            <a:lvl8pPr>
              <a:defRPr sz="1575" b="0">
                <a:solidFill>
                  <a:srgbClr val="526879"/>
                </a:solidFill>
                <a:latin typeface="Arial"/>
                <a:ea typeface="Arial"/>
                <a:cs typeface="Arial"/>
              </a:defRPr>
            </a:lvl8pPr>
            <a:lvl9pPr>
              <a:defRPr sz="1575" b="0">
                <a:solidFill>
                  <a:srgbClr val="526879"/>
                </a:solidFill>
                <a:latin typeface="Arial"/>
                <a:ea typeface="Arial"/>
                <a:cs typeface="Arial"/>
              </a:defRPr>
            </a:lvl9pPr>
          </a:lstStyle>
          <a:p xmlns:a="http://schemas.openxmlformats.org/drawingml/2006/main">
            <a:pPr>
              <a:defRPr sz="1575" b="0">
                <a:solidFill>
                  <a:srgbClr val="526879"/>
                </a:solidFill>
                <a:latin typeface="Arial"/>
                <a:ea typeface="Arial"/>
                <a:cs typeface="Arial"/>
              </a:defRPr>
            </a:pPr>
            <a:r>
              <a:rPr sz="1575" b="0">
                <a:solidFill>
                  <a:srgbClr val="526879"/>
                </a:solidFill>
                <a:latin typeface="Arial"/>
                <a:ea typeface="Arial"/>
                <a:cs typeface="Arial"/>
              </a:rPr>
              <a:t>Extra features gave no consistent gain.</a:t>
            </a:r>
          </a:p>
        </p:txBody>
      </p:sp>
    </p:spTree>
    <p:extLst>
      <p:ext uri="{BB962C8B-B14F-4D97-AF65-F5344CB8AC3E}">
        <p14:creationId xmlns:p14="http://schemas.microsoft.com/office/powerpoint/2010/main" val="110794918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03FECAF1-053A-45B1-9E3D-D89F2C68D710}"/>
              </a:ext>
            </a:extLst>
          </p:cNvPr>
          <p:cNvSpPr>
            <a:spLocks xmlns:a="http://schemas.openxmlformats.org/drawingml/2006/main" noGrp="1"/>
          </p:cNvSpPr>
          <p:nvPr/>
        </p:nvSpPr>
        <p:spPr>
          <a:xfrm xmlns:a="http://schemas.openxmlformats.org/drawingml/2006/main">
            <a:off x="495300" y="2476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087E8B"/>
                </a:solidFill>
                <a:latin typeface="Arial"/>
                <a:ea typeface="Arial"/>
                <a:cs typeface="Arial"/>
              </a:defRPr>
            </a:defPPr>
            <a:lvl1pPr>
              <a:defRPr sz="1275" b="1">
                <a:solidFill>
                  <a:srgbClr val="087E8B"/>
                </a:solidFill>
                <a:latin typeface="Arial"/>
                <a:ea typeface="Arial"/>
                <a:cs typeface="Arial"/>
              </a:defRPr>
            </a:lvl1pPr>
            <a:lvl2pPr>
              <a:defRPr sz="1275" b="1">
                <a:solidFill>
                  <a:srgbClr val="087E8B"/>
                </a:solidFill>
                <a:latin typeface="Arial"/>
                <a:ea typeface="Arial"/>
                <a:cs typeface="Arial"/>
              </a:defRPr>
            </a:lvl2pPr>
            <a:lvl3pPr>
              <a:defRPr sz="1275" b="1">
                <a:solidFill>
                  <a:srgbClr val="087E8B"/>
                </a:solidFill>
                <a:latin typeface="Arial"/>
                <a:ea typeface="Arial"/>
                <a:cs typeface="Arial"/>
              </a:defRPr>
            </a:lvl3pPr>
            <a:lvl4pPr>
              <a:defRPr sz="1275" b="1">
                <a:solidFill>
                  <a:srgbClr val="087E8B"/>
                </a:solidFill>
                <a:latin typeface="Arial"/>
                <a:ea typeface="Arial"/>
                <a:cs typeface="Arial"/>
              </a:defRPr>
            </a:lvl4pPr>
            <a:lvl5pPr>
              <a:defRPr sz="1275" b="1">
                <a:solidFill>
                  <a:srgbClr val="087E8B"/>
                </a:solidFill>
                <a:latin typeface="Arial"/>
                <a:ea typeface="Arial"/>
                <a:cs typeface="Arial"/>
              </a:defRPr>
            </a:lvl5pPr>
            <a:lvl6pPr>
              <a:defRPr sz="1275" b="1">
                <a:solidFill>
                  <a:srgbClr val="087E8B"/>
                </a:solidFill>
                <a:latin typeface="Arial"/>
                <a:ea typeface="Arial"/>
                <a:cs typeface="Arial"/>
              </a:defRPr>
            </a:lvl6pPr>
            <a:lvl7pPr>
              <a:defRPr sz="1275" b="1">
                <a:solidFill>
                  <a:srgbClr val="087E8B"/>
                </a:solidFill>
                <a:latin typeface="Arial"/>
                <a:ea typeface="Arial"/>
                <a:cs typeface="Arial"/>
              </a:defRPr>
            </a:lvl7pPr>
            <a:lvl8pPr>
              <a:defRPr sz="1275" b="1">
                <a:solidFill>
                  <a:srgbClr val="087E8B"/>
                </a:solidFill>
                <a:latin typeface="Arial"/>
                <a:ea typeface="Arial"/>
                <a:cs typeface="Arial"/>
              </a:defRPr>
            </a:lvl8pPr>
            <a:lvl9pPr>
              <a:defRPr sz="1275" b="1">
                <a:solidFill>
                  <a:srgbClr val="087E8B"/>
                </a:solidFill>
                <a:latin typeface="Arial"/>
                <a:ea typeface="Arial"/>
                <a:cs typeface="Arial"/>
              </a:defRPr>
            </a:lvl9pPr>
          </a:lstStyle>
          <a:p xmlns:a="http://schemas.openxmlformats.org/drawingml/2006/main">
            <a:pPr>
              <a:defRPr sz="1275" b="1">
                <a:solidFill>
                  <a:srgbClr val="087E8B"/>
                </a:solidFill>
                <a:latin typeface="Arial"/>
                <a:ea typeface="Arial"/>
                <a:cs typeface="Arial"/>
              </a:defRPr>
            </a:pPr>
            <a:r>
              <a:rPr sz="1275" b="1">
                <a:solidFill>
                  <a:srgbClr val="087E8B"/>
                </a:solidFill>
                <a:latin typeface="Arial"/>
                <a:ea typeface="Arial"/>
                <a:cs typeface="Arial"/>
              </a:rPr>
              <a:t>EMPLOYEE ATTRITION</a:t>
            </a:r>
          </a:p>
        </p:txBody>
      </p:sp>
      <p:sp>
        <p:nvSpPr>
          <p:cNvPr id="3" name="">
            <a:extLst xmlns:a="http://schemas.openxmlformats.org/drawingml/2006/main">
              <a:ext uri="{FF2B5EF4-FFF2-40B4-BE49-F238E27FC236}">
                <a16:creationId xmlns:a16="http://schemas.microsoft.com/office/drawing/2014/main" id="{7DCAC8D9-7D44-4C3D-A110-F653E750FC56}"/>
              </a:ext>
            </a:extLst>
          </p:cNvPr>
          <p:cNvSpPr>
            <a:spLocks xmlns:a="http://schemas.openxmlformats.org/drawingml/2006/main" noGrp="1"/>
          </p:cNvSpPr>
          <p:nvPr/>
        </p:nvSpPr>
        <p:spPr>
          <a:xfrm xmlns:a="http://schemas.openxmlformats.org/drawingml/2006/main">
            <a:off x="495300" y="619125"/>
            <a:ext cx="11201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22C43"/>
                </a:solidFill>
                <a:latin typeface="Arial"/>
                <a:ea typeface="Arial"/>
                <a:cs typeface="Arial"/>
              </a:defRPr>
            </a:defPPr>
            <a:lvl1pPr>
              <a:defRPr sz="3300" b="1">
                <a:solidFill>
                  <a:srgbClr val="122C43"/>
                </a:solidFill>
                <a:latin typeface="Arial"/>
                <a:ea typeface="Arial"/>
                <a:cs typeface="Arial"/>
              </a:defRPr>
            </a:lvl1pPr>
            <a:lvl2pPr>
              <a:defRPr sz="3300" b="1">
                <a:solidFill>
                  <a:srgbClr val="122C43"/>
                </a:solidFill>
                <a:latin typeface="Arial"/>
                <a:ea typeface="Arial"/>
                <a:cs typeface="Arial"/>
              </a:defRPr>
            </a:lvl2pPr>
            <a:lvl3pPr>
              <a:defRPr sz="3300" b="1">
                <a:solidFill>
                  <a:srgbClr val="122C43"/>
                </a:solidFill>
                <a:latin typeface="Arial"/>
                <a:ea typeface="Arial"/>
                <a:cs typeface="Arial"/>
              </a:defRPr>
            </a:lvl3pPr>
            <a:lvl4pPr>
              <a:defRPr sz="3300" b="1">
                <a:solidFill>
                  <a:srgbClr val="122C43"/>
                </a:solidFill>
                <a:latin typeface="Arial"/>
                <a:ea typeface="Arial"/>
                <a:cs typeface="Arial"/>
              </a:defRPr>
            </a:lvl4pPr>
            <a:lvl5pPr>
              <a:defRPr sz="3300" b="1">
                <a:solidFill>
                  <a:srgbClr val="122C43"/>
                </a:solidFill>
                <a:latin typeface="Arial"/>
                <a:ea typeface="Arial"/>
                <a:cs typeface="Arial"/>
              </a:defRPr>
            </a:lvl5pPr>
            <a:lvl6pPr>
              <a:defRPr sz="3300" b="1">
                <a:solidFill>
                  <a:srgbClr val="122C43"/>
                </a:solidFill>
                <a:latin typeface="Arial"/>
                <a:ea typeface="Arial"/>
                <a:cs typeface="Arial"/>
              </a:defRPr>
            </a:lvl6pPr>
            <a:lvl7pPr>
              <a:defRPr sz="3300" b="1">
                <a:solidFill>
                  <a:srgbClr val="122C43"/>
                </a:solidFill>
                <a:latin typeface="Arial"/>
                <a:ea typeface="Arial"/>
                <a:cs typeface="Arial"/>
              </a:defRPr>
            </a:lvl7pPr>
            <a:lvl8pPr>
              <a:defRPr sz="3300" b="1">
                <a:solidFill>
                  <a:srgbClr val="122C43"/>
                </a:solidFill>
                <a:latin typeface="Arial"/>
                <a:ea typeface="Arial"/>
                <a:cs typeface="Arial"/>
              </a:defRPr>
            </a:lvl8pPr>
            <a:lvl9pPr>
              <a:defRPr sz="3300" b="1">
                <a:solidFill>
                  <a:srgbClr val="122C43"/>
                </a:solidFill>
                <a:latin typeface="Arial"/>
                <a:ea typeface="Arial"/>
                <a:cs typeface="Arial"/>
              </a:defRPr>
            </a:lvl9pPr>
          </a:lstStyle>
          <a:p xmlns:a="http://schemas.openxmlformats.org/drawingml/2006/main">
            <a:pPr>
              <a:defRPr sz="3300" b="1">
                <a:solidFill>
                  <a:srgbClr val="122C43"/>
                </a:solidFill>
                <a:latin typeface="Arial"/>
                <a:ea typeface="Arial"/>
                <a:cs typeface="Arial"/>
              </a:defRPr>
            </a:pPr>
            <a:r>
              <a:rPr sz="3300" b="1">
                <a:solidFill>
                  <a:srgbClr val="122C43"/>
                </a:solidFill>
                <a:latin typeface="Arial"/>
                <a:ea typeface="Arial"/>
                <a:cs typeface="Arial"/>
              </a:rPr>
              <a:t>Tuning delivered the largest gain for decision trees</a:t>
            </a:r>
          </a:p>
        </p:txBody>
      </p:sp>
      <p:sp>
        <p:nvSpPr>
          <p:cNvPr id="4" name="">
            <a:extLst xmlns:a="http://schemas.openxmlformats.org/drawingml/2006/main">
              <a:ext uri="{FF2B5EF4-FFF2-40B4-BE49-F238E27FC236}">
                <a16:creationId xmlns:a16="http://schemas.microsoft.com/office/drawing/2014/main" id="{E2C85BF6-FFF6-41A3-B471-BF7626DED479}"/>
              </a:ext>
            </a:extLst>
          </p:cNvPr>
          <p:cNvSpPr>
            <a:spLocks xmlns:a="http://schemas.openxmlformats.org/drawingml/2006/main" noGrp="1"/>
          </p:cNvSpPr>
          <p:nvPr/>
        </p:nvSpPr>
        <p:spPr>
          <a:xfrm xmlns:a="http://schemas.openxmlformats.org/drawingml/2006/main">
            <a:off x="495300" y="1219200"/>
            <a:ext cx="11201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26879"/>
                </a:solidFill>
                <a:latin typeface="Arial"/>
                <a:ea typeface="Arial"/>
                <a:cs typeface="Arial"/>
              </a:defRPr>
            </a:defPPr>
            <a:lvl1pPr>
              <a:defRPr sz="1725" b="0">
                <a:solidFill>
                  <a:srgbClr val="526879"/>
                </a:solidFill>
                <a:latin typeface="Arial"/>
                <a:ea typeface="Arial"/>
                <a:cs typeface="Arial"/>
              </a:defRPr>
            </a:lvl1pPr>
            <a:lvl2pPr>
              <a:defRPr sz="1725" b="0">
                <a:solidFill>
                  <a:srgbClr val="526879"/>
                </a:solidFill>
                <a:latin typeface="Arial"/>
                <a:ea typeface="Arial"/>
                <a:cs typeface="Arial"/>
              </a:defRPr>
            </a:lvl2pPr>
            <a:lvl3pPr>
              <a:defRPr sz="1725" b="0">
                <a:solidFill>
                  <a:srgbClr val="526879"/>
                </a:solidFill>
                <a:latin typeface="Arial"/>
                <a:ea typeface="Arial"/>
                <a:cs typeface="Arial"/>
              </a:defRPr>
            </a:lvl3pPr>
            <a:lvl4pPr>
              <a:defRPr sz="1725" b="0">
                <a:solidFill>
                  <a:srgbClr val="526879"/>
                </a:solidFill>
                <a:latin typeface="Arial"/>
                <a:ea typeface="Arial"/>
                <a:cs typeface="Arial"/>
              </a:defRPr>
            </a:lvl4pPr>
            <a:lvl5pPr>
              <a:defRPr sz="1725" b="0">
                <a:solidFill>
                  <a:srgbClr val="526879"/>
                </a:solidFill>
                <a:latin typeface="Arial"/>
                <a:ea typeface="Arial"/>
                <a:cs typeface="Arial"/>
              </a:defRPr>
            </a:lvl5pPr>
            <a:lvl6pPr>
              <a:defRPr sz="1725" b="0">
                <a:solidFill>
                  <a:srgbClr val="526879"/>
                </a:solidFill>
                <a:latin typeface="Arial"/>
                <a:ea typeface="Arial"/>
                <a:cs typeface="Arial"/>
              </a:defRPr>
            </a:lvl6pPr>
            <a:lvl7pPr>
              <a:defRPr sz="1725" b="0">
                <a:solidFill>
                  <a:srgbClr val="526879"/>
                </a:solidFill>
                <a:latin typeface="Arial"/>
                <a:ea typeface="Arial"/>
                <a:cs typeface="Arial"/>
              </a:defRPr>
            </a:lvl7pPr>
            <a:lvl8pPr>
              <a:defRPr sz="1725" b="0">
                <a:solidFill>
                  <a:srgbClr val="526879"/>
                </a:solidFill>
                <a:latin typeface="Arial"/>
                <a:ea typeface="Arial"/>
                <a:cs typeface="Arial"/>
              </a:defRPr>
            </a:lvl8pPr>
            <a:lvl9pPr>
              <a:defRPr sz="1725" b="0">
                <a:solidFill>
                  <a:srgbClr val="526879"/>
                </a:solidFill>
                <a:latin typeface="Arial"/>
                <a:ea typeface="Arial"/>
                <a:cs typeface="Arial"/>
              </a:defRPr>
            </a:lvl9pPr>
          </a:lstStyle>
          <a:p xmlns:a="http://schemas.openxmlformats.org/drawingml/2006/main">
            <a:pPr>
              <a:defRPr sz="1725" b="0">
                <a:solidFill>
                  <a:srgbClr val="526879"/>
                </a:solidFill>
                <a:latin typeface="Arial"/>
                <a:ea typeface="Arial"/>
                <a:cs typeface="Arial"/>
              </a:defRPr>
            </a:pPr>
            <a:r>
              <a:rPr sz="1725" b="0">
                <a:solidFill>
                  <a:srgbClr val="526879"/>
                </a:solidFill>
                <a:latin typeface="Arial"/>
                <a:ea typeface="Arial"/>
                <a:cs typeface="Arial"/>
              </a:rPr>
              <a:t>Validation average precision (AP), higher is better. Initial model stage.</a:t>
            </a:r>
          </a:p>
        </p:txBody>
      </p:sp>
      <p:sp>
        <p:nvSpPr>
          <p:cNvPr id="5" name="">
            <a:extLst xmlns:a="http://schemas.openxmlformats.org/drawingml/2006/main">
              <a:ext uri="{FF2B5EF4-FFF2-40B4-BE49-F238E27FC236}">
                <a16:creationId xmlns:a16="http://schemas.microsoft.com/office/drawing/2014/main" id="{CC534682-620C-4184-AFDA-0AF6563470D8}"/>
              </a:ext>
            </a:extLst>
          </p:cNvPr>
          <p:cNvSpPr>
            <a:spLocks xmlns:a="http://schemas.openxmlformats.org/drawingml/2006/main" noGrp="1"/>
          </p:cNvSpPr>
          <p:nvPr/>
        </p:nvSpPr>
        <p:spPr>
          <a:xfrm xmlns:a="http://schemas.openxmlformats.org/drawingml/2006/main">
            <a:off x="495300" y="6486525"/>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879"/>
                </a:solidFill>
                <a:latin typeface="Arial"/>
                <a:ea typeface="Arial"/>
                <a:cs typeface="Arial"/>
              </a:defRPr>
            </a:defPPr>
            <a:lvl1pPr>
              <a:defRPr sz="1200" b="0">
                <a:solidFill>
                  <a:srgbClr val="526879"/>
                </a:solidFill>
                <a:latin typeface="Arial"/>
                <a:ea typeface="Arial"/>
                <a:cs typeface="Arial"/>
              </a:defRPr>
            </a:lvl1pPr>
            <a:lvl2pPr>
              <a:defRPr sz="1200" b="0">
                <a:solidFill>
                  <a:srgbClr val="526879"/>
                </a:solidFill>
                <a:latin typeface="Arial"/>
                <a:ea typeface="Arial"/>
                <a:cs typeface="Arial"/>
              </a:defRPr>
            </a:lvl2pPr>
            <a:lvl3pPr>
              <a:defRPr sz="1200" b="0">
                <a:solidFill>
                  <a:srgbClr val="526879"/>
                </a:solidFill>
                <a:latin typeface="Arial"/>
                <a:ea typeface="Arial"/>
                <a:cs typeface="Arial"/>
              </a:defRPr>
            </a:lvl3pPr>
            <a:lvl4pPr>
              <a:defRPr sz="1200" b="0">
                <a:solidFill>
                  <a:srgbClr val="526879"/>
                </a:solidFill>
                <a:latin typeface="Arial"/>
                <a:ea typeface="Arial"/>
                <a:cs typeface="Arial"/>
              </a:defRPr>
            </a:lvl4pPr>
            <a:lvl5pPr>
              <a:defRPr sz="1200" b="0">
                <a:solidFill>
                  <a:srgbClr val="526879"/>
                </a:solidFill>
                <a:latin typeface="Arial"/>
                <a:ea typeface="Arial"/>
                <a:cs typeface="Arial"/>
              </a:defRPr>
            </a:lvl5pPr>
            <a:lvl6pPr>
              <a:defRPr sz="1200" b="0">
                <a:solidFill>
                  <a:srgbClr val="526879"/>
                </a:solidFill>
                <a:latin typeface="Arial"/>
                <a:ea typeface="Arial"/>
                <a:cs typeface="Arial"/>
              </a:defRPr>
            </a:lvl6pPr>
            <a:lvl7pPr>
              <a:defRPr sz="1200" b="0">
                <a:solidFill>
                  <a:srgbClr val="526879"/>
                </a:solidFill>
                <a:latin typeface="Arial"/>
                <a:ea typeface="Arial"/>
                <a:cs typeface="Arial"/>
              </a:defRPr>
            </a:lvl7pPr>
            <a:lvl8pPr>
              <a:defRPr sz="1200" b="0">
                <a:solidFill>
                  <a:srgbClr val="526879"/>
                </a:solidFill>
                <a:latin typeface="Arial"/>
                <a:ea typeface="Arial"/>
                <a:cs typeface="Arial"/>
              </a:defRPr>
            </a:lvl8pPr>
            <a:lvl9pPr>
              <a:defRPr sz="1200" b="0">
                <a:solidFill>
                  <a:srgbClr val="526879"/>
                </a:solidFill>
                <a:latin typeface="Arial"/>
                <a:ea typeface="Arial"/>
                <a:cs typeface="Arial"/>
              </a:defRPr>
            </a:lvl9pPr>
          </a:lstStyle>
          <a:p xmlns:a="http://schemas.openxmlformats.org/drawingml/2006/main">
            <a:pPr>
              <a:defRPr sz="1200" b="0">
                <a:solidFill>
                  <a:srgbClr val="526879"/>
                </a:solidFill>
                <a:latin typeface="Arial"/>
                <a:ea typeface="Arial"/>
                <a:cs typeface="Arial"/>
              </a:defRPr>
            </a:pPr>
            <a:r>
              <a:rPr sz="1200" b="0">
                <a:solidFill>
                  <a:srgbClr val="526879"/>
                </a:solidFill>
                <a:latin typeface="Arial"/>
                <a:ea typeface="Arial"/>
                <a:cs typeface="Arial"/>
              </a:rPr>
              <a:t>Hemanth Kumar Akunuri</a:t>
            </a:r>
          </a:p>
        </p:txBody>
      </p:sp>
      <p:sp>
        <p:nvSpPr>
          <p:cNvPr id="6" name="">
            <a:extLst xmlns:a="http://schemas.openxmlformats.org/drawingml/2006/main">
              <a:ext uri="{FF2B5EF4-FFF2-40B4-BE49-F238E27FC236}">
                <a16:creationId xmlns:a16="http://schemas.microsoft.com/office/drawing/2014/main" id="{EBFB6C9C-B9A0-46D3-8B3F-5457954D75E4}"/>
              </a:ext>
            </a:extLst>
          </p:cNvPr>
          <p:cNvSpPr>
            <a:spLocks xmlns:a="http://schemas.openxmlformats.org/drawingml/2006/main" noGrp="1"/>
          </p:cNvSpPr>
          <p:nvPr/>
        </p:nvSpPr>
        <p:spPr>
          <a:xfrm xmlns:a="http://schemas.openxmlformats.org/drawingml/2006/main">
            <a:off x="10763250" y="6486525"/>
            <a:ext cx="933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879"/>
                </a:solidFill>
                <a:latin typeface="Arial"/>
                <a:ea typeface="Arial"/>
                <a:cs typeface="Arial"/>
              </a:defRPr>
            </a:defPPr>
            <a:lvl1pPr>
              <a:defRPr sz="1200" b="0">
                <a:solidFill>
                  <a:srgbClr val="526879"/>
                </a:solidFill>
                <a:latin typeface="Arial"/>
                <a:ea typeface="Arial"/>
                <a:cs typeface="Arial"/>
              </a:defRPr>
            </a:lvl1pPr>
            <a:lvl2pPr>
              <a:defRPr sz="1200" b="0">
                <a:solidFill>
                  <a:srgbClr val="526879"/>
                </a:solidFill>
                <a:latin typeface="Arial"/>
                <a:ea typeface="Arial"/>
                <a:cs typeface="Arial"/>
              </a:defRPr>
            </a:lvl2pPr>
            <a:lvl3pPr>
              <a:defRPr sz="1200" b="0">
                <a:solidFill>
                  <a:srgbClr val="526879"/>
                </a:solidFill>
                <a:latin typeface="Arial"/>
                <a:ea typeface="Arial"/>
                <a:cs typeface="Arial"/>
              </a:defRPr>
            </a:lvl3pPr>
            <a:lvl4pPr>
              <a:defRPr sz="1200" b="0">
                <a:solidFill>
                  <a:srgbClr val="526879"/>
                </a:solidFill>
                <a:latin typeface="Arial"/>
                <a:ea typeface="Arial"/>
                <a:cs typeface="Arial"/>
              </a:defRPr>
            </a:lvl4pPr>
            <a:lvl5pPr>
              <a:defRPr sz="1200" b="0">
                <a:solidFill>
                  <a:srgbClr val="526879"/>
                </a:solidFill>
                <a:latin typeface="Arial"/>
                <a:ea typeface="Arial"/>
                <a:cs typeface="Arial"/>
              </a:defRPr>
            </a:lvl5pPr>
            <a:lvl6pPr>
              <a:defRPr sz="1200" b="0">
                <a:solidFill>
                  <a:srgbClr val="526879"/>
                </a:solidFill>
                <a:latin typeface="Arial"/>
                <a:ea typeface="Arial"/>
                <a:cs typeface="Arial"/>
              </a:defRPr>
            </a:lvl6pPr>
            <a:lvl7pPr>
              <a:defRPr sz="1200" b="0">
                <a:solidFill>
                  <a:srgbClr val="526879"/>
                </a:solidFill>
                <a:latin typeface="Arial"/>
                <a:ea typeface="Arial"/>
                <a:cs typeface="Arial"/>
              </a:defRPr>
            </a:lvl7pPr>
            <a:lvl8pPr>
              <a:defRPr sz="1200" b="0">
                <a:solidFill>
                  <a:srgbClr val="526879"/>
                </a:solidFill>
                <a:latin typeface="Arial"/>
                <a:ea typeface="Arial"/>
                <a:cs typeface="Arial"/>
              </a:defRPr>
            </a:lvl8pPr>
            <a:lvl9pPr>
              <a:defRPr sz="1200" b="0">
                <a:solidFill>
                  <a:srgbClr val="526879"/>
                </a:solidFill>
                <a:latin typeface="Arial"/>
                <a:ea typeface="Arial"/>
                <a:cs typeface="Arial"/>
              </a:defRPr>
            </a:lvl9pPr>
          </a:lstStyle>
          <a:p xmlns:a="http://schemas.openxmlformats.org/drawingml/2006/main">
            <a:pPr>
              <a:defRPr sz="1200" b="0">
                <a:solidFill>
                  <a:srgbClr val="526879"/>
                </a:solidFill>
                <a:latin typeface="Arial"/>
                <a:ea typeface="Arial"/>
                <a:cs typeface="Arial"/>
              </a:defRPr>
            </a:pPr>
            <a:r>
              <a:rPr sz="1200" b="0">
                <a:solidFill>
                  <a:srgbClr val="526879"/>
                </a:solidFill>
                <a:latin typeface="Arial"/>
                <a:ea typeface="Arial"/>
                <a:cs typeface="Arial"/>
              </a:rPr>
              <a:t>05 / 07</a:t>
            </a:r>
          </a:p>
        </p:txBody>
      </p:sp>
      <p:graphicFrame>
        <p:nvGraphicFramePr>
          <p:cNvPr id="7" name="Chart">
            <a:extLst xmlns:a="http://schemas.openxmlformats.org/drawingml/2006/main">
              <a:ext uri="{FF2B5EF4-FFF2-40B4-BE49-F238E27FC236}">
                <a16:creationId xmlns:a16="http://schemas.microsoft.com/office/drawing/2014/main" id="{5EB7FC66-8FA8-41C7-8AEF-B1F5823338E0}"/>
              </a:ext>
            </a:extLst>
          </p:cNvPr>
          <p:cNvGraphicFramePr/>
          <p:nvPr/>
        </p:nvGraphicFramePr>
        <p:xfrm>
          <a:off xmlns:a="http://schemas.openxmlformats.org/drawingml/2006/main" x="495300" y="1695450"/>
          <a:ext xmlns:a="http://schemas.openxmlformats.org/drawingml/2006/main" cx="7067550" cy="2590800"/>
        </p:xfrm>
        <a:graphic xmlns:a="http://schemas.openxmlformats.org/drawingml/2006/main">
          <a:graphicData uri="http://schemas.openxmlformats.org/drawingml/2006/chart">
            <c:chart xmlns:r="http://schemas.openxmlformats.org/officeDocument/2006/relationships" xmlns:c="http://schemas.openxmlformats.org/drawingml/2006/chart" r:id="Rca771acc065b4c68"/>
          </a:graphicData>
        </a:graphic>
      </p:graphicFrame>
      <p:graphicFrame>
        <p:nvGraphicFramePr>
          <p:cNvPr id="8" name="">
            <a:extLst xmlns:a="http://schemas.openxmlformats.org/drawingml/2006/main">
              <a:ext uri="{FF2B5EF4-FFF2-40B4-BE49-F238E27FC236}">
                <a16:creationId xmlns:a16="http://schemas.microsoft.com/office/drawing/2014/main" id="{F0A8CF58-2DB6-4E52-8271-A12E5DA62E96}"/>
              </a:ext>
            </a:extLst>
          </p:cNvPr>
          <p:cNvGraphicFramePr/>
          <p:nvPr/>
        </p:nvGraphicFramePr>
        <p:xfrm>
          <a:off xmlns:a="http://schemas.openxmlformats.org/drawingml/2006/main" x="495300" y="4543425"/>
          <a:ext xmlns:a="http://schemas.openxmlformats.org/drawingml/2006/main" cx="11201400" cy="1495425"/>
        </p:xfrm>
        <a:graphic xmlns:a="http://schemas.openxmlformats.org/drawingml/2006/main">
          <a:graphicData uri="http://schemas.openxmlformats.org/drawingml/2006/table">
            <a:tbl>
              <a:tblPr/>
              <a:tblGrid>
                <a:gridCol w="2447925"/>
                <a:gridCol w="2286000"/>
                <a:gridCol w="1714500"/>
                <a:gridCol w="4752975"/>
              </a:tblGrid>
              <a:tr h="373856">
                <a:tc>
                  <a:txBody>
                    <a:bodyPr lIns="95250" tIns="95250" rIns="95250" bIns="95250"/>
                    <a:lstStyle/>
                    <a:p>
                      <a:r>
                        <a:rPr sz="1650" b="1">
                          <a:solidFill>
                            <a:srgbClr val="FFFFFF"/>
                          </a:solidFill>
                          <a:latin typeface="Arial"/>
                          <a:ea typeface="Arial"/>
                          <a:cs typeface="Arial"/>
                        </a:rPr>
                        <a:t>Model</a:t>
                      </a:r>
                    </a:p>
                  </a:txBody>
                  <a:tcPr marL="91440" marR="91440" marT="45720" marB="45720" anchor="ctr">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122C43"/>
                    </a:solidFill>
                  </a:tcPr>
                </a:tc>
                <a:tc>
                  <a:txBody>
                    <a:bodyPr lIns="95250" tIns="95250" rIns="95250" bIns="95250"/>
                    <a:lstStyle/>
                    <a:p>
                      <a:r>
                        <a:rPr sz="1650" b="1">
                          <a:solidFill>
                            <a:srgbClr val="FFFFFF"/>
                          </a:solidFill>
                          <a:latin typeface="Arial"/>
                          <a:ea typeface="Arial"/>
                          <a:cs typeface="Arial"/>
                        </a:rPr>
                        <a:t>Search size</a:t>
                      </a:r>
                    </a:p>
                  </a:txBody>
                  <a:tcPr marL="91440" marR="91440" marT="45720" marB="45720" anchor="ctr">
                    <a:lnR w="9525">
                      <a:solidFill>
                        <a:srgbClr val="FFFFFF"/>
                      </a:solidFill>
                      <a:prstDash val="solid"/>
                    </a:lnR>
                    <a:lnT w="9525">
                      <a:solidFill>
                        <a:srgbClr val="FFFFFF"/>
                      </a:solidFill>
                      <a:prstDash val="solid"/>
                    </a:lnT>
                    <a:lnB w="9525">
                      <a:solidFill>
                        <a:srgbClr val="FFFFFF"/>
                      </a:solidFill>
                      <a:prstDash val="solid"/>
                    </a:lnB>
                    <a:solidFill>
                      <a:srgbClr val="122C43"/>
                    </a:solidFill>
                  </a:tcPr>
                </a:tc>
                <a:tc>
                  <a:txBody>
                    <a:bodyPr lIns="95250" tIns="95250" rIns="95250" bIns="95250"/>
                    <a:lstStyle/>
                    <a:p>
                      <a:r>
                        <a:rPr sz="1650" b="1">
                          <a:solidFill>
                            <a:srgbClr val="FFFFFF"/>
                          </a:solidFill>
                          <a:latin typeface="Arial"/>
                          <a:ea typeface="Arial"/>
                          <a:cs typeface="Arial"/>
                        </a:rPr>
                        <a:t>Wall time</a:t>
                      </a:r>
                    </a:p>
                  </a:txBody>
                  <a:tcPr marL="91440" marR="91440" marT="45720" marB="45720" anchor="ctr">
                    <a:lnR w="9525">
                      <a:solidFill>
                        <a:srgbClr val="FFFFFF"/>
                      </a:solidFill>
                      <a:prstDash val="solid"/>
                    </a:lnR>
                    <a:lnT w="9525">
                      <a:solidFill>
                        <a:srgbClr val="FFFFFF"/>
                      </a:solidFill>
                      <a:prstDash val="solid"/>
                    </a:lnT>
                    <a:lnB w="9525">
                      <a:solidFill>
                        <a:srgbClr val="FFFFFF"/>
                      </a:solidFill>
                      <a:prstDash val="solid"/>
                    </a:lnB>
                    <a:solidFill>
                      <a:srgbClr val="122C43"/>
                    </a:solidFill>
                  </a:tcPr>
                </a:tc>
                <a:tc>
                  <a:txBody>
                    <a:bodyPr lIns="95250" tIns="95250" rIns="95250" bIns="95250"/>
                    <a:lstStyle/>
                    <a:p>
                      <a:r>
                        <a:rPr sz="1650" b="1">
                          <a:solidFill>
                            <a:srgbClr val="FFFFFF"/>
                          </a:solidFill>
                          <a:latin typeface="Arial"/>
                          <a:ea typeface="Arial"/>
                          <a:cs typeface="Arial"/>
                        </a:rPr>
                        <a:t>Selected setting</a:t>
                      </a:r>
                    </a:p>
                  </a:txBody>
                  <a:tcPr marL="91440" marR="91440" marT="45720" marB="45720" anchor="ctr">
                    <a:lnR w="9525">
                      <a:solidFill>
                        <a:srgbClr val="FFFFFF"/>
                      </a:solidFill>
                      <a:prstDash val="solid"/>
                    </a:lnR>
                    <a:lnT w="9525">
                      <a:solidFill>
                        <a:srgbClr val="FFFFFF"/>
                      </a:solidFill>
                      <a:prstDash val="solid"/>
                    </a:lnT>
                    <a:lnB w="9525">
                      <a:solidFill>
                        <a:srgbClr val="FFFFFF"/>
                      </a:solidFill>
                      <a:prstDash val="solid"/>
                    </a:lnB>
                    <a:solidFill>
                      <a:srgbClr val="122C43"/>
                    </a:solidFill>
                  </a:tcPr>
                </a:tc>
              </a:tr>
              <a:tr h="373856">
                <a:tc>
                  <a:txBody>
                    <a:bodyPr lIns="95250" tIns="95250" rIns="95250" bIns="95250"/>
                    <a:lstStyle/>
                    <a:p>
                      <a:r>
                        <a:rPr sz="1650" b="0">
                          <a:solidFill>
                            <a:srgbClr val="17334A"/>
                          </a:solidFill>
                          <a:latin typeface="Arial"/>
                          <a:ea typeface="Arial"/>
                          <a:cs typeface="Arial"/>
                        </a:rPr>
                        <a:t>Logistic regression</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EAF3F4"/>
                    </a:solidFill>
                  </a:tcPr>
                </a:tc>
                <a:tc>
                  <a:txBody>
                    <a:bodyPr lIns="95250" tIns="95250" rIns="95250" bIns="95250"/>
                    <a:lstStyle/>
                    <a:p>
                      <a:r>
                        <a:rPr sz="1650" b="0">
                          <a:solidFill>
                            <a:srgbClr val="17334A"/>
                          </a:solidFill>
                          <a:latin typeface="Arial"/>
                          <a:ea typeface="Arial"/>
                          <a:cs typeface="Arial"/>
                        </a:rPr>
                        <a:t>42 grid settings</a:t>
                      </a:r>
                    </a:p>
                  </a:txBody>
                  <a:tcPr marL="91440" marR="91440" marT="45720" marB="45720" anchor="ctr">
                    <a:lnR w="9525">
                      <a:solidFill>
                        <a:srgbClr val="FFFFFF"/>
                      </a:solidFill>
                      <a:prstDash val="solid"/>
                    </a:lnR>
                    <a:lnB w="9525">
                      <a:solidFill>
                        <a:srgbClr val="FFFFFF"/>
                      </a:solidFill>
                      <a:prstDash val="solid"/>
                    </a:lnB>
                    <a:solidFill>
                      <a:srgbClr val="EAF3F4"/>
                    </a:solidFill>
                  </a:tcPr>
                </a:tc>
                <a:tc>
                  <a:txBody>
                    <a:bodyPr lIns="95250" tIns="95250" rIns="95250" bIns="95250"/>
                    <a:lstStyle/>
                    <a:p>
                      <a:r>
                        <a:rPr sz="1650" b="0">
                          <a:solidFill>
                            <a:srgbClr val="17334A"/>
                          </a:solidFill>
                          <a:latin typeface="Arial"/>
                          <a:ea typeface="Arial"/>
                          <a:cs typeface="Arial"/>
                        </a:rPr>
                        <a:t>49.3 s</a:t>
                      </a:r>
                    </a:p>
                  </a:txBody>
                  <a:tcPr marL="91440" marR="91440" marT="45720" marB="45720" anchor="ctr">
                    <a:lnR w="9525">
                      <a:solidFill>
                        <a:srgbClr val="FFFFFF"/>
                      </a:solidFill>
                      <a:prstDash val="solid"/>
                    </a:lnR>
                    <a:lnB w="9525">
                      <a:solidFill>
                        <a:srgbClr val="FFFFFF"/>
                      </a:solidFill>
                      <a:prstDash val="solid"/>
                    </a:lnB>
                    <a:solidFill>
                      <a:srgbClr val="EAF3F4"/>
                    </a:solidFill>
                  </a:tcPr>
                </a:tc>
                <a:tc>
                  <a:txBody>
                    <a:bodyPr lIns="95250" tIns="95250" rIns="95250" bIns="95250"/>
                    <a:lstStyle/>
                    <a:p>
                      <a:r>
                        <a:rPr sz="1650" b="0">
                          <a:solidFill>
                            <a:srgbClr val="17334A"/>
                          </a:solidFill>
                          <a:latin typeface="Arial"/>
                          <a:ea typeface="Arial"/>
                          <a:cs typeface="Arial"/>
                        </a:rPr>
                        <a:t>C 0.1, elastic net, SAGA</a:t>
                      </a:r>
                    </a:p>
                  </a:txBody>
                  <a:tcPr marL="91440" marR="91440" marT="45720" marB="45720" anchor="ctr">
                    <a:lnR w="9525">
                      <a:solidFill>
                        <a:srgbClr val="FFFFFF"/>
                      </a:solidFill>
                      <a:prstDash val="solid"/>
                    </a:lnR>
                    <a:lnB w="9525">
                      <a:solidFill>
                        <a:srgbClr val="FFFFFF"/>
                      </a:solidFill>
                      <a:prstDash val="solid"/>
                    </a:lnB>
                    <a:solidFill>
                      <a:srgbClr val="EAF3F4"/>
                    </a:solidFill>
                  </a:tcPr>
                </a:tc>
              </a:tr>
              <a:tr h="373856">
                <a:tc>
                  <a:txBody>
                    <a:bodyPr lIns="95250" tIns="95250" rIns="95250" bIns="95250"/>
                    <a:lstStyle/>
                    <a:p>
                      <a:r>
                        <a:rPr sz="1650" b="0">
                          <a:solidFill>
                            <a:srgbClr val="17334A"/>
                          </a:solidFill>
                          <a:latin typeface="Arial"/>
                          <a:ea typeface="Arial"/>
                          <a:cs typeface="Arial"/>
                        </a:rPr>
                        <a:t>Decision tree</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FFFFFF"/>
                    </a:solidFill>
                  </a:tcPr>
                </a:tc>
                <a:tc>
                  <a:txBody>
                    <a:bodyPr lIns="95250" tIns="95250" rIns="95250" bIns="95250"/>
                    <a:lstStyle/>
                    <a:p>
                      <a:r>
                        <a:rPr sz="1650" b="0">
                          <a:solidFill>
                            <a:srgbClr val="17334A"/>
                          </a:solidFill>
                          <a:latin typeface="Arial"/>
                          <a:ea typeface="Arial"/>
                          <a:cs typeface="Arial"/>
                        </a:rPr>
                        <a:t>24 grid settings</a:t>
                      </a:r>
                    </a:p>
                  </a:txBody>
                  <a:tcPr marL="91440" marR="91440" marT="45720" marB="45720" anchor="ctr">
                    <a:lnR w="9525">
                      <a:solidFill>
                        <a:srgbClr val="FFFFFF"/>
                      </a:solidFill>
                      <a:prstDash val="solid"/>
                    </a:lnR>
                    <a:lnB w="9525">
                      <a:solidFill>
                        <a:srgbClr val="FFFFFF"/>
                      </a:solidFill>
                      <a:prstDash val="solid"/>
                    </a:lnB>
                    <a:solidFill>
                      <a:srgbClr val="FFFFFF"/>
                    </a:solidFill>
                  </a:tcPr>
                </a:tc>
                <a:tc>
                  <a:txBody>
                    <a:bodyPr lIns="95250" tIns="95250" rIns="95250" bIns="95250"/>
                    <a:lstStyle/>
                    <a:p>
                      <a:r>
                        <a:rPr sz="1650" b="0">
                          <a:solidFill>
                            <a:srgbClr val="17334A"/>
                          </a:solidFill>
                          <a:latin typeface="Arial"/>
                          <a:ea typeface="Arial"/>
                          <a:cs typeface="Arial"/>
                        </a:rPr>
                        <a:t>11.8 s</a:t>
                      </a:r>
                    </a:p>
                  </a:txBody>
                  <a:tcPr marL="91440" marR="91440" marT="45720" marB="45720" anchor="ctr">
                    <a:lnR w="9525">
                      <a:solidFill>
                        <a:srgbClr val="FFFFFF"/>
                      </a:solidFill>
                      <a:prstDash val="solid"/>
                    </a:lnR>
                    <a:lnB w="9525">
                      <a:solidFill>
                        <a:srgbClr val="FFFFFF"/>
                      </a:solidFill>
                      <a:prstDash val="solid"/>
                    </a:lnB>
                    <a:solidFill>
                      <a:srgbClr val="FFFFFF"/>
                    </a:solidFill>
                  </a:tcPr>
                </a:tc>
                <a:tc>
                  <a:txBody>
                    <a:bodyPr lIns="95250" tIns="95250" rIns="95250" bIns="95250"/>
                    <a:lstStyle/>
                    <a:p>
                      <a:r>
                        <a:rPr sz="1650" b="0">
                          <a:solidFill>
                            <a:srgbClr val="17334A"/>
                          </a:solidFill>
                          <a:latin typeface="Arial"/>
                          <a:ea typeface="Arial"/>
                          <a:cs typeface="Arial"/>
                        </a:rPr>
                        <a:t>Depth 3, leaf minimum 50</a:t>
                      </a:r>
                    </a:p>
                  </a:txBody>
                  <a:tcPr marL="91440" marR="91440" marT="45720" marB="45720" anchor="ctr">
                    <a:lnR w="9525">
                      <a:solidFill>
                        <a:srgbClr val="FFFFFF"/>
                      </a:solidFill>
                      <a:prstDash val="solid"/>
                    </a:lnR>
                    <a:lnB w="9525">
                      <a:solidFill>
                        <a:srgbClr val="FFFFFF"/>
                      </a:solidFill>
                      <a:prstDash val="solid"/>
                    </a:lnB>
                    <a:solidFill>
                      <a:srgbClr val="FFFFFF"/>
                    </a:solidFill>
                  </a:tcPr>
                </a:tc>
              </a:tr>
              <a:tr h="373856">
                <a:tc>
                  <a:txBody>
                    <a:bodyPr lIns="95250" tIns="95250" rIns="95250" bIns="95250"/>
                    <a:lstStyle/>
                    <a:p>
                      <a:r>
                        <a:rPr sz="1650" b="0">
                          <a:solidFill>
                            <a:srgbClr val="17334A"/>
                          </a:solidFill>
                          <a:latin typeface="Arial"/>
                          <a:ea typeface="Arial"/>
                          <a:cs typeface="Arial"/>
                        </a:rPr>
                        <a:t>Random forest</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EAF3F4"/>
                    </a:solidFill>
                  </a:tcPr>
                </a:tc>
                <a:tc>
                  <a:txBody>
                    <a:bodyPr lIns="95250" tIns="95250" rIns="95250" bIns="95250"/>
                    <a:lstStyle/>
                    <a:p>
                      <a:r>
                        <a:rPr sz="1650" b="0">
                          <a:solidFill>
                            <a:srgbClr val="17334A"/>
                          </a:solidFill>
                          <a:latin typeface="Arial"/>
                          <a:ea typeface="Arial"/>
                          <a:cs typeface="Arial"/>
                        </a:rPr>
                        <a:t>16 random trials</a:t>
                      </a:r>
                    </a:p>
                  </a:txBody>
                  <a:tcPr marL="91440" marR="91440" marT="45720" marB="45720" anchor="ctr">
                    <a:lnR w="9525">
                      <a:solidFill>
                        <a:srgbClr val="FFFFFF"/>
                      </a:solidFill>
                      <a:prstDash val="solid"/>
                    </a:lnR>
                    <a:lnB w="9525">
                      <a:solidFill>
                        <a:srgbClr val="FFFFFF"/>
                      </a:solidFill>
                      <a:prstDash val="solid"/>
                    </a:lnB>
                    <a:solidFill>
                      <a:srgbClr val="EAF3F4"/>
                    </a:solidFill>
                  </a:tcPr>
                </a:tc>
                <a:tc>
                  <a:txBody>
                    <a:bodyPr lIns="95250" tIns="95250" rIns="95250" bIns="95250"/>
                    <a:lstStyle/>
                    <a:p>
                      <a:r>
                        <a:rPr sz="1650" b="0">
                          <a:solidFill>
                            <a:srgbClr val="17334A"/>
                          </a:solidFill>
                          <a:latin typeface="Arial"/>
                          <a:ea typeface="Arial"/>
                          <a:cs typeface="Arial"/>
                        </a:rPr>
                        <a:t>93.7 s</a:t>
                      </a:r>
                    </a:p>
                  </a:txBody>
                  <a:tcPr marL="91440" marR="91440" marT="45720" marB="45720" anchor="ctr">
                    <a:lnR w="9525">
                      <a:solidFill>
                        <a:srgbClr val="FFFFFF"/>
                      </a:solidFill>
                      <a:prstDash val="solid"/>
                    </a:lnR>
                    <a:lnB w="9525">
                      <a:solidFill>
                        <a:srgbClr val="FFFFFF"/>
                      </a:solidFill>
                      <a:prstDash val="solid"/>
                    </a:lnB>
                    <a:solidFill>
                      <a:srgbClr val="EAF3F4"/>
                    </a:solidFill>
                  </a:tcPr>
                </a:tc>
                <a:tc>
                  <a:txBody>
                    <a:bodyPr lIns="95250" tIns="95250" rIns="95250" bIns="95250"/>
                    <a:lstStyle/>
                    <a:p>
                      <a:r>
                        <a:rPr sz="1650" b="0">
                          <a:solidFill>
                            <a:srgbClr val="17334A"/>
                          </a:solidFill>
                          <a:latin typeface="Arial"/>
                          <a:ea typeface="Arial"/>
                          <a:cs typeface="Arial"/>
                        </a:rPr>
                        <a:t>200 trees, depth 5, leaf 15</a:t>
                      </a:r>
                    </a:p>
                  </a:txBody>
                  <a:tcPr marL="91440" marR="91440" marT="45720" marB="45720" anchor="ctr">
                    <a:lnR w="9525">
                      <a:solidFill>
                        <a:srgbClr val="FFFFFF"/>
                      </a:solidFill>
                      <a:prstDash val="solid"/>
                    </a:lnR>
                    <a:lnB w="9525">
                      <a:solidFill>
                        <a:srgbClr val="FFFFFF"/>
                      </a:solidFill>
                      <a:prstDash val="solid"/>
                    </a:lnB>
                    <a:solidFill>
                      <a:srgbClr val="EAF3F4"/>
                    </a:solidFill>
                  </a:tcPr>
                </a:tc>
              </a:tr>
            </a:tbl>
          </a:graphicData>
        </a:graphic>
      </p:graphicFrame>
      <p:sp>
        <p:nvSpPr>
          <p:cNvPr id="9" name="">
            <a:extLst xmlns:a="http://schemas.openxmlformats.org/drawingml/2006/main">
              <a:ext uri="{FF2B5EF4-FFF2-40B4-BE49-F238E27FC236}">
                <a16:creationId xmlns:a16="http://schemas.microsoft.com/office/drawing/2014/main" id="{E13D142D-4DB6-425F-93DC-47B2B3244DE2}"/>
              </a:ext>
            </a:extLst>
          </p:cNvPr>
          <p:cNvSpPr>
            <a:spLocks xmlns:a="http://schemas.openxmlformats.org/drawingml/2006/main" noGrp="1"/>
          </p:cNvSpPr>
          <p:nvPr/>
        </p:nvSpPr>
        <p:spPr>
          <a:xfrm xmlns:a="http://schemas.openxmlformats.org/drawingml/2006/main">
            <a:off x="495300" y="6162675"/>
            <a:ext cx="11201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526879"/>
                </a:solidFill>
                <a:latin typeface="Arial"/>
                <a:ea typeface="Arial"/>
                <a:cs typeface="Arial"/>
              </a:defRPr>
            </a:defPPr>
            <a:lvl1pPr>
              <a:defRPr sz="1575" b="0">
                <a:solidFill>
                  <a:srgbClr val="526879"/>
                </a:solidFill>
                <a:latin typeface="Arial"/>
                <a:ea typeface="Arial"/>
                <a:cs typeface="Arial"/>
              </a:defRPr>
            </a:lvl1pPr>
            <a:lvl2pPr>
              <a:defRPr sz="1575" b="0">
                <a:solidFill>
                  <a:srgbClr val="526879"/>
                </a:solidFill>
                <a:latin typeface="Arial"/>
                <a:ea typeface="Arial"/>
                <a:cs typeface="Arial"/>
              </a:defRPr>
            </a:lvl2pPr>
            <a:lvl3pPr>
              <a:defRPr sz="1575" b="0">
                <a:solidFill>
                  <a:srgbClr val="526879"/>
                </a:solidFill>
                <a:latin typeface="Arial"/>
                <a:ea typeface="Arial"/>
                <a:cs typeface="Arial"/>
              </a:defRPr>
            </a:lvl3pPr>
            <a:lvl4pPr>
              <a:defRPr sz="1575" b="0">
                <a:solidFill>
                  <a:srgbClr val="526879"/>
                </a:solidFill>
                <a:latin typeface="Arial"/>
                <a:ea typeface="Arial"/>
                <a:cs typeface="Arial"/>
              </a:defRPr>
            </a:lvl4pPr>
            <a:lvl5pPr>
              <a:defRPr sz="1575" b="0">
                <a:solidFill>
                  <a:srgbClr val="526879"/>
                </a:solidFill>
                <a:latin typeface="Arial"/>
                <a:ea typeface="Arial"/>
                <a:cs typeface="Arial"/>
              </a:defRPr>
            </a:lvl5pPr>
            <a:lvl6pPr>
              <a:defRPr sz="1575" b="0">
                <a:solidFill>
                  <a:srgbClr val="526879"/>
                </a:solidFill>
                <a:latin typeface="Arial"/>
                <a:ea typeface="Arial"/>
                <a:cs typeface="Arial"/>
              </a:defRPr>
            </a:lvl6pPr>
            <a:lvl7pPr>
              <a:defRPr sz="1575" b="0">
                <a:solidFill>
                  <a:srgbClr val="526879"/>
                </a:solidFill>
                <a:latin typeface="Arial"/>
                <a:ea typeface="Arial"/>
                <a:cs typeface="Arial"/>
              </a:defRPr>
            </a:lvl7pPr>
            <a:lvl8pPr>
              <a:defRPr sz="1575" b="0">
                <a:solidFill>
                  <a:srgbClr val="526879"/>
                </a:solidFill>
                <a:latin typeface="Arial"/>
                <a:ea typeface="Arial"/>
                <a:cs typeface="Arial"/>
              </a:defRPr>
            </a:lvl8pPr>
            <a:lvl9pPr>
              <a:defRPr sz="1575" b="0">
                <a:solidFill>
                  <a:srgbClr val="526879"/>
                </a:solidFill>
                <a:latin typeface="Arial"/>
                <a:ea typeface="Arial"/>
                <a:cs typeface="Arial"/>
              </a:defRPr>
            </a:lvl9pPr>
          </a:lstStyle>
          <a:p xmlns:a="http://schemas.openxmlformats.org/drawingml/2006/main">
            <a:pPr>
              <a:defRPr sz="1575" b="0">
                <a:solidFill>
                  <a:srgbClr val="526879"/>
                </a:solidFill>
                <a:latin typeface="Arial"/>
                <a:ea typeface="Arial"/>
                <a:cs typeface="Arial"/>
              </a:defRPr>
            </a:pPr>
            <a:r>
              <a:rPr sz="1575" b="0">
                <a:solidFill>
                  <a:srgbClr val="526879"/>
                </a:solidFill>
                <a:latin typeface="Arial"/>
                <a:ea typeface="Arial"/>
                <a:cs typeface="Arial"/>
              </a:rPr>
              <a:t>5-fold stratified CV. Dummy validation AP: 0.164. Search times include CV and refitting.</a:t>
            </a:r>
          </a:p>
        </p:txBody>
      </p:sp>
      <p:sp>
        <p:nvSpPr>
          <p:cNvPr id="10" name="">
            <a:extLst xmlns:a="http://schemas.openxmlformats.org/drawingml/2006/main">
              <a:ext uri="{FF2B5EF4-FFF2-40B4-BE49-F238E27FC236}">
                <a16:creationId xmlns:a16="http://schemas.microsoft.com/office/drawing/2014/main" id="{1CB3489C-5CB1-4D23-A436-8425E1F72F79}"/>
              </a:ext>
            </a:extLst>
          </p:cNvPr>
          <p:cNvSpPr>
            <a:spLocks xmlns:a="http://schemas.openxmlformats.org/drawingml/2006/main" noGrp="1"/>
          </p:cNvSpPr>
          <p:nvPr/>
        </p:nvSpPr>
        <p:spPr>
          <a:xfrm xmlns:a="http://schemas.openxmlformats.org/drawingml/2006/main">
            <a:off x="8067675" y="1714500"/>
            <a:ext cx="36290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122C43"/>
                </a:solidFill>
                <a:latin typeface="Arial"/>
                <a:ea typeface="Arial"/>
                <a:cs typeface="Arial"/>
              </a:defRPr>
            </a:defPPr>
            <a:lvl1pPr>
              <a:defRPr sz="2100" b="1">
                <a:solidFill>
                  <a:srgbClr val="122C43"/>
                </a:solidFill>
                <a:latin typeface="Arial"/>
                <a:ea typeface="Arial"/>
                <a:cs typeface="Arial"/>
              </a:defRPr>
            </a:lvl1pPr>
            <a:lvl2pPr>
              <a:defRPr sz="2100" b="1">
                <a:solidFill>
                  <a:srgbClr val="122C43"/>
                </a:solidFill>
                <a:latin typeface="Arial"/>
                <a:ea typeface="Arial"/>
                <a:cs typeface="Arial"/>
              </a:defRPr>
            </a:lvl2pPr>
            <a:lvl3pPr>
              <a:defRPr sz="2100" b="1">
                <a:solidFill>
                  <a:srgbClr val="122C43"/>
                </a:solidFill>
                <a:latin typeface="Arial"/>
                <a:ea typeface="Arial"/>
                <a:cs typeface="Arial"/>
              </a:defRPr>
            </a:lvl3pPr>
            <a:lvl4pPr>
              <a:defRPr sz="2100" b="1">
                <a:solidFill>
                  <a:srgbClr val="122C43"/>
                </a:solidFill>
                <a:latin typeface="Arial"/>
                <a:ea typeface="Arial"/>
                <a:cs typeface="Arial"/>
              </a:defRPr>
            </a:lvl4pPr>
            <a:lvl5pPr>
              <a:defRPr sz="2100" b="1">
                <a:solidFill>
                  <a:srgbClr val="122C43"/>
                </a:solidFill>
                <a:latin typeface="Arial"/>
                <a:ea typeface="Arial"/>
                <a:cs typeface="Arial"/>
              </a:defRPr>
            </a:lvl5pPr>
            <a:lvl6pPr>
              <a:defRPr sz="2100" b="1">
                <a:solidFill>
                  <a:srgbClr val="122C43"/>
                </a:solidFill>
                <a:latin typeface="Arial"/>
                <a:ea typeface="Arial"/>
                <a:cs typeface="Arial"/>
              </a:defRPr>
            </a:lvl6pPr>
            <a:lvl7pPr>
              <a:defRPr sz="2100" b="1">
                <a:solidFill>
                  <a:srgbClr val="122C43"/>
                </a:solidFill>
                <a:latin typeface="Arial"/>
                <a:ea typeface="Arial"/>
                <a:cs typeface="Arial"/>
              </a:defRPr>
            </a:lvl7pPr>
            <a:lvl8pPr>
              <a:defRPr sz="2100" b="1">
                <a:solidFill>
                  <a:srgbClr val="122C43"/>
                </a:solidFill>
                <a:latin typeface="Arial"/>
                <a:ea typeface="Arial"/>
                <a:cs typeface="Arial"/>
              </a:defRPr>
            </a:lvl8pPr>
            <a:lvl9pPr>
              <a:defRPr sz="2100" b="1">
                <a:solidFill>
                  <a:srgbClr val="122C43"/>
                </a:solidFill>
                <a:latin typeface="Arial"/>
                <a:ea typeface="Arial"/>
                <a:cs typeface="Arial"/>
              </a:defRPr>
            </a:lvl9pPr>
          </a:lstStyle>
          <a:p xmlns:a="http://schemas.openxmlformats.org/drawingml/2006/main">
            <a:pPr>
              <a:defRPr sz="2100" b="1">
                <a:solidFill>
                  <a:srgbClr val="122C43"/>
                </a:solidFill>
                <a:latin typeface="Arial"/>
                <a:ea typeface="Arial"/>
                <a:cs typeface="Arial"/>
              </a:defRPr>
            </a:pPr>
            <a:r>
              <a:rPr sz="2100" b="1">
                <a:solidFill>
                  <a:srgbClr val="122C43"/>
                </a:solidFill>
                <a:latin typeface="Arial"/>
                <a:ea typeface="Arial"/>
                <a:cs typeface="Arial"/>
              </a:rPr>
              <a:t>Benefit of tuning</a:t>
            </a:r>
          </a:p>
        </p:txBody>
      </p:sp>
      <p:graphicFrame>
        <p:nvGraphicFramePr>
          <p:cNvPr id="11" name="">
            <a:extLst xmlns:a="http://schemas.openxmlformats.org/drawingml/2006/main">
              <a:ext uri="{FF2B5EF4-FFF2-40B4-BE49-F238E27FC236}">
                <a16:creationId xmlns:a16="http://schemas.microsoft.com/office/drawing/2014/main" id="{5E615625-8C01-4E44-AD43-3C9A6056BB9B}"/>
              </a:ext>
            </a:extLst>
          </p:cNvPr>
          <p:cNvGraphicFramePr/>
          <p:nvPr/>
        </p:nvGraphicFramePr>
        <p:xfrm>
          <a:off xmlns:a="http://schemas.openxmlformats.org/drawingml/2006/main" x="8067675" y="2181225"/>
          <a:ext xmlns:a="http://schemas.openxmlformats.org/drawingml/2006/main" cx="3629025" cy="1552575"/>
        </p:xfrm>
        <a:graphic xmlns:a="http://schemas.openxmlformats.org/drawingml/2006/main">
          <a:graphicData uri="http://schemas.openxmlformats.org/drawingml/2006/table">
            <a:tbl>
              <a:tblPr/>
              <a:tblGrid>
                <a:gridCol w="1238250"/>
                <a:gridCol w="1190625"/>
                <a:gridCol w="1200150"/>
              </a:tblGrid>
              <a:tr h="388144">
                <a:tc>
                  <a:txBody>
                    <a:bodyPr lIns="66675" tIns="66675" rIns="66675" bIns="66675"/>
                    <a:lstStyle/>
                    <a:p>
                      <a:r>
                        <a:rPr sz="1650" b="1">
                          <a:solidFill>
                            <a:srgbClr val="FFFFFF"/>
                          </a:solidFill>
                          <a:latin typeface="Arial"/>
                          <a:ea typeface="Arial"/>
                          <a:cs typeface="Arial"/>
                        </a:rPr>
                        <a:t>Model</a:t>
                      </a:r>
                    </a:p>
                  </a:txBody>
                  <a:tcPr marL="91440" marR="91440" marT="45720" marB="45720" anchor="ctr">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122C43"/>
                    </a:solidFill>
                  </a:tcPr>
                </a:tc>
                <a:tc>
                  <a:txBody>
                    <a:bodyPr lIns="66675" tIns="66675" rIns="66675" bIns="66675"/>
                    <a:lstStyle/>
                    <a:p>
                      <a:r>
                        <a:rPr sz="1650" b="1">
                          <a:solidFill>
                            <a:srgbClr val="FFFFFF"/>
                          </a:solidFill>
                          <a:latin typeface="Arial"/>
                          <a:ea typeface="Arial"/>
                          <a:cs typeface="Arial"/>
                        </a:rPr>
                        <a:t>AP gain</a:t>
                      </a:r>
                    </a:p>
                  </a:txBody>
                  <a:tcPr marL="91440" marR="91440" marT="45720" marB="45720" anchor="ctr">
                    <a:lnR w="9525">
                      <a:solidFill>
                        <a:srgbClr val="FFFFFF"/>
                      </a:solidFill>
                      <a:prstDash val="solid"/>
                    </a:lnR>
                    <a:lnT w="9525">
                      <a:solidFill>
                        <a:srgbClr val="FFFFFF"/>
                      </a:solidFill>
                      <a:prstDash val="solid"/>
                    </a:lnT>
                    <a:lnB w="9525">
                      <a:solidFill>
                        <a:srgbClr val="FFFFFF"/>
                      </a:solidFill>
                      <a:prstDash val="solid"/>
                    </a:lnB>
                    <a:solidFill>
                      <a:srgbClr val="122C43"/>
                    </a:solidFill>
                  </a:tcPr>
                </a:tc>
                <a:tc>
                  <a:txBody>
                    <a:bodyPr lIns="66675" tIns="66675" rIns="66675" bIns="66675"/>
                    <a:lstStyle/>
                    <a:p>
                      <a:r>
                        <a:rPr sz="1650" b="1">
                          <a:solidFill>
                            <a:srgbClr val="FFFFFF"/>
                          </a:solidFill>
                          <a:latin typeface="Arial"/>
                          <a:ea typeface="Arial"/>
                          <a:cs typeface="Arial"/>
                        </a:rPr>
                        <a:t>Relative</a:t>
                      </a:r>
                    </a:p>
                  </a:txBody>
                  <a:tcPr marL="91440" marR="91440" marT="45720" marB="45720" anchor="ctr">
                    <a:lnR w="9525">
                      <a:solidFill>
                        <a:srgbClr val="FFFFFF"/>
                      </a:solidFill>
                      <a:prstDash val="solid"/>
                    </a:lnR>
                    <a:lnT w="9525">
                      <a:solidFill>
                        <a:srgbClr val="FFFFFF"/>
                      </a:solidFill>
                      <a:prstDash val="solid"/>
                    </a:lnT>
                    <a:lnB w="9525">
                      <a:solidFill>
                        <a:srgbClr val="FFFFFF"/>
                      </a:solidFill>
                      <a:prstDash val="solid"/>
                    </a:lnB>
                    <a:solidFill>
                      <a:srgbClr val="122C43"/>
                    </a:solidFill>
                  </a:tcPr>
                </a:tc>
              </a:tr>
              <a:tr h="388144">
                <a:tc>
                  <a:txBody>
                    <a:bodyPr lIns="66675" tIns="66675" rIns="66675" bIns="66675"/>
                    <a:lstStyle/>
                    <a:p>
                      <a:r>
                        <a:rPr sz="1650" b="0">
                          <a:solidFill>
                            <a:srgbClr val="17334A"/>
                          </a:solidFill>
                          <a:latin typeface="Arial"/>
                          <a:ea typeface="Arial"/>
                          <a:cs typeface="Arial"/>
                        </a:rPr>
                        <a:t>Logistic</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EAF3F4"/>
                    </a:solidFill>
                  </a:tcPr>
                </a:tc>
                <a:tc>
                  <a:txBody>
                    <a:bodyPr lIns="66675" tIns="66675" rIns="66675" bIns="66675"/>
                    <a:lstStyle/>
                    <a:p>
                      <a:r>
                        <a:rPr sz="1650" b="0">
                          <a:solidFill>
                            <a:srgbClr val="17334A"/>
                          </a:solidFill>
                          <a:latin typeface="Arial"/>
                          <a:ea typeface="Arial"/>
                          <a:cs typeface="Arial"/>
                        </a:rPr>
                        <a:t>+0.0047</a:t>
                      </a:r>
                    </a:p>
                  </a:txBody>
                  <a:tcPr marL="91440" marR="91440" marT="45720" marB="45720" anchor="ctr">
                    <a:lnR w="9525">
                      <a:solidFill>
                        <a:srgbClr val="FFFFFF"/>
                      </a:solidFill>
                      <a:prstDash val="solid"/>
                    </a:lnR>
                    <a:lnB w="9525">
                      <a:solidFill>
                        <a:srgbClr val="FFFFFF"/>
                      </a:solidFill>
                      <a:prstDash val="solid"/>
                    </a:lnB>
                    <a:solidFill>
                      <a:srgbClr val="EAF3F4"/>
                    </a:solidFill>
                  </a:tcPr>
                </a:tc>
                <a:tc>
                  <a:txBody>
                    <a:bodyPr lIns="66675" tIns="66675" rIns="66675" bIns="66675"/>
                    <a:lstStyle/>
                    <a:p>
                      <a:r>
                        <a:rPr sz="1650" b="0">
                          <a:solidFill>
                            <a:srgbClr val="17334A"/>
                          </a:solidFill>
                          <a:latin typeface="Arial"/>
                          <a:ea typeface="Arial"/>
                          <a:cs typeface="Arial"/>
                        </a:rPr>
                        <a:t>+1.6%</a:t>
                      </a:r>
                    </a:p>
                  </a:txBody>
                  <a:tcPr marL="91440" marR="91440" marT="45720" marB="45720" anchor="ctr">
                    <a:lnR w="9525">
                      <a:solidFill>
                        <a:srgbClr val="FFFFFF"/>
                      </a:solidFill>
                      <a:prstDash val="solid"/>
                    </a:lnR>
                    <a:lnB w="9525">
                      <a:solidFill>
                        <a:srgbClr val="FFFFFF"/>
                      </a:solidFill>
                      <a:prstDash val="solid"/>
                    </a:lnB>
                    <a:solidFill>
                      <a:srgbClr val="EAF3F4"/>
                    </a:solidFill>
                  </a:tcPr>
                </a:tc>
              </a:tr>
              <a:tr h="388144">
                <a:tc>
                  <a:txBody>
                    <a:bodyPr lIns="66675" tIns="66675" rIns="66675" bIns="66675"/>
                    <a:lstStyle/>
                    <a:p>
                      <a:r>
                        <a:rPr sz="1650" b="0">
                          <a:solidFill>
                            <a:srgbClr val="17334A"/>
                          </a:solidFill>
                          <a:latin typeface="Arial"/>
                          <a:ea typeface="Arial"/>
                          <a:cs typeface="Arial"/>
                        </a:rPr>
                        <a:t>Tree</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FFFFFF"/>
                    </a:solidFill>
                  </a:tcPr>
                </a:tc>
                <a:tc>
                  <a:txBody>
                    <a:bodyPr lIns="66675" tIns="66675" rIns="66675" bIns="66675"/>
                    <a:lstStyle/>
                    <a:p>
                      <a:r>
                        <a:rPr sz="1650" b="0">
                          <a:solidFill>
                            <a:srgbClr val="17334A"/>
                          </a:solidFill>
                          <a:latin typeface="Arial"/>
                          <a:ea typeface="Arial"/>
                          <a:cs typeface="Arial"/>
                        </a:rPr>
                        <a:t>+0.0693</a:t>
                      </a:r>
                    </a:p>
                  </a:txBody>
                  <a:tcPr marL="91440" marR="91440" marT="45720" marB="45720" anchor="ctr">
                    <a:lnR w="9525">
                      <a:solidFill>
                        <a:srgbClr val="FFFFFF"/>
                      </a:solidFill>
                      <a:prstDash val="solid"/>
                    </a:lnR>
                    <a:lnB w="9525">
                      <a:solidFill>
                        <a:srgbClr val="FFFFFF"/>
                      </a:solidFill>
                      <a:prstDash val="solid"/>
                    </a:lnB>
                    <a:solidFill>
                      <a:srgbClr val="FFFFFF"/>
                    </a:solidFill>
                  </a:tcPr>
                </a:tc>
                <a:tc>
                  <a:txBody>
                    <a:bodyPr lIns="66675" tIns="66675" rIns="66675" bIns="66675"/>
                    <a:lstStyle/>
                    <a:p>
                      <a:r>
                        <a:rPr sz="1650" b="0">
                          <a:solidFill>
                            <a:srgbClr val="17334A"/>
                          </a:solidFill>
                          <a:latin typeface="Arial"/>
                          <a:ea typeface="Arial"/>
                          <a:cs typeface="Arial"/>
                        </a:rPr>
                        <a:t>+39.5%</a:t>
                      </a:r>
                    </a:p>
                  </a:txBody>
                  <a:tcPr marL="91440" marR="91440" marT="45720" marB="45720" anchor="ctr">
                    <a:lnR w="9525">
                      <a:solidFill>
                        <a:srgbClr val="FFFFFF"/>
                      </a:solidFill>
                      <a:prstDash val="solid"/>
                    </a:lnR>
                    <a:lnB w="9525">
                      <a:solidFill>
                        <a:srgbClr val="FFFFFF"/>
                      </a:solidFill>
                      <a:prstDash val="solid"/>
                    </a:lnB>
                    <a:solidFill>
                      <a:srgbClr val="FFFFFF"/>
                    </a:solidFill>
                  </a:tcPr>
                </a:tc>
              </a:tr>
              <a:tr h="388144">
                <a:tc>
                  <a:txBody>
                    <a:bodyPr lIns="66675" tIns="66675" rIns="66675" bIns="66675"/>
                    <a:lstStyle/>
                    <a:p>
                      <a:r>
                        <a:rPr sz="1650" b="0">
                          <a:solidFill>
                            <a:srgbClr val="17334A"/>
                          </a:solidFill>
                          <a:latin typeface="Arial"/>
                          <a:ea typeface="Arial"/>
                          <a:cs typeface="Arial"/>
                        </a:rPr>
                        <a:t>Forest</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EAF3F4"/>
                    </a:solidFill>
                  </a:tcPr>
                </a:tc>
                <a:tc>
                  <a:txBody>
                    <a:bodyPr lIns="66675" tIns="66675" rIns="66675" bIns="66675"/>
                    <a:lstStyle/>
                    <a:p>
                      <a:r>
                        <a:rPr sz="1650" b="0">
                          <a:solidFill>
                            <a:srgbClr val="17334A"/>
                          </a:solidFill>
                          <a:latin typeface="Arial"/>
                          <a:ea typeface="Arial"/>
                          <a:cs typeface="Arial"/>
                        </a:rPr>
                        <a:t>+0.0155</a:t>
                      </a:r>
                    </a:p>
                  </a:txBody>
                  <a:tcPr marL="91440" marR="91440" marT="45720" marB="45720" anchor="ctr">
                    <a:lnR w="9525">
                      <a:solidFill>
                        <a:srgbClr val="FFFFFF"/>
                      </a:solidFill>
                      <a:prstDash val="solid"/>
                    </a:lnR>
                    <a:lnB w="9525">
                      <a:solidFill>
                        <a:srgbClr val="FFFFFF"/>
                      </a:solidFill>
                      <a:prstDash val="solid"/>
                    </a:lnB>
                    <a:solidFill>
                      <a:srgbClr val="EAF3F4"/>
                    </a:solidFill>
                  </a:tcPr>
                </a:tc>
                <a:tc>
                  <a:txBody>
                    <a:bodyPr lIns="66675" tIns="66675" rIns="66675" bIns="66675"/>
                    <a:lstStyle/>
                    <a:p>
                      <a:r>
                        <a:rPr sz="1650" b="0">
                          <a:solidFill>
                            <a:srgbClr val="17334A"/>
                          </a:solidFill>
                          <a:latin typeface="Arial"/>
                          <a:ea typeface="Arial"/>
                          <a:cs typeface="Arial"/>
                        </a:rPr>
                        <a:t>+6.2%</a:t>
                      </a:r>
                    </a:p>
                  </a:txBody>
                  <a:tcPr marL="91440" marR="91440" marT="45720" marB="45720" anchor="ctr">
                    <a:lnR w="9525">
                      <a:solidFill>
                        <a:srgbClr val="FFFFFF"/>
                      </a:solidFill>
                      <a:prstDash val="solid"/>
                    </a:lnR>
                    <a:lnB w="9525">
                      <a:solidFill>
                        <a:srgbClr val="FFFFFF"/>
                      </a:solidFill>
                      <a:prstDash val="solid"/>
                    </a:lnB>
                    <a:solidFill>
                      <a:srgbClr val="EAF3F4"/>
                    </a:solidFill>
                  </a:tcPr>
                </a:tc>
              </a:tr>
            </a:tbl>
          </a:graphicData>
        </a:graphic>
      </p:graphicFrame>
      <p:sp>
        <p:nvSpPr>
          <p:cNvPr id="12" name="">
            <a:extLst xmlns:a="http://schemas.openxmlformats.org/drawingml/2006/main">
              <a:ext uri="{FF2B5EF4-FFF2-40B4-BE49-F238E27FC236}">
                <a16:creationId xmlns:a16="http://schemas.microsoft.com/office/drawing/2014/main" id="{FCC64F72-D52D-4B50-B161-22C1D7F2344C}"/>
              </a:ext>
            </a:extLst>
          </p:cNvPr>
          <p:cNvSpPr>
            <a:spLocks xmlns:a="http://schemas.openxmlformats.org/drawingml/2006/main" noGrp="1"/>
          </p:cNvSpPr>
          <p:nvPr/>
        </p:nvSpPr>
        <p:spPr>
          <a:xfrm xmlns:a="http://schemas.openxmlformats.org/drawingml/2006/main">
            <a:off x="8067675" y="3905250"/>
            <a:ext cx="36290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526879"/>
                </a:solidFill>
                <a:latin typeface="Arial"/>
                <a:ea typeface="Arial"/>
                <a:cs typeface="Arial"/>
              </a:defRPr>
            </a:defPPr>
            <a:lvl1pPr>
              <a:defRPr sz="1575" b="0">
                <a:solidFill>
                  <a:srgbClr val="526879"/>
                </a:solidFill>
                <a:latin typeface="Arial"/>
                <a:ea typeface="Arial"/>
                <a:cs typeface="Arial"/>
              </a:defRPr>
            </a:lvl1pPr>
            <a:lvl2pPr>
              <a:defRPr sz="1575" b="0">
                <a:solidFill>
                  <a:srgbClr val="526879"/>
                </a:solidFill>
                <a:latin typeface="Arial"/>
                <a:ea typeface="Arial"/>
                <a:cs typeface="Arial"/>
              </a:defRPr>
            </a:lvl2pPr>
            <a:lvl3pPr>
              <a:defRPr sz="1575" b="0">
                <a:solidFill>
                  <a:srgbClr val="526879"/>
                </a:solidFill>
                <a:latin typeface="Arial"/>
                <a:ea typeface="Arial"/>
                <a:cs typeface="Arial"/>
              </a:defRPr>
            </a:lvl3pPr>
            <a:lvl4pPr>
              <a:defRPr sz="1575" b="0">
                <a:solidFill>
                  <a:srgbClr val="526879"/>
                </a:solidFill>
                <a:latin typeface="Arial"/>
                <a:ea typeface="Arial"/>
                <a:cs typeface="Arial"/>
              </a:defRPr>
            </a:lvl4pPr>
            <a:lvl5pPr>
              <a:defRPr sz="1575" b="0">
                <a:solidFill>
                  <a:srgbClr val="526879"/>
                </a:solidFill>
                <a:latin typeface="Arial"/>
                <a:ea typeface="Arial"/>
                <a:cs typeface="Arial"/>
              </a:defRPr>
            </a:lvl5pPr>
            <a:lvl6pPr>
              <a:defRPr sz="1575" b="0">
                <a:solidFill>
                  <a:srgbClr val="526879"/>
                </a:solidFill>
                <a:latin typeface="Arial"/>
                <a:ea typeface="Arial"/>
                <a:cs typeface="Arial"/>
              </a:defRPr>
            </a:lvl6pPr>
            <a:lvl7pPr>
              <a:defRPr sz="1575" b="0">
                <a:solidFill>
                  <a:srgbClr val="526879"/>
                </a:solidFill>
                <a:latin typeface="Arial"/>
                <a:ea typeface="Arial"/>
                <a:cs typeface="Arial"/>
              </a:defRPr>
            </a:lvl7pPr>
            <a:lvl8pPr>
              <a:defRPr sz="1575" b="0">
                <a:solidFill>
                  <a:srgbClr val="526879"/>
                </a:solidFill>
                <a:latin typeface="Arial"/>
                <a:ea typeface="Arial"/>
                <a:cs typeface="Arial"/>
              </a:defRPr>
            </a:lvl8pPr>
            <a:lvl9pPr>
              <a:defRPr sz="1575" b="0">
                <a:solidFill>
                  <a:srgbClr val="526879"/>
                </a:solidFill>
                <a:latin typeface="Arial"/>
                <a:ea typeface="Arial"/>
                <a:cs typeface="Arial"/>
              </a:defRPr>
            </a:lvl9pPr>
          </a:lstStyle>
          <a:p xmlns:a="http://schemas.openxmlformats.org/drawingml/2006/main">
            <a:pPr>
              <a:defRPr sz="1575" b="0">
                <a:solidFill>
                  <a:srgbClr val="526879"/>
                </a:solidFill>
                <a:latin typeface="Arial"/>
                <a:ea typeface="Arial"/>
                <a:cs typeface="Arial"/>
              </a:defRPr>
            </a:pPr>
            <a:r>
              <a:rPr sz="1575" b="0">
                <a:solidFill>
                  <a:srgbClr val="526879"/>
                </a:solidFill>
                <a:latin typeface="Arial"/>
                <a:ea typeface="Arial"/>
                <a:cs typeface="Arial"/>
              </a:rPr>
              <a:t>Relative gains use baseline AP.</a:t>
            </a:r>
          </a:p>
          <a:p xmlns:a="http://schemas.openxmlformats.org/drawingml/2006/main">
            <a:pPr>
              <a:defRPr sz="1575" b="0">
                <a:solidFill>
                  <a:srgbClr val="526879"/>
                </a:solidFill>
                <a:latin typeface="Arial"/>
                <a:ea typeface="Arial"/>
                <a:cs typeface="Arial"/>
              </a:defRPr>
            </a:pPr>
            <a:r>
              <a:rPr sz="1575" b="0">
                <a:solidFill>
                  <a:srgbClr val="526879"/>
                </a:solidFill>
                <a:latin typeface="Arial"/>
                <a:ea typeface="Arial"/>
                <a:cs typeface="Arial"/>
              </a:rPr>
              <a:t>Tree depth limits gave the largest gain.</a:t>
            </a:r>
          </a:p>
        </p:txBody>
      </p:sp>
    </p:spTree>
    <p:extLst>
      <p:ext uri="{BB962C8B-B14F-4D97-AF65-F5344CB8AC3E}">
        <p14:creationId xmlns:p14="http://schemas.microsoft.com/office/powerpoint/2010/main" val="67397359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1A2FB181-6182-4A32-BC5C-008169CF1BB4}"/>
              </a:ext>
            </a:extLst>
          </p:cNvPr>
          <p:cNvSpPr>
            <a:spLocks xmlns:a="http://schemas.openxmlformats.org/drawingml/2006/main" noGrp="1"/>
          </p:cNvSpPr>
          <p:nvPr/>
        </p:nvSpPr>
        <p:spPr>
          <a:xfrm xmlns:a="http://schemas.openxmlformats.org/drawingml/2006/main">
            <a:off x="495300" y="2476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087E8B"/>
                </a:solidFill>
                <a:latin typeface="Arial"/>
                <a:ea typeface="Arial"/>
                <a:cs typeface="Arial"/>
              </a:defRPr>
            </a:defPPr>
            <a:lvl1pPr>
              <a:defRPr sz="1275" b="1">
                <a:solidFill>
                  <a:srgbClr val="087E8B"/>
                </a:solidFill>
                <a:latin typeface="Arial"/>
                <a:ea typeface="Arial"/>
                <a:cs typeface="Arial"/>
              </a:defRPr>
            </a:lvl1pPr>
            <a:lvl2pPr>
              <a:defRPr sz="1275" b="1">
                <a:solidFill>
                  <a:srgbClr val="087E8B"/>
                </a:solidFill>
                <a:latin typeface="Arial"/>
                <a:ea typeface="Arial"/>
                <a:cs typeface="Arial"/>
              </a:defRPr>
            </a:lvl2pPr>
            <a:lvl3pPr>
              <a:defRPr sz="1275" b="1">
                <a:solidFill>
                  <a:srgbClr val="087E8B"/>
                </a:solidFill>
                <a:latin typeface="Arial"/>
                <a:ea typeface="Arial"/>
                <a:cs typeface="Arial"/>
              </a:defRPr>
            </a:lvl3pPr>
            <a:lvl4pPr>
              <a:defRPr sz="1275" b="1">
                <a:solidFill>
                  <a:srgbClr val="087E8B"/>
                </a:solidFill>
                <a:latin typeface="Arial"/>
                <a:ea typeface="Arial"/>
                <a:cs typeface="Arial"/>
              </a:defRPr>
            </a:lvl4pPr>
            <a:lvl5pPr>
              <a:defRPr sz="1275" b="1">
                <a:solidFill>
                  <a:srgbClr val="087E8B"/>
                </a:solidFill>
                <a:latin typeface="Arial"/>
                <a:ea typeface="Arial"/>
                <a:cs typeface="Arial"/>
              </a:defRPr>
            </a:lvl5pPr>
            <a:lvl6pPr>
              <a:defRPr sz="1275" b="1">
                <a:solidFill>
                  <a:srgbClr val="087E8B"/>
                </a:solidFill>
                <a:latin typeface="Arial"/>
                <a:ea typeface="Arial"/>
                <a:cs typeface="Arial"/>
              </a:defRPr>
            </a:lvl6pPr>
            <a:lvl7pPr>
              <a:defRPr sz="1275" b="1">
                <a:solidFill>
                  <a:srgbClr val="087E8B"/>
                </a:solidFill>
                <a:latin typeface="Arial"/>
                <a:ea typeface="Arial"/>
                <a:cs typeface="Arial"/>
              </a:defRPr>
            </a:lvl7pPr>
            <a:lvl8pPr>
              <a:defRPr sz="1275" b="1">
                <a:solidFill>
                  <a:srgbClr val="087E8B"/>
                </a:solidFill>
                <a:latin typeface="Arial"/>
                <a:ea typeface="Arial"/>
                <a:cs typeface="Arial"/>
              </a:defRPr>
            </a:lvl8pPr>
            <a:lvl9pPr>
              <a:defRPr sz="1275" b="1">
                <a:solidFill>
                  <a:srgbClr val="087E8B"/>
                </a:solidFill>
                <a:latin typeface="Arial"/>
                <a:ea typeface="Arial"/>
                <a:cs typeface="Arial"/>
              </a:defRPr>
            </a:lvl9pPr>
          </a:lstStyle>
          <a:p xmlns:a="http://schemas.openxmlformats.org/drawingml/2006/main">
            <a:pPr>
              <a:defRPr sz="1275" b="1">
                <a:solidFill>
                  <a:srgbClr val="087E8B"/>
                </a:solidFill>
                <a:latin typeface="Arial"/>
                <a:ea typeface="Arial"/>
                <a:cs typeface="Arial"/>
              </a:defRPr>
            </a:pPr>
            <a:r>
              <a:rPr sz="1275" b="1">
                <a:solidFill>
                  <a:srgbClr val="087E8B"/>
                </a:solidFill>
                <a:latin typeface="Arial"/>
                <a:ea typeface="Arial"/>
                <a:cs typeface="Arial"/>
              </a:rPr>
              <a:t>EMPLOYEE ATTRITION</a:t>
            </a:r>
          </a:p>
        </p:txBody>
      </p:sp>
      <p:sp>
        <p:nvSpPr>
          <p:cNvPr id="3" name="">
            <a:extLst xmlns:a="http://schemas.openxmlformats.org/drawingml/2006/main">
              <a:ext uri="{FF2B5EF4-FFF2-40B4-BE49-F238E27FC236}">
                <a16:creationId xmlns:a16="http://schemas.microsoft.com/office/drawing/2014/main" id="{287F6B08-B768-49C0-874E-7E7E60290F1E}"/>
              </a:ext>
            </a:extLst>
          </p:cNvPr>
          <p:cNvSpPr>
            <a:spLocks xmlns:a="http://schemas.openxmlformats.org/drawingml/2006/main" noGrp="1"/>
          </p:cNvSpPr>
          <p:nvPr/>
        </p:nvSpPr>
        <p:spPr>
          <a:xfrm xmlns:a="http://schemas.openxmlformats.org/drawingml/2006/main">
            <a:off x="495300" y="619125"/>
            <a:ext cx="11201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22C43"/>
                </a:solidFill>
                <a:latin typeface="Arial"/>
                <a:ea typeface="Arial"/>
                <a:cs typeface="Arial"/>
              </a:defRPr>
            </a:defPPr>
            <a:lvl1pPr>
              <a:defRPr sz="3300" b="1">
                <a:solidFill>
                  <a:srgbClr val="122C43"/>
                </a:solidFill>
                <a:latin typeface="Arial"/>
                <a:ea typeface="Arial"/>
                <a:cs typeface="Arial"/>
              </a:defRPr>
            </a:lvl1pPr>
            <a:lvl2pPr>
              <a:defRPr sz="3300" b="1">
                <a:solidFill>
                  <a:srgbClr val="122C43"/>
                </a:solidFill>
                <a:latin typeface="Arial"/>
                <a:ea typeface="Arial"/>
                <a:cs typeface="Arial"/>
              </a:defRPr>
            </a:lvl2pPr>
            <a:lvl3pPr>
              <a:defRPr sz="3300" b="1">
                <a:solidFill>
                  <a:srgbClr val="122C43"/>
                </a:solidFill>
                <a:latin typeface="Arial"/>
                <a:ea typeface="Arial"/>
                <a:cs typeface="Arial"/>
              </a:defRPr>
            </a:lvl3pPr>
            <a:lvl4pPr>
              <a:defRPr sz="3300" b="1">
                <a:solidFill>
                  <a:srgbClr val="122C43"/>
                </a:solidFill>
                <a:latin typeface="Arial"/>
                <a:ea typeface="Arial"/>
                <a:cs typeface="Arial"/>
              </a:defRPr>
            </a:lvl4pPr>
            <a:lvl5pPr>
              <a:defRPr sz="3300" b="1">
                <a:solidFill>
                  <a:srgbClr val="122C43"/>
                </a:solidFill>
                <a:latin typeface="Arial"/>
                <a:ea typeface="Arial"/>
                <a:cs typeface="Arial"/>
              </a:defRPr>
            </a:lvl5pPr>
            <a:lvl6pPr>
              <a:defRPr sz="3300" b="1">
                <a:solidFill>
                  <a:srgbClr val="122C43"/>
                </a:solidFill>
                <a:latin typeface="Arial"/>
                <a:ea typeface="Arial"/>
                <a:cs typeface="Arial"/>
              </a:defRPr>
            </a:lvl6pPr>
            <a:lvl7pPr>
              <a:defRPr sz="3300" b="1">
                <a:solidFill>
                  <a:srgbClr val="122C43"/>
                </a:solidFill>
                <a:latin typeface="Arial"/>
                <a:ea typeface="Arial"/>
                <a:cs typeface="Arial"/>
              </a:defRPr>
            </a:lvl7pPr>
            <a:lvl8pPr>
              <a:defRPr sz="3300" b="1">
                <a:solidFill>
                  <a:srgbClr val="122C43"/>
                </a:solidFill>
                <a:latin typeface="Arial"/>
                <a:ea typeface="Arial"/>
                <a:cs typeface="Arial"/>
              </a:defRPr>
            </a:lvl8pPr>
            <a:lvl9pPr>
              <a:defRPr sz="3300" b="1">
                <a:solidFill>
                  <a:srgbClr val="122C43"/>
                </a:solidFill>
                <a:latin typeface="Arial"/>
                <a:ea typeface="Arial"/>
                <a:cs typeface="Arial"/>
              </a:defRPr>
            </a:lvl9pPr>
          </a:lstStyle>
          <a:p xmlns:a="http://schemas.openxmlformats.org/drawingml/2006/main">
            <a:pPr>
              <a:defRPr sz="3300" b="1">
                <a:solidFill>
                  <a:srgbClr val="122C43"/>
                </a:solidFill>
                <a:latin typeface="Arial"/>
                <a:ea typeface="Arial"/>
                <a:cs typeface="Arial"/>
              </a:defRPr>
            </a:pPr>
            <a:r>
              <a:rPr sz="3300" b="1">
                <a:solidFill>
                  <a:srgbClr val="122C43"/>
                </a:solidFill>
                <a:latin typeface="Arial"/>
                <a:ea typeface="Arial"/>
                <a:cs typeface="Arial"/>
              </a:rPr>
              <a:t>A small neural network offered no clear test advantage</a:t>
            </a:r>
          </a:p>
        </p:txBody>
      </p:sp>
      <p:sp>
        <p:nvSpPr>
          <p:cNvPr id="4" name="">
            <a:extLst xmlns:a="http://schemas.openxmlformats.org/drawingml/2006/main">
              <a:ext uri="{FF2B5EF4-FFF2-40B4-BE49-F238E27FC236}">
                <a16:creationId xmlns:a16="http://schemas.microsoft.com/office/drawing/2014/main" id="{323B8E6B-40A9-41A6-A7BD-EBFFFA6CFC59}"/>
              </a:ext>
            </a:extLst>
          </p:cNvPr>
          <p:cNvSpPr>
            <a:spLocks xmlns:a="http://schemas.openxmlformats.org/drawingml/2006/main" noGrp="1"/>
          </p:cNvSpPr>
          <p:nvPr/>
        </p:nvSpPr>
        <p:spPr>
          <a:xfrm xmlns:a="http://schemas.openxmlformats.org/drawingml/2006/main">
            <a:off x="495300" y="1219200"/>
            <a:ext cx="11201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26879"/>
                </a:solidFill>
                <a:latin typeface="Arial"/>
                <a:ea typeface="Arial"/>
                <a:cs typeface="Arial"/>
              </a:defRPr>
            </a:defPPr>
            <a:lvl1pPr>
              <a:defRPr sz="1725" b="0">
                <a:solidFill>
                  <a:srgbClr val="526879"/>
                </a:solidFill>
                <a:latin typeface="Arial"/>
                <a:ea typeface="Arial"/>
                <a:cs typeface="Arial"/>
              </a:defRPr>
            </a:lvl1pPr>
            <a:lvl2pPr>
              <a:defRPr sz="1725" b="0">
                <a:solidFill>
                  <a:srgbClr val="526879"/>
                </a:solidFill>
                <a:latin typeface="Arial"/>
                <a:ea typeface="Arial"/>
                <a:cs typeface="Arial"/>
              </a:defRPr>
            </a:lvl2pPr>
            <a:lvl3pPr>
              <a:defRPr sz="1725" b="0">
                <a:solidFill>
                  <a:srgbClr val="526879"/>
                </a:solidFill>
                <a:latin typeface="Arial"/>
                <a:ea typeface="Arial"/>
                <a:cs typeface="Arial"/>
              </a:defRPr>
            </a:lvl3pPr>
            <a:lvl4pPr>
              <a:defRPr sz="1725" b="0">
                <a:solidFill>
                  <a:srgbClr val="526879"/>
                </a:solidFill>
                <a:latin typeface="Arial"/>
                <a:ea typeface="Arial"/>
                <a:cs typeface="Arial"/>
              </a:defRPr>
            </a:lvl4pPr>
            <a:lvl5pPr>
              <a:defRPr sz="1725" b="0">
                <a:solidFill>
                  <a:srgbClr val="526879"/>
                </a:solidFill>
                <a:latin typeface="Arial"/>
                <a:ea typeface="Arial"/>
                <a:cs typeface="Arial"/>
              </a:defRPr>
            </a:lvl5pPr>
            <a:lvl6pPr>
              <a:defRPr sz="1725" b="0">
                <a:solidFill>
                  <a:srgbClr val="526879"/>
                </a:solidFill>
                <a:latin typeface="Arial"/>
                <a:ea typeface="Arial"/>
                <a:cs typeface="Arial"/>
              </a:defRPr>
            </a:lvl6pPr>
            <a:lvl7pPr>
              <a:defRPr sz="1725" b="0">
                <a:solidFill>
                  <a:srgbClr val="526879"/>
                </a:solidFill>
                <a:latin typeface="Arial"/>
                <a:ea typeface="Arial"/>
                <a:cs typeface="Arial"/>
              </a:defRPr>
            </a:lvl7pPr>
            <a:lvl8pPr>
              <a:defRPr sz="1725" b="0">
                <a:solidFill>
                  <a:srgbClr val="526879"/>
                </a:solidFill>
                <a:latin typeface="Arial"/>
                <a:ea typeface="Arial"/>
                <a:cs typeface="Arial"/>
              </a:defRPr>
            </a:lvl8pPr>
            <a:lvl9pPr>
              <a:defRPr sz="1725" b="0">
                <a:solidFill>
                  <a:srgbClr val="526879"/>
                </a:solidFill>
                <a:latin typeface="Arial"/>
                <a:ea typeface="Arial"/>
                <a:cs typeface="Arial"/>
              </a:defRPr>
            </a:lvl9pPr>
          </a:lstStyle>
          <a:p xmlns:a="http://schemas.openxmlformats.org/drawingml/2006/main">
            <a:pPr>
              <a:defRPr sz="1725" b="0">
                <a:solidFill>
                  <a:srgbClr val="526879"/>
                </a:solidFill>
                <a:latin typeface="Arial"/>
                <a:ea typeface="Arial"/>
                <a:cs typeface="Arial"/>
              </a:defRPr>
            </a:pPr>
            <a:r>
              <a:rPr sz="1725" b="0">
                <a:solidFill>
                  <a:srgbClr val="526879"/>
                </a:solidFill>
                <a:latin typeface="Arial"/>
                <a:ea typeface="Arial"/>
                <a:cs typeface="Arial"/>
              </a:rPr>
              <a:t>NN: 8 units, regularisation 1.0, learning rate 0.001 and training-loss stopping</a:t>
            </a:r>
          </a:p>
        </p:txBody>
      </p:sp>
      <p:sp>
        <p:nvSpPr>
          <p:cNvPr id="5" name="">
            <a:extLst xmlns:a="http://schemas.openxmlformats.org/drawingml/2006/main">
              <a:ext uri="{FF2B5EF4-FFF2-40B4-BE49-F238E27FC236}">
                <a16:creationId xmlns:a16="http://schemas.microsoft.com/office/drawing/2014/main" id="{9BF7C1E1-D1F1-477D-B1F9-159B8254E76D}"/>
              </a:ext>
            </a:extLst>
          </p:cNvPr>
          <p:cNvSpPr>
            <a:spLocks xmlns:a="http://schemas.openxmlformats.org/drawingml/2006/main" noGrp="1"/>
          </p:cNvSpPr>
          <p:nvPr/>
        </p:nvSpPr>
        <p:spPr>
          <a:xfrm xmlns:a="http://schemas.openxmlformats.org/drawingml/2006/main">
            <a:off x="495300" y="6486525"/>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879"/>
                </a:solidFill>
                <a:latin typeface="Arial"/>
                <a:ea typeface="Arial"/>
                <a:cs typeface="Arial"/>
              </a:defRPr>
            </a:defPPr>
            <a:lvl1pPr>
              <a:defRPr sz="1200" b="0">
                <a:solidFill>
                  <a:srgbClr val="526879"/>
                </a:solidFill>
                <a:latin typeface="Arial"/>
                <a:ea typeface="Arial"/>
                <a:cs typeface="Arial"/>
              </a:defRPr>
            </a:lvl1pPr>
            <a:lvl2pPr>
              <a:defRPr sz="1200" b="0">
                <a:solidFill>
                  <a:srgbClr val="526879"/>
                </a:solidFill>
                <a:latin typeface="Arial"/>
                <a:ea typeface="Arial"/>
                <a:cs typeface="Arial"/>
              </a:defRPr>
            </a:lvl2pPr>
            <a:lvl3pPr>
              <a:defRPr sz="1200" b="0">
                <a:solidFill>
                  <a:srgbClr val="526879"/>
                </a:solidFill>
                <a:latin typeface="Arial"/>
                <a:ea typeface="Arial"/>
                <a:cs typeface="Arial"/>
              </a:defRPr>
            </a:lvl3pPr>
            <a:lvl4pPr>
              <a:defRPr sz="1200" b="0">
                <a:solidFill>
                  <a:srgbClr val="526879"/>
                </a:solidFill>
                <a:latin typeface="Arial"/>
                <a:ea typeface="Arial"/>
                <a:cs typeface="Arial"/>
              </a:defRPr>
            </a:lvl4pPr>
            <a:lvl5pPr>
              <a:defRPr sz="1200" b="0">
                <a:solidFill>
                  <a:srgbClr val="526879"/>
                </a:solidFill>
                <a:latin typeface="Arial"/>
                <a:ea typeface="Arial"/>
                <a:cs typeface="Arial"/>
              </a:defRPr>
            </a:lvl5pPr>
            <a:lvl6pPr>
              <a:defRPr sz="1200" b="0">
                <a:solidFill>
                  <a:srgbClr val="526879"/>
                </a:solidFill>
                <a:latin typeface="Arial"/>
                <a:ea typeface="Arial"/>
                <a:cs typeface="Arial"/>
              </a:defRPr>
            </a:lvl6pPr>
            <a:lvl7pPr>
              <a:defRPr sz="1200" b="0">
                <a:solidFill>
                  <a:srgbClr val="526879"/>
                </a:solidFill>
                <a:latin typeface="Arial"/>
                <a:ea typeface="Arial"/>
                <a:cs typeface="Arial"/>
              </a:defRPr>
            </a:lvl7pPr>
            <a:lvl8pPr>
              <a:defRPr sz="1200" b="0">
                <a:solidFill>
                  <a:srgbClr val="526879"/>
                </a:solidFill>
                <a:latin typeface="Arial"/>
                <a:ea typeface="Arial"/>
                <a:cs typeface="Arial"/>
              </a:defRPr>
            </a:lvl8pPr>
            <a:lvl9pPr>
              <a:defRPr sz="1200" b="0">
                <a:solidFill>
                  <a:srgbClr val="526879"/>
                </a:solidFill>
                <a:latin typeface="Arial"/>
                <a:ea typeface="Arial"/>
                <a:cs typeface="Arial"/>
              </a:defRPr>
            </a:lvl9pPr>
          </a:lstStyle>
          <a:p xmlns:a="http://schemas.openxmlformats.org/drawingml/2006/main">
            <a:pPr>
              <a:defRPr sz="1200" b="0">
                <a:solidFill>
                  <a:srgbClr val="526879"/>
                </a:solidFill>
                <a:latin typeface="Arial"/>
                <a:ea typeface="Arial"/>
                <a:cs typeface="Arial"/>
              </a:defRPr>
            </a:pPr>
            <a:r>
              <a:rPr sz="1200" b="0">
                <a:solidFill>
                  <a:srgbClr val="526879"/>
                </a:solidFill>
                <a:latin typeface="Arial"/>
                <a:ea typeface="Arial"/>
                <a:cs typeface="Arial"/>
              </a:rPr>
              <a:t>Hemanth Kumar Akunuri</a:t>
            </a:r>
          </a:p>
        </p:txBody>
      </p:sp>
      <p:sp>
        <p:nvSpPr>
          <p:cNvPr id="6" name="">
            <a:extLst xmlns:a="http://schemas.openxmlformats.org/drawingml/2006/main">
              <a:ext uri="{FF2B5EF4-FFF2-40B4-BE49-F238E27FC236}">
                <a16:creationId xmlns:a16="http://schemas.microsoft.com/office/drawing/2014/main" id="{D32916DB-F7D4-4E5D-B000-0E1482841E4B}"/>
              </a:ext>
            </a:extLst>
          </p:cNvPr>
          <p:cNvSpPr>
            <a:spLocks xmlns:a="http://schemas.openxmlformats.org/drawingml/2006/main" noGrp="1"/>
          </p:cNvSpPr>
          <p:nvPr/>
        </p:nvSpPr>
        <p:spPr>
          <a:xfrm xmlns:a="http://schemas.openxmlformats.org/drawingml/2006/main">
            <a:off x="10763250" y="6486525"/>
            <a:ext cx="933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879"/>
                </a:solidFill>
                <a:latin typeface="Arial"/>
                <a:ea typeface="Arial"/>
                <a:cs typeface="Arial"/>
              </a:defRPr>
            </a:defPPr>
            <a:lvl1pPr>
              <a:defRPr sz="1200" b="0">
                <a:solidFill>
                  <a:srgbClr val="526879"/>
                </a:solidFill>
                <a:latin typeface="Arial"/>
                <a:ea typeface="Arial"/>
                <a:cs typeface="Arial"/>
              </a:defRPr>
            </a:lvl1pPr>
            <a:lvl2pPr>
              <a:defRPr sz="1200" b="0">
                <a:solidFill>
                  <a:srgbClr val="526879"/>
                </a:solidFill>
                <a:latin typeface="Arial"/>
                <a:ea typeface="Arial"/>
                <a:cs typeface="Arial"/>
              </a:defRPr>
            </a:lvl2pPr>
            <a:lvl3pPr>
              <a:defRPr sz="1200" b="0">
                <a:solidFill>
                  <a:srgbClr val="526879"/>
                </a:solidFill>
                <a:latin typeface="Arial"/>
                <a:ea typeface="Arial"/>
                <a:cs typeface="Arial"/>
              </a:defRPr>
            </a:lvl3pPr>
            <a:lvl4pPr>
              <a:defRPr sz="1200" b="0">
                <a:solidFill>
                  <a:srgbClr val="526879"/>
                </a:solidFill>
                <a:latin typeface="Arial"/>
                <a:ea typeface="Arial"/>
                <a:cs typeface="Arial"/>
              </a:defRPr>
            </a:lvl4pPr>
            <a:lvl5pPr>
              <a:defRPr sz="1200" b="0">
                <a:solidFill>
                  <a:srgbClr val="526879"/>
                </a:solidFill>
                <a:latin typeface="Arial"/>
                <a:ea typeface="Arial"/>
                <a:cs typeface="Arial"/>
              </a:defRPr>
            </a:lvl5pPr>
            <a:lvl6pPr>
              <a:defRPr sz="1200" b="0">
                <a:solidFill>
                  <a:srgbClr val="526879"/>
                </a:solidFill>
                <a:latin typeface="Arial"/>
                <a:ea typeface="Arial"/>
                <a:cs typeface="Arial"/>
              </a:defRPr>
            </a:lvl6pPr>
            <a:lvl7pPr>
              <a:defRPr sz="1200" b="0">
                <a:solidFill>
                  <a:srgbClr val="526879"/>
                </a:solidFill>
                <a:latin typeface="Arial"/>
                <a:ea typeface="Arial"/>
                <a:cs typeface="Arial"/>
              </a:defRPr>
            </a:lvl7pPr>
            <a:lvl8pPr>
              <a:defRPr sz="1200" b="0">
                <a:solidFill>
                  <a:srgbClr val="526879"/>
                </a:solidFill>
                <a:latin typeface="Arial"/>
                <a:ea typeface="Arial"/>
                <a:cs typeface="Arial"/>
              </a:defRPr>
            </a:lvl8pPr>
            <a:lvl9pPr>
              <a:defRPr sz="1200" b="0">
                <a:solidFill>
                  <a:srgbClr val="526879"/>
                </a:solidFill>
                <a:latin typeface="Arial"/>
                <a:ea typeface="Arial"/>
                <a:cs typeface="Arial"/>
              </a:defRPr>
            </a:lvl9pPr>
          </a:lstStyle>
          <a:p xmlns:a="http://schemas.openxmlformats.org/drawingml/2006/main">
            <a:pPr>
              <a:defRPr sz="1200" b="0">
                <a:solidFill>
                  <a:srgbClr val="526879"/>
                </a:solidFill>
                <a:latin typeface="Arial"/>
                <a:ea typeface="Arial"/>
                <a:cs typeface="Arial"/>
              </a:defRPr>
            </a:pPr>
            <a:r>
              <a:rPr sz="1200" b="0">
                <a:solidFill>
                  <a:srgbClr val="526879"/>
                </a:solidFill>
                <a:latin typeface="Arial"/>
                <a:ea typeface="Arial"/>
                <a:cs typeface="Arial"/>
              </a:rPr>
              <a:t>06 / 07</a:t>
            </a:r>
          </a:p>
        </p:txBody>
      </p:sp>
      <p:graphicFrame>
        <p:nvGraphicFramePr>
          <p:cNvPr id="7" name="">
            <a:extLst xmlns:a="http://schemas.openxmlformats.org/drawingml/2006/main">
              <a:ext uri="{FF2B5EF4-FFF2-40B4-BE49-F238E27FC236}">
                <a16:creationId xmlns:a16="http://schemas.microsoft.com/office/drawing/2014/main" id="{635B11CE-66BC-4473-9D11-8DEC37017831}"/>
              </a:ext>
            </a:extLst>
          </p:cNvPr>
          <p:cNvGraphicFramePr/>
          <p:nvPr/>
        </p:nvGraphicFramePr>
        <p:xfrm>
          <a:off xmlns:a="http://schemas.openxmlformats.org/drawingml/2006/main" x="495300" y="1743075"/>
          <a:ext xmlns:a="http://schemas.openxmlformats.org/drawingml/2006/main" cx="8924925" cy="1933575"/>
        </p:xfrm>
        <a:graphic xmlns:a="http://schemas.openxmlformats.org/drawingml/2006/main">
          <a:graphicData uri="http://schemas.openxmlformats.org/drawingml/2006/table">
            <a:tbl>
              <a:tblPr/>
              <a:tblGrid>
                <a:gridCol w="2447925"/>
                <a:gridCol w="1123950"/>
                <a:gridCol w="1123950"/>
                <a:gridCol w="1276350"/>
                <a:gridCol w="1562100"/>
                <a:gridCol w="1390650"/>
              </a:tblGrid>
              <a:tr h="483394">
                <a:tc>
                  <a:txBody>
                    <a:bodyPr lIns="95250" tIns="95250" rIns="95250" bIns="95250"/>
                    <a:lstStyle/>
                    <a:p>
                      <a:r>
                        <a:rPr sz="1650" b="1">
                          <a:solidFill>
                            <a:srgbClr val="FFFFFF"/>
                          </a:solidFill>
                          <a:latin typeface="Arial"/>
                          <a:ea typeface="Arial"/>
                          <a:cs typeface="Arial"/>
                        </a:rPr>
                        <a:t>Candidate</a:t>
                      </a:r>
                    </a:p>
                  </a:txBody>
                  <a:tcPr marL="91440" marR="91440" marT="45720" marB="45720" anchor="ctr">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122C43"/>
                    </a:solidFill>
                  </a:tcPr>
                </a:tc>
                <a:tc>
                  <a:txBody>
                    <a:bodyPr lIns="95250" tIns="95250" rIns="95250" bIns="95250"/>
                    <a:lstStyle/>
                    <a:p>
                      <a:r>
                        <a:rPr sz="1650" b="1">
                          <a:solidFill>
                            <a:srgbClr val="FFFFFF"/>
                          </a:solidFill>
                          <a:latin typeface="Arial"/>
                          <a:ea typeface="Arial"/>
                          <a:cs typeface="Arial"/>
                        </a:rPr>
                        <a:t>CV AP</a:t>
                      </a:r>
                    </a:p>
                  </a:txBody>
                  <a:tcPr marL="91440" marR="91440" marT="45720" marB="45720" anchor="ctr">
                    <a:lnR w="9525">
                      <a:solidFill>
                        <a:srgbClr val="FFFFFF"/>
                      </a:solidFill>
                      <a:prstDash val="solid"/>
                    </a:lnR>
                    <a:lnT w="9525">
                      <a:solidFill>
                        <a:srgbClr val="FFFFFF"/>
                      </a:solidFill>
                      <a:prstDash val="solid"/>
                    </a:lnT>
                    <a:lnB w="9525">
                      <a:solidFill>
                        <a:srgbClr val="FFFFFF"/>
                      </a:solidFill>
                      <a:prstDash val="solid"/>
                    </a:lnB>
                    <a:solidFill>
                      <a:srgbClr val="122C43"/>
                    </a:solidFill>
                  </a:tcPr>
                </a:tc>
                <a:tc>
                  <a:txBody>
                    <a:bodyPr lIns="95250" tIns="95250" rIns="95250" bIns="95250"/>
                    <a:lstStyle/>
                    <a:p>
                      <a:r>
                        <a:rPr sz="1650" b="1">
                          <a:solidFill>
                            <a:srgbClr val="FFFFFF"/>
                          </a:solidFill>
                          <a:latin typeface="Arial"/>
                          <a:ea typeface="Arial"/>
                          <a:cs typeface="Arial"/>
                        </a:rPr>
                        <a:t>Val. AP</a:t>
                      </a:r>
                    </a:p>
                  </a:txBody>
                  <a:tcPr marL="91440" marR="91440" marT="45720" marB="45720" anchor="ctr">
                    <a:lnR w="9525">
                      <a:solidFill>
                        <a:srgbClr val="FFFFFF"/>
                      </a:solidFill>
                      <a:prstDash val="solid"/>
                    </a:lnR>
                    <a:lnT w="9525">
                      <a:solidFill>
                        <a:srgbClr val="FFFFFF"/>
                      </a:solidFill>
                      <a:prstDash val="solid"/>
                    </a:lnT>
                    <a:lnB w="9525">
                      <a:solidFill>
                        <a:srgbClr val="FFFFFF"/>
                      </a:solidFill>
                      <a:prstDash val="solid"/>
                    </a:lnB>
                    <a:solidFill>
                      <a:srgbClr val="122C43"/>
                    </a:solidFill>
                  </a:tcPr>
                </a:tc>
                <a:tc>
                  <a:txBody>
                    <a:bodyPr lIns="95250" tIns="95250" rIns="95250" bIns="95250"/>
                    <a:lstStyle/>
                    <a:p>
                      <a:r>
                        <a:rPr sz="1650" b="1">
                          <a:solidFill>
                            <a:srgbClr val="FFFFFF"/>
                          </a:solidFill>
                          <a:latin typeface="Arial"/>
                          <a:ea typeface="Arial"/>
                          <a:cs typeface="Arial"/>
                        </a:rPr>
                        <a:t>Test AP</a:t>
                      </a:r>
                    </a:p>
                  </a:txBody>
                  <a:tcPr marL="91440" marR="91440" marT="45720" marB="45720" anchor="ctr">
                    <a:lnR w="9525">
                      <a:solidFill>
                        <a:srgbClr val="FFFFFF"/>
                      </a:solidFill>
                      <a:prstDash val="solid"/>
                    </a:lnR>
                    <a:lnT w="9525">
                      <a:solidFill>
                        <a:srgbClr val="FFFFFF"/>
                      </a:solidFill>
                      <a:prstDash val="solid"/>
                    </a:lnT>
                    <a:lnB w="9525">
                      <a:solidFill>
                        <a:srgbClr val="FFFFFF"/>
                      </a:solidFill>
                      <a:prstDash val="solid"/>
                    </a:lnB>
                    <a:solidFill>
                      <a:srgbClr val="122C43"/>
                    </a:solidFill>
                  </a:tcPr>
                </a:tc>
                <a:tc>
                  <a:txBody>
                    <a:bodyPr lIns="95250" tIns="95250" rIns="95250" bIns="95250"/>
                    <a:lstStyle/>
                    <a:p>
                      <a:r>
                        <a:rPr sz="1650" b="1">
                          <a:solidFill>
                            <a:srgbClr val="FFFFFF"/>
                          </a:solidFill>
                          <a:latin typeface="Arial"/>
                          <a:ea typeface="Arial"/>
                          <a:cs typeface="Arial"/>
                        </a:rPr>
                        <a:t>Fit time</a:t>
                      </a:r>
                    </a:p>
                  </a:txBody>
                  <a:tcPr marL="91440" marR="91440" marT="45720" marB="45720" anchor="ctr">
                    <a:lnR w="9525">
                      <a:solidFill>
                        <a:srgbClr val="FFFFFF"/>
                      </a:solidFill>
                      <a:prstDash val="solid"/>
                    </a:lnR>
                    <a:lnT w="9525">
                      <a:solidFill>
                        <a:srgbClr val="FFFFFF"/>
                      </a:solidFill>
                      <a:prstDash val="solid"/>
                    </a:lnT>
                    <a:lnB w="9525">
                      <a:solidFill>
                        <a:srgbClr val="FFFFFF"/>
                      </a:solidFill>
                      <a:prstDash val="solid"/>
                    </a:lnB>
                    <a:solidFill>
                      <a:srgbClr val="122C43"/>
                    </a:solidFill>
                  </a:tcPr>
                </a:tc>
                <a:tc>
                  <a:txBody>
                    <a:bodyPr lIns="95250" tIns="95250" rIns="95250" bIns="95250"/>
                    <a:lstStyle/>
                    <a:p>
                      <a:r>
                        <a:rPr sz="1650" b="1">
                          <a:solidFill>
                            <a:srgbClr val="FFFFFF"/>
                          </a:solidFill>
                          <a:latin typeface="Arial"/>
                          <a:ea typeface="Arial"/>
                          <a:cs typeface="Arial"/>
                        </a:rPr>
                        <a:t>Weights</a:t>
                      </a:r>
                    </a:p>
                  </a:txBody>
                  <a:tcPr marL="91440" marR="91440" marT="45720" marB="45720" anchor="ctr">
                    <a:lnR w="9525">
                      <a:solidFill>
                        <a:srgbClr val="FFFFFF"/>
                      </a:solidFill>
                      <a:prstDash val="solid"/>
                    </a:lnR>
                    <a:lnT w="9525">
                      <a:solidFill>
                        <a:srgbClr val="FFFFFF"/>
                      </a:solidFill>
                      <a:prstDash val="solid"/>
                    </a:lnT>
                    <a:lnB w="9525">
                      <a:solidFill>
                        <a:srgbClr val="FFFFFF"/>
                      </a:solidFill>
                      <a:prstDash val="solid"/>
                    </a:lnB>
                    <a:solidFill>
                      <a:srgbClr val="122C43"/>
                    </a:solidFill>
                  </a:tcPr>
                </a:tc>
              </a:tr>
              <a:tr h="483394">
                <a:tc>
                  <a:txBody>
                    <a:bodyPr lIns="95250" tIns="95250" rIns="95250" bIns="95250"/>
                    <a:lstStyle/>
                    <a:p>
                      <a:r>
                        <a:rPr sz="1650" b="0">
                          <a:solidFill>
                            <a:srgbClr val="17334A"/>
                          </a:solidFill>
                          <a:latin typeface="Arial"/>
                          <a:ea typeface="Arial"/>
                          <a:cs typeface="Arial"/>
                        </a:rPr>
                        <a:t>Tuned logistic</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EAF3F4"/>
                    </a:solidFill>
                  </a:tcPr>
                </a:tc>
                <a:tc>
                  <a:txBody>
                    <a:bodyPr lIns="95250" tIns="95250" rIns="95250" bIns="95250"/>
                    <a:lstStyle/>
                    <a:p>
                      <a:r>
                        <a:rPr sz="1650" b="0">
                          <a:solidFill>
                            <a:srgbClr val="17334A"/>
                          </a:solidFill>
                          <a:latin typeface="Arial"/>
                          <a:ea typeface="Arial"/>
                          <a:cs typeface="Arial"/>
                        </a:rPr>
                        <a:t>0.331</a:t>
                      </a:r>
                    </a:p>
                  </a:txBody>
                  <a:tcPr marL="91440" marR="91440" marT="45720" marB="45720" anchor="ctr">
                    <a:lnR w="9525">
                      <a:solidFill>
                        <a:srgbClr val="FFFFFF"/>
                      </a:solidFill>
                      <a:prstDash val="solid"/>
                    </a:lnR>
                    <a:lnB w="9525">
                      <a:solidFill>
                        <a:srgbClr val="FFFFFF"/>
                      </a:solidFill>
                      <a:prstDash val="solid"/>
                    </a:lnB>
                    <a:solidFill>
                      <a:srgbClr val="EAF3F4"/>
                    </a:solidFill>
                  </a:tcPr>
                </a:tc>
                <a:tc>
                  <a:txBody>
                    <a:bodyPr lIns="95250" tIns="95250" rIns="95250" bIns="95250"/>
                    <a:lstStyle/>
                    <a:p>
                      <a:r>
                        <a:rPr sz="1650" b="0">
                          <a:solidFill>
                            <a:srgbClr val="17334A"/>
                          </a:solidFill>
                          <a:latin typeface="Arial"/>
                          <a:ea typeface="Arial"/>
                          <a:cs typeface="Arial"/>
                        </a:rPr>
                        <a:t>0.297</a:t>
                      </a:r>
                    </a:p>
                  </a:txBody>
                  <a:tcPr marL="91440" marR="91440" marT="45720" marB="45720" anchor="ctr">
                    <a:lnR w="9525">
                      <a:solidFill>
                        <a:srgbClr val="FFFFFF"/>
                      </a:solidFill>
                      <a:prstDash val="solid"/>
                    </a:lnR>
                    <a:lnB w="9525">
                      <a:solidFill>
                        <a:srgbClr val="FFFFFF"/>
                      </a:solidFill>
                      <a:prstDash val="solid"/>
                    </a:lnB>
                    <a:solidFill>
                      <a:srgbClr val="EAF3F4"/>
                    </a:solidFill>
                  </a:tcPr>
                </a:tc>
                <a:tc>
                  <a:txBody>
                    <a:bodyPr lIns="95250" tIns="95250" rIns="95250" bIns="95250"/>
                    <a:lstStyle/>
                    <a:p>
                      <a:r>
                        <a:rPr sz="1650" b="0">
                          <a:solidFill>
                            <a:srgbClr val="17334A"/>
                          </a:solidFill>
                          <a:latin typeface="Arial"/>
                          <a:ea typeface="Arial"/>
                          <a:cs typeface="Arial"/>
                        </a:rPr>
                        <a:t>0.2695</a:t>
                      </a:r>
                    </a:p>
                  </a:txBody>
                  <a:tcPr marL="91440" marR="91440" marT="45720" marB="45720" anchor="ctr">
                    <a:lnR w="9525">
                      <a:solidFill>
                        <a:srgbClr val="FFFFFF"/>
                      </a:solidFill>
                      <a:prstDash val="solid"/>
                    </a:lnR>
                    <a:lnB w="9525">
                      <a:solidFill>
                        <a:srgbClr val="FFFFFF"/>
                      </a:solidFill>
                      <a:prstDash val="solid"/>
                    </a:lnB>
                    <a:solidFill>
                      <a:srgbClr val="EAF3F4"/>
                    </a:solidFill>
                  </a:tcPr>
                </a:tc>
                <a:tc>
                  <a:txBody>
                    <a:bodyPr lIns="95250" tIns="95250" rIns="95250" bIns="95250"/>
                    <a:lstStyle/>
                    <a:p>
                      <a:r>
                        <a:rPr sz="1650" b="0">
                          <a:solidFill>
                            <a:srgbClr val="17334A"/>
                          </a:solidFill>
                          <a:latin typeface="Arial"/>
                          <a:ea typeface="Arial"/>
                          <a:cs typeface="Arial"/>
                        </a:rPr>
                        <a:t>0.139 s</a:t>
                      </a:r>
                    </a:p>
                  </a:txBody>
                  <a:tcPr marL="91440" marR="91440" marT="45720" marB="45720" anchor="ctr">
                    <a:lnR w="9525">
                      <a:solidFill>
                        <a:srgbClr val="FFFFFF"/>
                      </a:solidFill>
                      <a:prstDash val="solid"/>
                    </a:lnR>
                    <a:lnB w="9525">
                      <a:solidFill>
                        <a:srgbClr val="FFFFFF"/>
                      </a:solidFill>
                      <a:prstDash val="solid"/>
                    </a:lnB>
                    <a:solidFill>
                      <a:srgbClr val="EAF3F4"/>
                    </a:solidFill>
                  </a:tcPr>
                </a:tc>
                <a:tc>
                  <a:txBody>
                    <a:bodyPr lIns="95250" tIns="95250" rIns="95250" bIns="95250"/>
                    <a:lstStyle/>
                    <a:p>
                      <a:r>
                        <a:rPr sz="1650" b="0">
                          <a:solidFill>
                            <a:srgbClr val="17334A"/>
                          </a:solidFill>
                          <a:latin typeface="Arial"/>
                          <a:ea typeface="Arial"/>
                          <a:cs typeface="Arial"/>
                        </a:rPr>
                        <a:t>40</a:t>
                      </a:r>
                    </a:p>
                  </a:txBody>
                  <a:tcPr marL="91440" marR="91440" marT="45720" marB="45720" anchor="ctr">
                    <a:lnR w="9525">
                      <a:solidFill>
                        <a:srgbClr val="FFFFFF"/>
                      </a:solidFill>
                      <a:prstDash val="solid"/>
                    </a:lnR>
                    <a:lnB w="9525">
                      <a:solidFill>
                        <a:srgbClr val="FFFFFF"/>
                      </a:solidFill>
                      <a:prstDash val="solid"/>
                    </a:lnB>
                    <a:solidFill>
                      <a:srgbClr val="EAF3F4"/>
                    </a:solidFill>
                  </a:tcPr>
                </a:tc>
              </a:tr>
              <a:tr h="483394">
                <a:tc>
                  <a:txBody>
                    <a:bodyPr lIns="95250" tIns="95250" rIns="95250" bIns="95250"/>
                    <a:lstStyle/>
                    <a:p>
                      <a:r>
                        <a:rPr sz="1650" b="0">
                          <a:solidFill>
                            <a:srgbClr val="17334A"/>
                          </a:solidFill>
                          <a:latin typeface="Arial"/>
                          <a:ea typeface="Arial"/>
                          <a:cs typeface="Arial"/>
                        </a:rPr>
                        <a:t>Tuned NN, 8 units</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FFFFFF"/>
                    </a:solidFill>
                  </a:tcPr>
                </a:tc>
                <a:tc>
                  <a:txBody>
                    <a:bodyPr lIns="95250" tIns="95250" rIns="95250" bIns="95250"/>
                    <a:lstStyle/>
                    <a:p>
                      <a:r>
                        <a:rPr sz="1650" b="0">
                          <a:solidFill>
                            <a:srgbClr val="17334A"/>
                          </a:solidFill>
                          <a:latin typeface="Arial"/>
                          <a:ea typeface="Arial"/>
                          <a:cs typeface="Arial"/>
                        </a:rPr>
                        <a:t>0.318</a:t>
                      </a:r>
                    </a:p>
                  </a:txBody>
                  <a:tcPr marL="91440" marR="91440" marT="45720" marB="45720" anchor="ctr">
                    <a:lnR w="9525">
                      <a:solidFill>
                        <a:srgbClr val="FFFFFF"/>
                      </a:solidFill>
                      <a:prstDash val="solid"/>
                    </a:lnR>
                    <a:lnB w="9525">
                      <a:solidFill>
                        <a:srgbClr val="FFFFFF"/>
                      </a:solidFill>
                      <a:prstDash val="solid"/>
                    </a:lnB>
                    <a:solidFill>
                      <a:srgbClr val="FFFFFF"/>
                    </a:solidFill>
                  </a:tcPr>
                </a:tc>
                <a:tc>
                  <a:txBody>
                    <a:bodyPr lIns="95250" tIns="95250" rIns="95250" bIns="95250"/>
                    <a:lstStyle/>
                    <a:p>
                      <a:r>
                        <a:rPr sz="1650" b="0">
                          <a:solidFill>
                            <a:srgbClr val="17334A"/>
                          </a:solidFill>
                          <a:latin typeface="Arial"/>
                          <a:ea typeface="Arial"/>
                          <a:cs typeface="Arial"/>
                        </a:rPr>
                        <a:t>0.300</a:t>
                      </a:r>
                    </a:p>
                  </a:txBody>
                  <a:tcPr marL="91440" marR="91440" marT="45720" marB="45720" anchor="ctr">
                    <a:lnR w="9525">
                      <a:solidFill>
                        <a:srgbClr val="FFFFFF"/>
                      </a:solidFill>
                      <a:prstDash val="solid"/>
                    </a:lnR>
                    <a:lnB w="9525">
                      <a:solidFill>
                        <a:srgbClr val="FFFFFF"/>
                      </a:solidFill>
                      <a:prstDash val="solid"/>
                    </a:lnB>
                    <a:solidFill>
                      <a:srgbClr val="FFFFFF"/>
                    </a:solidFill>
                  </a:tcPr>
                </a:tc>
                <a:tc>
                  <a:txBody>
                    <a:bodyPr lIns="95250" tIns="95250" rIns="95250" bIns="95250"/>
                    <a:lstStyle/>
                    <a:p>
                      <a:r>
                        <a:rPr sz="1650" b="0">
                          <a:solidFill>
                            <a:srgbClr val="17334A"/>
                          </a:solidFill>
                          <a:latin typeface="Arial"/>
                          <a:ea typeface="Arial"/>
                          <a:cs typeface="Arial"/>
                        </a:rPr>
                        <a:t>0.2746</a:t>
                      </a:r>
                    </a:p>
                  </a:txBody>
                  <a:tcPr marL="91440" marR="91440" marT="45720" marB="45720" anchor="ctr">
                    <a:lnR w="9525">
                      <a:solidFill>
                        <a:srgbClr val="FFFFFF"/>
                      </a:solidFill>
                      <a:prstDash val="solid"/>
                    </a:lnR>
                    <a:lnB w="9525">
                      <a:solidFill>
                        <a:srgbClr val="FFFFFF"/>
                      </a:solidFill>
                      <a:prstDash val="solid"/>
                    </a:lnB>
                    <a:solidFill>
                      <a:srgbClr val="FFFFFF"/>
                    </a:solidFill>
                  </a:tcPr>
                </a:tc>
                <a:tc>
                  <a:txBody>
                    <a:bodyPr lIns="95250" tIns="95250" rIns="95250" bIns="95250"/>
                    <a:lstStyle/>
                    <a:p>
                      <a:r>
                        <a:rPr sz="1650" b="0">
                          <a:solidFill>
                            <a:srgbClr val="17334A"/>
                          </a:solidFill>
                          <a:latin typeface="Arial"/>
                          <a:ea typeface="Arial"/>
                          <a:cs typeface="Arial"/>
                        </a:rPr>
                        <a:t>0.662 s</a:t>
                      </a:r>
                    </a:p>
                  </a:txBody>
                  <a:tcPr marL="91440" marR="91440" marT="45720" marB="45720" anchor="ctr">
                    <a:lnR w="9525">
                      <a:solidFill>
                        <a:srgbClr val="FFFFFF"/>
                      </a:solidFill>
                      <a:prstDash val="solid"/>
                    </a:lnR>
                    <a:lnB w="9525">
                      <a:solidFill>
                        <a:srgbClr val="FFFFFF"/>
                      </a:solidFill>
                      <a:prstDash val="solid"/>
                    </a:lnB>
                    <a:solidFill>
                      <a:srgbClr val="FFFFFF"/>
                    </a:solidFill>
                  </a:tcPr>
                </a:tc>
                <a:tc>
                  <a:txBody>
                    <a:bodyPr lIns="95250" tIns="95250" rIns="95250" bIns="95250"/>
                    <a:lstStyle/>
                    <a:p>
                      <a:r>
                        <a:rPr sz="1650" b="0">
                          <a:solidFill>
                            <a:srgbClr val="17334A"/>
                          </a:solidFill>
                          <a:latin typeface="Arial"/>
                          <a:ea typeface="Arial"/>
                          <a:cs typeface="Arial"/>
                        </a:rPr>
                        <a:t>329</a:t>
                      </a:r>
                    </a:p>
                  </a:txBody>
                  <a:tcPr marL="91440" marR="91440" marT="45720" marB="45720" anchor="ctr">
                    <a:lnR w="9525">
                      <a:solidFill>
                        <a:srgbClr val="FFFFFF"/>
                      </a:solidFill>
                      <a:prstDash val="solid"/>
                    </a:lnR>
                    <a:lnB w="9525">
                      <a:solidFill>
                        <a:srgbClr val="FFFFFF"/>
                      </a:solidFill>
                      <a:prstDash val="solid"/>
                    </a:lnB>
                    <a:solidFill>
                      <a:srgbClr val="FFFFFF"/>
                    </a:solidFill>
                  </a:tcPr>
                </a:tc>
              </a:tr>
              <a:tr h="483394">
                <a:tc>
                  <a:txBody>
                    <a:bodyPr lIns="95250" tIns="95250" rIns="95250" bIns="95250"/>
                    <a:lstStyle/>
                    <a:p>
                      <a:r>
                        <a:rPr sz="1650" b="0">
                          <a:solidFill>
                            <a:srgbClr val="17334A"/>
                          </a:solidFill>
                          <a:latin typeface="Arial"/>
                          <a:ea typeface="Arial"/>
                          <a:cs typeface="Arial"/>
                        </a:rPr>
                        <a:t>Tuned NN, 16 units</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EAF3F4"/>
                    </a:solidFill>
                  </a:tcPr>
                </a:tc>
                <a:tc>
                  <a:txBody>
                    <a:bodyPr lIns="95250" tIns="95250" rIns="95250" bIns="95250"/>
                    <a:lstStyle/>
                    <a:p>
                      <a:r>
                        <a:rPr sz="1650" b="0">
                          <a:solidFill>
                            <a:srgbClr val="17334A"/>
                          </a:solidFill>
                          <a:latin typeface="Arial"/>
                          <a:ea typeface="Arial"/>
                          <a:cs typeface="Arial"/>
                        </a:rPr>
                        <a:t>0.320</a:t>
                      </a:r>
                    </a:p>
                  </a:txBody>
                  <a:tcPr marL="91440" marR="91440" marT="45720" marB="45720" anchor="ctr">
                    <a:lnR w="9525">
                      <a:solidFill>
                        <a:srgbClr val="FFFFFF"/>
                      </a:solidFill>
                      <a:prstDash val="solid"/>
                    </a:lnR>
                    <a:lnB w="9525">
                      <a:solidFill>
                        <a:srgbClr val="FFFFFF"/>
                      </a:solidFill>
                      <a:prstDash val="solid"/>
                    </a:lnB>
                    <a:solidFill>
                      <a:srgbClr val="EAF3F4"/>
                    </a:solidFill>
                  </a:tcPr>
                </a:tc>
                <a:tc>
                  <a:txBody>
                    <a:bodyPr lIns="95250" tIns="95250" rIns="95250" bIns="95250"/>
                    <a:lstStyle/>
                    <a:p>
                      <a:r>
                        <a:rPr sz="1650" b="0">
                          <a:solidFill>
                            <a:srgbClr val="17334A"/>
                          </a:solidFill>
                          <a:latin typeface="Arial"/>
                          <a:ea typeface="Arial"/>
                          <a:cs typeface="Arial"/>
                        </a:rPr>
                        <a:t>0.294</a:t>
                      </a:r>
                    </a:p>
                  </a:txBody>
                  <a:tcPr marL="91440" marR="91440" marT="45720" marB="45720" anchor="ctr">
                    <a:lnR w="9525">
                      <a:solidFill>
                        <a:srgbClr val="FFFFFF"/>
                      </a:solidFill>
                      <a:prstDash val="solid"/>
                    </a:lnR>
                    <a:lnB w="9525">
                      <a:solidFill>
                        <a:srgbClr val="FFFFFF"/>
                      </a:solidFill>
                      <a:prstDash val="solid"/>
                    </a:lnB>
                    <a:solidFill>
                      <a:srgbClr val="EAF3F4"/>
                    </a:solidFill>
                  </a:tcPr>
                </a:tc>
                <a:tc>
                  <a:txBody>
                    <a:bodyPr lIns="95250" tIns="95250" rIns="95250" bIns="95250"/>
                    <a:lstStyle/>
                    <a:p>
                      <a:r>
                        <a:rPr sz="1650" b="0">
                          <a:solidFill>
                            <a:srgbClr val="17334A"/>
                          </a:solidFill>
                          <a:latin typeface="Arial"/>
                          <a:ea typeface="Arial"/>
                          <a:cs typeface="Arial"/>
                        </a:rPr>
                        <a:t>Not tested</a:t>
                      </a:r>
                    </a:p>
                  </a:txBody>
                  <a:tcPr marL="91440" marR="91440" marT="45720" marB="45720" anchor="ctr">
                    <a:lnR w="9525">
                      <a:solidFill>
                        <a:srgbClr val="FFFFFF"/>
                      </a:solidFill>
                      <a:prstDash val="solid"/>
                    </a:lnR>
                    <a:lnB w="9525">
                      <a:solidFill>
                        <a:srgbClr val="FFFFFF"/>
                      </a:solidFill>
                      <a:prstDash val="solid"/>
                    </a:lnB>
                    <a:solidFill>
                      <a:srgbClr val="EAF3F4"/>
                    </a:solidFill>
                  </a:tcPr>
                </a:tc>
                <a:tc>
                  <a:txBody>
                    <a:bodyPr lIns="95250" tIns="95250" rIns="95250" bIns="95250"/>
                    <a:lstStyle/>
                    <a:p>
                      <a:r>
                        <a:rPr sz="1650" b="0">
                          <a:solidFill>
                            <a:srgbClr val="17334A"/>
                          </a:solidFill>
                          <a:latin typeface="Arial"/>
                          <a:ea typeface="Arial"/>
                          <a:cs typeface="Arial"/>
                        </a:rPr>
                        <a:t>0.632 s</a:t>
                      </a:r>
                    </a:p>
                  </a:txBody>
                  <a:tcPr marL="91440" marR="91440" marT="45720" marB="45720" anchor="ctr">
                    <a:lnR w="9525">
                      <a:solidFill>
                        <a:srgbClr val="FFFFFF"/>
                      </a:solidFill>
                      <a:prstDash val="solid"/>
                    </a:lnR>
                    <a:lnB w="9525">
                      <a:solidFill>
                        <a:srgbClr val="FFFFFF"/>
                      </a:solidFill>
                      <a:prstDash val="solid"/>
                    </a:lnB>
                    <a:solidFill>
                      <a:srgbClr val="EAF3F4"/>
                    </a:solidFill>
                  </a:tcPr>
                </a:tc>
                <a:tc>
                  <a:txBody>
                    <a:bodyPr lIns="95250" tIns="95250" rIns="95250" bIns="95250"/>
                    <a:lstStyle/>
                    <a:p>
                      <a:r>
                        <a:rPr sz="1650" b="0">
                          <a:solidFill>
                            <a:srgbClr val="17334A"/>
                          </a:solidFill>
                          <a:latin typeface="Arial"/>
                          <a:ea typeface="Arial"/>
                          <a:cs typeface="Arial"/>
                        </a:rPr>
                        <a:t>657</a:t>
                      </a:r>
                    </a:p>
                  </a:txBody>
                  <a:tcPr marL="91440" marR="91440" marT="45720" marB="45720" anchor="ctr">
                    <a:lnR w="9525">
                      <a:solidFill>
                        <a:srgbClr val="FFFFFF"/>
                      </a:solidFill>
                      <a:prstDash val="solid"/>
                    </a:lnR>
                    <a:lnB w="9525">
                      <a:solidFill>
                        <a:srgbClr val="FFFFFF"/>
                      </a:solidFill>
                      <a:prstDash val="solid"/>
                    </a:lnB>
                    <a:solidFill>
                      <a:srgbClr val="EAF3F4"/>
                    </a:solidFill>
                  </a:tcPr>
                </a:tc>
              </a:tr>
            </a:tbl>
          </a:graphicData>
        </a:graphic>
      </p:graphicFrame>
      <p:pic>
        <p:nvPicPr>
          <p:cNvPr id="8" name="">
            <a:extLst xmlns:a="http://schemas.openxmlformats.org/drawingml/2006/main">
              <a:ext uri="{FF2B5EF4-FFF2-40B4-BE49-F238E27FC236}">
                <a16:creationId xmlns:a16="http://schemas.microsoft.com/office/drawing/2014/main" id="{B0745A13-5ECF-49B9-917C-453F78371A6D}"/>
              </a:ext>
            </a:extLst>
          </p:cNvPr>
          <p:cNvPicPr>
            <a:picLocks xmlns:a="http://schemas.openxmlformats.org/drawingml/2006/main" noChangeAspect="1"/>
          </p:cNvPicPr>
          <p:nvPr/>
        </p:nvPicPr>
        <p:blipFill>
          <a:blip xmlns:r="http://schemas.openxmlformats.org/officeDocument/2006/relationships" xmlns:a="http://schemas.openxmlformats.org/drawingml/2006/main" r:embed="R53b9bb8255c34e73"/>
          <a:srcRect xmlns:a="http://schemas.openxmlformats.org/drawingml/2006/main" l="9729" t="0" r="9729" b="0"/>
          <a:stretch xmlns:a="http://schemas.openxmlformats.org/drawingml/2006/main">
            <a:fillRect l="0" t="0" r="0" b="0"/>
          </a:stretch>
        </p:blipFill>
        <p:spPr>
          <a:xfrm xmlns:a="http://schemas.openxmlformats.org/drawingml/2006/main">
            <a:off x="9620250" y="1743075"/>
            <a:ext cx="2076450" cy="1933575"/>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27070E70-87C3-4D2E-83D0-D25D01369FA6}"/>
              </a:ext>
            </a:extLst>
          </p:cNvPr>
          <p:cNvSpPr>
            <a:spLocks xmlns:a="http://schemas.openxmlformats.org/drawingml/2006/main" noGrp="1"/>
          </p:cNvSpPr>
          <p:nvPr/>
        </p:nvSpPr>
        <p:spPr>
          <a:xfrm xmlns:a="http://schemas.openxmlformats.org/drawingml/2006/main">
            <a:off x="495300" y="3943350"/>
            <a:ext cx="5810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122C43"/>
                </a:solidFill>
                <a:latin typeface="Arial"/>
                <a:ea typeface="Arial"/>
                <a:cs typeface="Arial"/>
              </a:defRPr>
            </a:defPPr>
            <a:lvl1pPr>
              <a:defRPr sz="2100" b="1">
                <a:solidFill>
                  <a:srgbClr val="122C43"/>
                </a:solidFill>
                <a:latin typeface="Arial"/>
                <a:ea typeface="Arial"/>
                <a:cs typeface="Arial"/>
              </a:defRPr>
            </a:lvl1pPr>
            <a:lvl2pPr>
              <a:defRPr sz="2100" b="1">
                <a:solidFill>
                  <a:srgbClr val="122C43"/>
                </a:solidFill>
                <a:latin typeface="Arial"/>
                <a:ea typeface="Arial"/>
                <a:cs typeface="Arial"/>
              </a:defRPr>
            </a:lvl2pPr>
            <a:lvl3pPr>
              <a:defRPr sz="2100" b="1">
                <a:solidFill>
                  <a:srgbClr val="122C43"/>
                </a:solidFill>
                <a:latin typeface="Arial"/>
                <a:ea typeface="Arial"/>
                <a:cs typeface="Arial"/>
              </a:defRPr>
            </a:lvl3pPr>
            <a:lvl4pPr>
              <a:defRPr sz="2100" b="1">
                <a:solidFill>
                  <a:srgbClr val="122C43"/>
                </a:solidFill>
                <a:latin typeface="Arial"/>
                <a:ea typeface="Arial"/>
                <a:cs typeface="Arial"/>
              </a:defRPr>
            </a:lvl4pPr>
            <a:lvl5pPr>
              <a:defRPr sz="2100" b="1">
                <a:solidFill>
                  <a:srgbClr val="122C43"/>
                </a:solidFill>
                <a:latin typeface="Arial"/>
                <a:ea typeface="Arial"/>
                <a:cs typeface="Arial"/>
              </a:defRPr>
            </a:lvl5pPr>
            <a:lvl6pPr>
              <a:defRPr sz="2100" b="1">
                <a:solidFill>
                  <a:srgbClr val="122C43"/>
                </a:solidFill>
                <a:latin typeface="Arial"/>
                <a:ea typeface="Arial"/>
                <a:cs typeface="Arial"/>
              </a:defRPr>
            </a:lvl6pPr>
            <a:lvl7pPr>
              <a:defRPr sz="2100" b="1">
                <a:solidFill>
                  <a:srgbClr val="122C43"/>
                </a:solidFill>
                <a:latin typeface="Arial"/>
                <a:ea typeface="Arial"/>
                <a:cs typeface="Arial"/>
              </a:defRPr>
            </a:lvl7pPr>
            <a:lvl8pPr>
              <a:defRPr sz="2100" b="1">
                <a:solidFill>
                  <a:srgbClr val="122C43"/>
                </a:solidFill>
                <a:latin typeface="Arial"/>
                <a:ea typeface="Arial"/>
                <a:cs typeface="Arial"/>
              </a:defRPr>
            </a:lvl8pPr>
            <a:lvl9pPr>
              <a:defRPr sz="2100" b="1">
                <a:solidFill>
                  <a:srgbClr val="122C43"/>
                </a:solidFill>
                <a:latin typeface="Arial"/>
                <a:ea typeface="Arial"/>
                <a:cs typeface="Arial"/>
              </a:defRPr>
            </a:lvl9pPr>
          </a:lstStyle>
          <a:p xmlns:a="http://schemas.openxmlformats.org/drawingml/2006/main">
            <a:pPr>
              <a:defRPr sz="2100" b="1">
                <a:solidFill>
                  <a:srgbClr val="122C43"/>
                </a:solidFill>
                <a:latin typeface="Arial"/>
                <a:ea typeface="Arial"/>
                <a:cs typeface="Arial"/>
              </a:defRPr>
            </a:pPr>
            <a:r>
              <a:rPr sz="2100" b="1">
                <a:solidFill>
                  <a:srgbClr val="122C43"/>
                </a:solidFill>
                <a:latin typeface="Arial"/>
                <a:ea typeface="Arial"/>
                <a:cs typeface="Arial"/>
              </a:rPr>
              <a:t>NN baseline to tuned, 8 units</a:t>
            </a:r>
          </a:p>
        </p:txBody>
      </p:sp>
      <p:sp>
        <p:nvSpPr>
          <p:cNvPr id="10" name="">
            <a:extLst xmlns:a="http://schemas.openxmlformats.org/drawingml/2006/main">
              <a:ext uri="{FF2B5EF4-FFF2-40B4-BE49-F238E27FC236}">
                <a16:creationId xmlns:a16="http://schemas.microsoft.com/office/drawing/2014/main" id="{01D0CC60-B296-4E92-8781-67D02826A4CA}"/>
              </a:ext>
            </a:extLst>
          </p:cNvPr>
          <p:cNvSpPr>
            <a:spLocks xmlns:a="http://schemas.openxmlformats.org/drawingml/2006/main" noGrp="1"/>
          </p:cNvSpPr>
          <p:nvPr/>
        </p:nvSpPr>
        <p:spPr>
          <a:xfrm xmlns:a="http://schemas.openxmlformats.org/drawingml/2006/main">
            <a:off x="495300" y="4371975"/>
            <a:ext cx="5524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7334A"/>
                </a:solidFill>
                <a:latin typeface="Arial"/>
                <a:ea typeface="Arial"/>
                <a:cs typeface="Arial"/>
              </a:defRPr>
            </a:defPPr>
            <a:lvl1pPr>
              <a:defRPr sz="2025" b="0">
                <a:solidFill>
                  <a:srgbClr val="17334A"/>
                </a:solidFill>
                <a:latin typeface="Arial"/>
                <a:ea typeface="Arial"/>
                <a:cs typeface="Arial"/>
              </a:defRPr>
            </a:lvl1pPr>
            <a:lvl2pPr>
              <a:defRPr sz="2025" b="0">
                <a:solidFill>
                  <a:srgbClr val="17334A"/>
                </a:solidFill>
                <a:latin typeface="Arial"/>
                <a:ea typeface="Arial"/>
                <a:cs typeface="Arial"/>
              </a:defRPr>
            </a:lvl2pPr>
            <a:lvl3pPr>
              <a:defRPr sz="2025" b="0">
                <a:solidFill>
                  <a:srgbClr val="17334A"/>
                </a:solidFill>
                <a:latin typeface="Arial"/>
                <a:ea typeface="Arial"/>
                <a:cs typeface="Arial"/>
              </a:defRPr>
            </a:lvl3pPr>
            <a:lvl4pPr>
              <a:defRPr sz="2025" b="0">
                <a:solidFill>
                  <a:srgbClr val="17334A"/>
                </a:solidFill>
                <a:latin typeface="Arial"/>
                <a:ea typeface="Arial"/>
                <a:cs typeface="Arial"/>
              </a:defRPr>
            </a:lvl4pPr>
            <a:lvl5pPr>
              <a:defRPr sz="2025" b="0">
                <a:solidFill>
                  <a:srgbClr val="17334A"/>
                </a:solidFill>
                <a:latin typeface="Arial"/>
                <a:ea typeface="Arial"/>
                <a:cs typeface="Arial"/>
              </a:defRPr>
            </a:lvl5pPr>
            <a:lvl6pPr>
              <a:defRPr sz="2025" b="0">
                <a:solidFill>
                  <a:srgbClr val="17334A"/>
                </a:solidFill>
                <a:latin typeface="Arial"/>
                <a:ea typeface="Arial"/>
                <a:cs typeface="Arial"/>
              </a:defRPr>
            </a:lvl6pPr>
            <a:lvl7pPr>
              <a:defRPr sz="2025" b="0">
                <a:solidFill>
                  <a:srgbClr val="17334A"/>
                </a:solidFill>
                <a:latin typeface="Arial"/>
                <a:ea typeface="Arial"/>
                <a:cs typeface="Arial"/>
              </a:defRPr>
            </a:lvl7pPr>
            <a:lvl8pPr>
              <a:defRPr sz="2025" b="0">
                <a:solidFill>
                  <a:srgbClr val="17334A"/>
                </a:solidFill>
                <a:latin typeface="Arial"/>
                <a:ea typeface="Arial"/>
                <a:cs typeface="Arial"/>
              </a:defRPr>
            </a:lvl8pPr>
            <a:lvl9pPr>
              <a:defRPr sz="2025" b="0">
                <a:solidFill>
                  <a:srgbClr val="17334A"/>
                </a:solidFill>
                <a:latin typeface="Arial"/>
                <a:ea typeface="Arial"/>
                <a:cs typeface="Arial"/>
              </a:defRPr>
            </a:lvl9pPr>
          </a:lstStyle>
          <a:p xmlns:a="http://schemas.openxmlformats.org/drawingml/2006/main">
            <a:pPr>
              <a:defRPr sz="2025" b="0">
                <a:solidFill>
                  <a:srgbClr val="17334A"/>
                </a:solidFill>
                <a:latin typeface="Arial"/>
                <a:ea typeface="Arial"/>
                <a:cs typeface="Arial"/>
              </a:defRPr>
            </a:pPr>
            <a:r>
              <a:rPr sz="2025" b="0">
                <a:solidFill>
                  <a:srgbClr val="17334A"/>
                </a:solidFill>
                <a:latin typeface="Arial"/>
                <a:ea typeface="Arial"/>
                <a:cs typeface="Arial"/>
              </a:rPr>
              <a:t>CV AP: 0.304 to 0.318</a:t>
            </a:r>
          </a:p>
          <a:p xmlns:a="http://schemas.openxmlformats.org/drawingml/2006/main">
            <a:pPr>
              <a:defRPr sz="2025" b="0">
                <a:solidFill>
                  <a:srgbClr val="17334A"/>
                </a:solidFill>
                <a:latin typeface="Arial"/>
                <a:ea typeface="Arial"/>
                <a:cs typeface="Arial"/>
              </a:defRPr>
            </a:pPr>
            <a:r>
              <a:rPr sz="2025" b="0">
                <a:solidFill>
                  <a:srgbClr val="17334A"/>
                </a:solidFill>
                <a:latin typeface="Arial"/>
                <a:ea typeface="Arial"/>
                <a:cs typeface="Arial"/>
              </a:rPr>
              <a:t>Validation AP: 0.289 to 0.300</a:t>
            </a:r>
          </a:p>
        </p:txBody>
      </p:sp>
      <p:sp>
        <p:nvSpPr>
          <p:cNvPr id="11" name="">
            <a:extLst xmlns:a="http://schemas.openxmlformats.org/drawingml/2006/main">
              <a:ext uri="{FF2B5EF4-FFF2-40B4-BE49-F238E27FC236}">
                <a16:creationId xmlns:a16="http://schemas.microsoft.com/office/drawing/2014/main" id="{E36BD0EE-3AFD-4D36-83B7-2983AB3748E7}"/>
              </a:ext>
            </a:extLst>
          </p:cNvPr>
          <p:cNvSpPr>
            <a:spLocks xmlns:a="http://schemas.openxmlformats.org/drawingml/2006/main" noGrp="1"/>
          </p:cNvSpPr>
          <p:nvPr/>
        </p:nvSpPr>
        <p:spPr>
          <a:xfrm xmlns:a="http://schemas.openxmlformats.org/drawingml/2006/main">
            <a:off x="6648450" y="3943350"/>
            <a:ext cx="5048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087E8B"/>
                </a:solidFill>
                <a:latin typeface="Arial"/>
                <a:ea typeface="Arial"/>
                <a:cs typeface="Arial"/>
              </a:defRPr>
            </a:defPPr>
            <a:lvl1pPr>
              <a:defRPr sz="2100" b="1">
                <a:solidFill>
                  <a:srgbClr val="087E8B"/>
                </a:solidFill>
                <a:latin typeface="Arial"/>
                <a:ea typeface="Arial"/>
                <a:cs typeface="Arial"/>
              </a:defRPr>
            </a:lvl1pPr>
            <a:lvl2pPr>
              <a:defRPr sz="2100" b="1">
                <a:solidFill>
                  <a:srgbClr val="087E8B"/>
                </a:solidFill>
                <a:latin typeface="Arial"/>
                <a:ea typeface="Arial"/>
                <a:cs typeface="Arial"/>
              </a:defRPr>
            </a:lvl2pPr>
            <a:lvl3pPr>
              <a:defRPr sz="2100" b="1">
                <a:solidFill>
                  <a:srgbClr val="087E8B"/>
                </a:solidFill>
                <a:latin typeface="Arial"/>
                <a:ea typeface="Arial"/>
                <a:cs typeface="Arial"/>
              </a:defRPr>
            </a:lvl3pPr>
            <a:lvl4pPr>
              <a:defRPr sz="2100" b="1">
                <a:solidFill>
                  <a:srgbClr val="087E8B"/>
                </a:solidFill>
                <a:latin typeface="Arial"/>
                <a:ea typeface="Arial"/>
                <a:cs typeface="Arial"/>
              </a:defRPr>
            </a:lvl4pPr>
            <a:lvl5pPr>
              <a:defRPr sz="2100" b="1">
                <a:solidFill>
                  <a:srgbClr val="087E8B"/>
                </a:solidFill>
                <a:latin typeface="Arial"/>
                <a:ea typeface="Arial"/>
                <a:cs typeface="Arial"/>
              </a:defRPr>
            </a:lvl5pPr>
            <a:lvl6pPr>
              <a:defRPr sz="2100" b="1">
                <a:solidFill>
                  <a:srgbClr val="087E8B"/>
                </a:solidFill>
                <a:latin typeface="Arial"/>
                <a:ea typeface="Arial"/>
                <a:cs typeface="Arial"/>
              </a:defRPr>
            </a:lvl6pPr>
            <a:lvl7pPr>
              <a:defRPr sz="2100" b="1">
                <a:solidFill>
                  <a:srgbClr val="087E8B"/>
                </a:solidFill>
                <a:latin typeface="Arial"/>
                <a:ea typeface="Arial"/>
                <a:cs typeface="Arial"/>
              </a:defRPr>
            </a:lvl7pPr>
            <a:lvl8pPr>
              <a:defRPr sz="2100" b="1">
                <a:solidFill>
                  <a:srgbClr val="087E8B"/>
                </a:solidFill>
                <a:latin typeface="Arial"/>
                <a:ea typeface="Arial"/>
                <a:cs typeface="Arial"/>
              </a:defRPr>
            </a:lvl8pPr>
            <a:lvl9pPr>
              <a:defRPr sz="2100" b="1">
                <a:solidFill>
                  <a:srgbClr val="087E8B"/>
                </a:solidFill>
                <a:latin typeface="Arial"/>
                <a:ea typeface="Arial"/>
                <a:cs typeface="Arial"/>
              </a:defRPr>
            </a:lvl9pPr>
          </a:lstStyle>
          <a:p xmlns:a="http://schemas.openxmlformats.org/drawingml/2006/main">
            <a:pPr>
              <a:defRPr sz="2100" b="1">
                <a:solidFill>
                  <a:srgbClr val="087E8B"/>
                </a:solidFill>
                <a:latin typeface="Arial"/>
                <a:ea typeface="Arial"/>
                <a:cs typeface="Arial"/>
              </a:defRPr>
            </a:pPr>
            <a:r>
              <a:rPr sz="2100" b="1">
                <a:solidFill>
                  <a:srgbClr val="087E8B"/>
                </a:solidFill>
                <a:latin typeface="Arial"/>
                <a:ea typeface="Arial"/>
                <a:cs typeface="Arial"/>
              </a:rPr>
              <a:t>+0.0051 test AP for NN</a:t>
            </a:r>
          </a:p>
        </p:txBody>
      </p:sp>
      <p:sp>
        <p:nvSpPr>
          <p:cNvPr id="12" name="">
            <a:extLst xmlns:a="http://schemas.openxmlformats.org/drawingml/2006/main">
              <a:ext uri="{FF2B5EF4-FFF2-40B4-BE49-F238E27FC236}">
                <a16:creationId xmlns:a16="http://schemas.microsoft.com/office/drawing/2014/main" id="{25A47E63-F70D-4AB7-A565-D129FB520C8A}"/>
              </a:ext>
            </a:extLst>
          </p:cNvPr>
          <p:cNvSpPr>
            <a:spLocks xmlns:a="http://schemas.openxmlformats.org/drawingml/2006/main" noGrp="1"/>
          </p:cNvSpPr>
          <p:nvPr/>
        </p:nvSpPr>
        <p:spPr>
          <a:xfrm xmlns:a="http://schemas.openxmlformats.org/drawingml/2006/main">
            <a:off x="6648450" y="4371975"/>
            <a:ext cx="5048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17334A"/>
                </a:solidFill>
                <a:latin typeface="Arial"/>
                <a:ea typeface="Arial"/>
                <a:cs typeface="Arial"/>
              </a:defRPr>
            </a:defPPr>
            <a:lvl1pPr>
              <a:defRPr sz="1875" b="0">
                <a:solidFill>
                  <a:srgbClr val="17334A"/>
                </a:solidFill>
                <a:latin typeface="Arial"/>
                <a:ea typeface="Arial"/>
                <a:cs typeface="Arial"/>
              </a:defRPr>
            </a:lvl1pPr>
            <a:lvl2pPr>
              <a:defRPr sz="1875" b="0">
                <a:solidFill>
                  <a:srgbClr val="17334A"/>
                </a:solidFill>
                <a:latin typeface="Arial"/>
                <a:ea typeface="Arial"/>
                <a:cs typeface="Arial"/>
              </a:defRPr>
            </a:lvl2pPr>
            <a:lvl3pPr>
              <a:defRPr sz="1875" b="0">
                <a:solidFill>
                  <a:srgbClr val="17334A"/>
                </a:solidFill>
                <a:latin typeface="Arial"/>
                <a:ea typeface="Arial"/>
                <a:cs typeface="Arial"/>
              </a:defRPr>
            </a:lvl3pPr>
            <a:lvl4pPr>
              <a:defRPr sz="1875" b="0">
                <a:solidFill>
                  <a:srgbClr val="17334A"/>
                </a:solidFill>
                <a:latin typeface="Arial"/>
                <a:ea typeface="Arial"/>
                <a:cs typeface="Arial"/>
              </a:defRPr>
            </a:lvl4pPr>
            <a:lvl5pPr>
              <a:defRPr sz="1875" b="0">
                <a:solidFill>
                  <a:srgbClr val="17334A"/>
                </a:solidFill>
                <a:latin typeface="Arial"/>
                <a:ea typeface="Arial"/>
                <a:cs typeface="Arial"/>
              </a:defRPr>
            </a:lvl5pPr>
            <a:lvl6pPr>
              <a:defRPr sz="1875" b="0">
                <a:solidFill>
                  <a:srgbClr val="17334A"/>
                </a:solidFill>
                <a:latin typeface="Arial"/>
                <a:ea typeface="Arial"/>
                <a:cs typeface="Arial"/>
              </a:defRPr>
            </a:lvl6pPr>
            <a:lvl7pPr>
              <a:defRPr sz="1875" b="0">
                <a:solidFill>
                  <a:srgbClr val="17334A"/>
                </a:solidFill>
                <a:latin typeface="Arial"/>
                <a:ea typeface="Arial"/>
                <a:cs typeface="Arial"/>
              </a:defRPr>
            </a:lvl7pPr>
            <a:lvl8pPr>
              <a:defRPr sz="1875" b="0">
                <a:solidFill>
                  <a:srgbClr val="17334A"/>
                </a:solidFill>
                <a:latin typeface="Arial"/>
                <a:ea typeface="Arial"/>
                <a:cs typeface="Arial"/>
              </a:defRPr>
            </a:lvl8pPr>
            <a:lvl9pPr>
              <a:defRPr sz="1875" b="0">
                <a:solidFill>
                  <a:srgbClr val="17334A"/>
                </a:solidFill>
                <a:latin typeface="Arial"/>
                <a:ea typeface="Arial"/>
                <a:cs typeface="Arial"/>
              </a:defRPr>
            </a:lvl9pPr>
          </a:lstStyle>
          <a:p xmlns:a="http://schemas.openxmlformats.org/drawingml/2006/main">
            <a:pPr>
              <a:defRPr sz="1875" b="0">
                <a:solidFill>
                  <a:srgbClr val="17334A"/>
                </a:solidFill>
                <a:latin typeface="Arial"/>
                <a:ea typeface="Arial"/>
                <a:cs typeface="Arial"/>
              </a:defRPr>
            </a:pPr>
            <a:r>
              <a:rPr sz="1875" b="0">
                <a:solidFill>
                  <a:srgbClr val="17334A"/>
                </a:solidFill>
                <a:latin typeface="Arial"/>
                <a:ea typeface="Arial"/>
                <a:cs typeface="Arial"/>
              </a:rPr>
              <a:t>95% interval for gain: −0.0082 to +0.0190</a:t>
            </a:r>
          </a:p>
          <a:p xmlns:a="http://schemas.openxmlformats.org/drawingml/2006/main">
            <a:pPr>
              <a:defRPr sz="1875" b="0">
                <a:solidFill>
                  <a:srgbClr val="17334A"/>
                </a:solidFill>
                <a:latin typeface="Arial"/>
                <a:ea typeface="Arial"/>
                <a:cs typeface="Arial"/>
              </a:defRPr>
            </a:pPr>
            <a:r>
              <a:rPr sz="1875" b="0">
                <a:solidFill>
                  <a:srgbClr val="17334A"/>
                </a:solidFill>
                <a:latin typeface="Arial"/>
                <a:ea typeface="Arial"/>
                <a:cs typeface="Arial"/>
              </a:rPr>
              <a:t>The interval includes no improvement.</a:t>
            </a:r>
          </a:p>
        </p:txBody>
      </p:sp>
      <p:sp>
        <p:nvSpPr>
          <p:cNvPr id="13" name="">
            <a:extLst xmlns:a="http://schemas.openxmlformats.org/drawingml/2006/main">
              <a:ext uri="{FF2B5EF4-FFF2-40B4-BE49-F238E27FC236}">
                <a16:creationId xmlns:a16="http://schemas.microsoft.com/office/drawing/2014/main" id="{DA0B1477-9BD5-430F-AF9F-7BF72B9AA82F}"/>
              </a:ext>
            </a:extLst>
          </p:cNvPr>
          <p:cNvSpPr>
            <a:spLocks xmlns:a="http://schemas.openxmlformats.org/drawingml/2006/main" noGrp="1"/>
          </p:cNvSpPr>
          <p:nvPr/>
        </p:nvSpPr>
        <p:spPr>
          <a:xfrm xmlns:a="http://schemas.openxmlformats.org/drawingml/2006/main">
            <a:off x="495300" y="5324475"/>
            <a:ext cx="11201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122C43"/>
                </a:solidFill>
                <a:latin typeface="Arial"/>
                <a:ea typeface="Arial"/>
                <a:cs typeface="Arial"/>
              </a:defRPr>
            </a:defPPr>
            <a:lvl1pPr>
              <a:defRPr sz="1875" b="1">
                <a:solidFill>
                  <a:srgbClr val="122C43"/>
                </a:solidFill>
                <a:latin typeface="Arial"/>
                <a:ea typeface="Arial"/>
                <a:cs typeface="Arial"/>
              </a:defRPr>
            </a:lvl1pPr>
            <a:lvl2pPr>
              <a:defRPr sz="1875" b="1">
                <a:solidFill>
                  <a:srgbClr val="122C43"/>
                </a:solidFill>
                <a:latin typeface="Arial"/>
                <a:ea typeface="Arial"/>
                <a:cs typeface="Arial"/>
              </a:defRPr>
            </a:lvl2pPr>
            <a:lvl3pPr>
              <a:defRPr sz="1875" b="1">
                <a:solidFill>
                  <a:srgbClr val="122C43"/>
                </a:solidFill>
                <a:latin typeface="Arial"/>
                <a:ea typeface="Arial"/>
                <a:cs typeface="Arial"/>
              </a:defRPr>
            </a:lvl3pPr>
            <a:lvl4pPr>
              <a:defRPr sz="1875" b="1">
                <a:solidFill>
                  <a:srgbClr val="122C43"/>
                </a:solidFill>
                <a:latin typeface="Arial"/>
                <a:ea typeface="Arial"/>
                <a:cs typeface="Arial"/>
              </a:defRPr>
            </a:lvl4pPr>
            <a:lvl5pPr>
              <a:defRPr sz="1875" b="1">
                <a:solidFill>
                  <a:srgbClr val="122C43"/>
                </a:solidFill>
                <a:latin typeface="Arial"/>
                <a:ea typeface="Arial"/>
                <a:cs typeface="Arial"/>
              </a:defRPr>
            </a:lvl5pPr>
            <a:lvl6pPr>
              <a:defRPr sz="1875" b="1">
                <a:solidFill>
                  <a:srgbClr val="122C43"/>
                </a:solidFill>
                <a:latin typeface="Arial"/>
                <a:ea typeface="Arial"/>
                <a:cs typeface="Arial"/>
              </a:defRPr>
            </a:lvl6pPr>
            <a:lvl7pPr>
              <a:defRPr sz="1875" b="1">
                <a:solidFill>
                  <a:srgbClr val="122C43"/>
                </a:solidFill>
                <a:latin typeface="Arial"/>
                <a:ea typeface="Arial"/>
                <a:cs typeface="Arial"/>
              </a:defRPr>
            </a:lvl7pPr>
            <a:lvl8pPr>
              <a:defRPr sz="1875" b="1">
                <a:solidFill>
                  <a:srgbClr val="122C43"/>
                </a:solidFill>
                <a:latin typeface="Arial"/>
                <a:ea typeface="Arial"/>
                <a:cs typeface="Arial"/>
              </a:defRPr>
            </a:lvl8pPr>
            <a:lvl9pPr>
              <a:defRPr sz="1875" b="1">
                <a:solidFill>
                  <a:srgbClr val="122C43"/>
                </a:solidFill>
                <a:latin typeface="Arial"/>
                <a:ea typeface="Arial"/>
                <a:cs typeface="Arial"/>
              </a:defRPr>
            </a:lvl9pPr>
          </a:lstStyle>
          <a:p xmlns:a="http://schemas.openxmlformats.org/drawingml/2006/main">
            <a:pPr>
              <a:defRPr sz="1875" b="1">
                <a:solidFill>
                  <a:srgbClr val="122C43"/>
                </a:solidFill>
                <a:latin typeface="Arial"/>
                <a:ea typeface="Arial"/>
                <a:cs typeface="Arial"/>
              </a:defRPr>
            </a:pPr>
            <a:r>
              <a:rPr sz="1875" b="1">
                <a:solidFill>
                  <a:srgbClr val="122C43"/>
                </a:solidFill>
                <a:latin typeface="Arial"/>
                <a:ea typeface="Arial"/>
                <a:cs typeface="Arial"/>
              </a:rPr>
              <a:t>Search: LR 33.7 s / 24 settings. NN 38.0 s / 12 settings. No convergence warnings.</a:t>
            </a:r>
          </a:p>
        </p:txBody>
      </p:sp>
      <p:sp>
        <p:nvSpPr>
          <p:cNvPr id="14" name="">
            <a:extLst xmlns:a="http://schemas.openxmlformats.org/drawingml/2006/main">
              <a:ext uri="{FF2B5EF4-FFF2-40B4-BE49-F238E27FC236}">
                <a16:creationId xmlns:a16="http://schemas.microsoft.com/office/drawing/2014/main" id="{2B7E8EE1-8564-4AEF-9A87-1633F41226E1}"/>
              </a:ext>
            </a:extLst>
          </p:cNvPr>
          <p:cNvSpPr>
            <a:spLocks xmlns:a="http://schemas.openxmlformats.org/drawingml/2006/main" noGrp="1"/>
          </p:cNvSpPr>
          <p:nvPr/>
        </p:nvSpPr>
        <p:spPr>
          <a:xfrm xmlns:a="http://schemas.openxmlformats.org/drawingml/2006/main">
            <a:off x="495300" y="5857875"/>
            <a:ext cx="112014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26879"/>
                </a:solidFill>
                <a:latin typeface="Arial"/>
                <a:ea typeface="Arial"/>
                <a:cs typeface="Arial"/>
              </a:defRPr>
            </a:defPPr>
            <a:lvl1pPr>
              <a:defRPr sz="1725" b="0">
                <a:solidFill>
                  <a:srgbClr val="526879"/>
                </a:solidFill>
                <a:latin typeface="Arial"/>
                <a:ea typeface="Arial"/>
                <a:cs typeface="Arial"/>
              </a:defRPr>
            </a:lvl1pPr>
            <a:lvl2pPr>
              <a:defRPr sz="1725" b="0">
                <a:solidFill>
                  <a:srgbClr val="526879"/>
                </a:solidFill>
                <a:latin typeface="Arial"/>
                <a:ea typeface="Arial"/>
                <a:cs typeface="Arial"/>
              </a:defRPr>
            </a:lvl2pPr>
            <a:lvl3pPr>
              <a:defRPr sz="1725" b="0">
                <a:solidFill>
                  <a:srgbClr val="526879"/>
                </a:solidFill>
                <a:latin typeface="Arial"/>
                <a:ea typeface="Arial"/>
                <a:cs typeface="Arial"/>
              </a:defRPr>
            </a:lvl3pPr>
            <a:lvl4pPr>
              <a:defRPr sz="1725" b="0">
                <a:solidFill>
                  <a:srgbClr val="526879"/>
                </a:solidFill>
                <a:latin typeface="Arial"/>
                <a:ea typeface="Arial"/>
                <a:cs typeface="Arial"/>
              </a:defRPr>
            </a:lvl4pPr>
            <a:lvl5pPr>
              <a:defRPr sz="1725" b="0">
                <a:solidFill>
                  <a:srgbClr val="526879"/>
                </a:solidFill>
                <a:latin typeface="Arial"/>
                <a:ea typeface="Arial"/>
                <a:cs typeface="Arial"/>
              </a:defRPr>
            </a:lvl5pPr>
            <a:lvl6pPr>
              <a:defRPr sz="1725" b="0">
                <a:solidFill>
                  <a:srgbClr val="526879"/>
                </a:solidFill>
                <a:latin typeface="Arial"/>
                <a:ea typeface="Arial"/>
                <a:cs typeface="Arial"/>
              </a:defRPr>
            </a:lvl6pPr>
            <a:lvl7pPr>
              <a:defRPr sz="1725" b="0">
                <a:solidFill>
                  <a:srgbClr val="526879"/>
                </a:solidFill>
                <a:latin typeface="Arial"/>
                <a:ea typeface="Arial"/>
                <a:cs typeface="Arial"/>
              </a:defRPr>
            </a:lvl7pPr>
            <a:lvl8pPr>
              <a:defRPr sz="1725" b="0">
                <a:solidFill>
                  <a:srgbClr val="526879"/>
                </a:solidFill>
                <a:latin typeface="Arial"/>
                <a:ea typeface="Arial"/>
                <a:cs typeface="Arial"/>
              </a:defRPr>
            </a:lvl8pPr>
            <a:lvl9pPr>
              <a:defRPr sz="1725" b="0">
                <a:solidFill>
                  <a:srgbClr val="526879"/>
                </a:solidFill>
                <a:latin typeface="Arial"/>
                <a:ea typeface="Arial"/>
                <a:cs typeface="Arial"/>
              </a:defRPr>
            </a:lvl9pPr>
          </a:lstStyle>
          <a:p xmlns:a="http://schemas.openxmlformats.org/drawingml/2006/main">
            <a:pPr>
              <a:defRPr sz="1725" b="0">
                <a:solidFill>
                  <a:srgbClr val="526879"/>
                </a:solidFill>
                <a:latin typeface="Arial"/>
                <a:ea typeface="Arial"/>
                <a:cs typeface="Arial"/>
              </a:defRPr>
            </a:pPr>
            <a:r>
              <a:rPr sz="1725" b="0">
                <a:solidFill>
                  <a:srgbClr val="526879"/>
                </a:solidFill>
                <a:latin typeface="Arial"/>
                <a:ea typeface="Arial"/>
                <a:cs typeface="Arial"/>
              </a:rPr>
              <a:t>NN 8-unit fit took 4.75× LR time. Prediction: about 32–34 ms per 1,000 rows.</a:t>
            </a:r>
          </a:p>
          <a:p xmlns:a="http://schemas.openxmlformats.org/drawingml/2006/main">
            <a:pPr>
              <a:defRPr sz="1725" b="0">
                <a:solidFill>
                  <a:srgbClr val="526879"/>
                </a:solidFill>
                <a:latin typeface="Arial"/>
                <a:ea typeface="Arial"/>
                <a:cs typeface="Arial"/>
              </a:defRPr>
            </a:pPr>
            <a:r>
              <a:rPr sz="1725" b="0">
                <a:solidFill>
                  <a:srgbClr val="526879"/>
                </a:solidFill>
                <a:latin typeface="Arial"/>
                <a:ea typeface="Arial"/>
                <a:cs typeface="Arial"/>
              </a:rPr>
              <a:t>Smaller NN did not fit faster in this run. Energy use was not measured.</a:t>
            </a:r>
          </a:p>
        </p:txBody>
      </p:sp>
    </p:spTree>
    <p:extLst>
      <p:ext uri="{BB962C8B-B14F-4D97-AF65-F5344CB8AC3E}">
        <p14:creationId xmlns:p14="http://schemas.microsoft.com/office/powerpoint/2010/main" val="57230964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A1917A16-5920-4060-BD77-B5F051F373A6}"/>
              </a:ext>
            </a:extLst>
          </p:cNvPr>
          <p:cNvSpPr>
            <a:spLocks xmlns:a="http://schemas.openxmlformats.org/drawingml/2006/main" noGrp="1"/>
          </p:cNvSpPr>
          <p:nvPr/>
        </p:nvSpPr>
        <p:spPr>
          <a:xfrm xmlns:a="http://schemas.openxmlformats.org/drawingml/2006/main">
            <a:off x="495300" y="2476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087E8B"/>
                </a:solidFill>
                <a:latin typeface="Arial"/>
                <a:ea typeface="Arial"/>
                <a:cs typeface="Arial"/>
              </a:defRPr>
            </a:defPPr>
            <a:lvl1pPr>
              <a:defRPr sz="1275" b="1">
                <a:solidFill>
                  <a:srgbClr val="087E8B"/>
                </a:solidFill>
                <a:latin typeface="Arial"/>
                <a:ea typeface="Arial"/>
                <a:cs typeface="Arial"/>
              </a:defRPr>
            </a:lvl1pPr>
            <a:lvl2pPr>
              <a:defRPr sz="1275" b="1">
                <a:solidFill>
                  <a:srgbClr val="087E8B"/>
                </a:solidFill>
                <a:latin typeface="Arial"/>
                <a:ea typeface="Arial"/>
                <a:cs typeface="Arial"/>
              </a:defRPr>
            </a:lvl2pPr>
            <a:lvl3pPr>
              <a:defRPr sz="1275" b="1">
                <a:solidFill>
                  <a:srgbClr val="087E8B"/>
                </a:solidFill>
                <a:latin typeface="Arial"/>
                <a:ea typeface="Arial"/>
                <a:cs typeface="Arial"/>
              </a:defRPr>
            </a:lvl3pPr>
            <a:lvl4pPr>
              <a:defRPr sz="1275" b="1">
                <a:solidFill>
                  <a:srgbClr val="087E8B"/>
                </a:solidFill>
                <a:latin typeface="Arial"/>
                <a:ea typeface="Arial"/>
                <a:cs typeface="Arial"/>
              </a:defRPr>
            </a:lvl4pPr>
            <a:lvl5pPr>
              <a:defRPr sz="1275" b="1">
                <a:solidFill>
                  <a:srgbClr val="087E8B"/>
                </a:solidFill>
                <a:latin typeface="Arial"/>
                <a:ea typeface="Arial"/>
                <a:cs typeface="Arial"/>
              </a:defRPr>
            </a:lvl5pPr>
            <a:lvl6pPr>
              <a:defRPr sz="1275" b="1">
                <a:solidFill>
                  <a:srgbClr val="087E8B"/>
                </a:solidFill>
                <a:latin typeface="Arial"/>
                <a:ea typeface="Arial"/>
                <a:cs typeface="Arial"/>
              </a:defRPr>
            </a:lvl6pPr>
            <a:lvl7pPr>
              <a:defRPr sz="1275" b="1">
                <a:solidFill>
                  <a:srgbClr val="087E8B"/>
                </a:solidFill>
                <a:latin typeface="Arial"/>
                <a:ea typeface="Arial"/>
                <a:cs typeface="Arial"/>
              </a:defRPr>
            </a:lvl7pPr>
            <a:lvl8pPr>
              <a:defRPr sz="1275" b="1">
                <a:solidFill>
                  <a:srgbClr val="087E8B"/>
                </a:solidFill>
                <a:latin typeface="Arial"/>
                <a:ea typeface="Arial"/>
                <a:cs typeface="Arial"/>
              </a:defRPr>
            </a:lvl8pPr>
            <a:lvl9pPr>
              <a:defRPr sz="1275" b="1">
                <a:solidFill>
                  <a:srgbClr val="087E8B"/>
                </a:solidFill>
                <a:latin typeface="Arial"/>
                <a:ea typeface="Arial"/>
                <a:cs typeface="Arial"/>
              </a:defRPr>
            </a:lvl9pPr>
          </a:lstStyle>
          <a:p xmlns:a="http://schemas.openxmlformats.org/drawingml/2006/main">
            <a:pPr>
              <a:defRPr sz="1275" b="1">
                <a:solidFill>
                  <a:srgbClr val="087E8B"/>
                </a:solidFill>
                <a:latin typeface="Arial"/>
                <a:ea typeface="Arial"/>
                <a:cs typeface="Arial"/>
              </a:defRPr>
            </a:pPr>
            <a:r>
              <a:rPr sz="1275" b="1">
                <a:solidFill>
                  <a:srgbClr val="087E8B"/>
                </a:solidFill>
                <a:latin typeface="Arial"/>
                <a:ea typeface="Arial"/>
                <a:cs typeface="Arial"/>
              </a:rPr>
              <a:t>EMPLOYEE ATTRITION</a:t>
            </a:r>
          </a:p>
        </p:txBody>
      </p:sp>
      <p:sp>
        <p:nvSpPr>
          <p:cNvPr id="3" name="">
            <a:extLst xmlns:a="http://schemas.openxmlformats.org/drawingml/2006/main">
              <a:ext uri="{FF2B5EF4-FFF2-40B4-BE49-F238E27FC236}">
                <a16:creationId xmlns:a16="http://schemas.microsoft.com/office/drawing/2014/main" id="{5DF7BA4E-F95E-48CD-83D3-CFF15C3B54CB}"/>
              </a:ext>
            </a:extLst>
          </p:cNvPr>
          <p:cNvSpPr>
            <a:spLocks xmlns:a="http://schemas.openxmlformats.org/drawingml/2006/main" noGrp="1"/>
          </p:cNvSpPr>
          <p:nvPr/>
        </p:nvSpPr>
        <p:spPr>
          <a:xfrm xmlns:a="http://schemas.openxmlformats.org/drawingml/2006/main">
            <a:off x="495300" y="619125"/>
            <a:ext cx="11201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22C43"/>
                </a:solidFill>
                <a:latin typeface="Arial"/>
                <a:ea typeface="Arial"/>
                <a:cs typeface="Arial"/>
              </a:defRPr>
            </a:defPPr>
            <a:lvl1pPr>
              <a:defRPr sz="3300" b="1">
                <a:solidFill>
                  <a:srgbClr val="122C43"/>
                </a:solidFill>
                <a:latin typeface="Arial"/>
                <a:ea typeface="Arial"/>
                <a:cs typeface="Arial"/>
              </a:defRPr>
            </a:lvl1pPr>
            <a:lvl2pPr>
              <a:defRPr sz="3300" b="1">
                <a:solidFill>
                  <a:srgbClr val="122C43"/>
                </a:solidFill>
                <a:latin typeface="Arial"/>
                <a:ea typeface="Arial"/>
                <a:cs typeface="Arial"/>
              </a:defRPr>
            </a:lvl2pPr>
            <a:lvl3pPr>
              <a:defRPr sz="3300" b="1">
                <a:solidFill>
                  <a:srgbClr val="122C43"/>
                </a:solidFill>
                <a:latin typeface="Arial"/>
                <a:ea typeface="Arial"/>
                <a:cs typeface="Arial"/>
              </a:defRPr>
            </a:lvl3pPr>
            <a:lvl4pPr>
              <a:defRPr sz="3300" b="1">
                <a:solidFill>
                  <a:srgbClr val="122C43"/>
                </a:solidFill>
                <a:latin typeface="Arial"/>
                <a:ea typeface="Arial"/>
                <a:cs typeface="Arial"/>
              </a:defRPr>
            </a:lvl4pPr>
            <a:lvl5pPr>
              <a:defRPr sz="3300" b="1">
                <a:solidFill>
                  <a:srgbClr val="122C43"/>
                </a:solidFill>
                <a:latin typeface="Arial"/>
                <a:ea typeface="Arial"/>
                <a:cs typeface="Arial"/>
              </a:defRPr>
            </a:lvl5pPr>
            <a:lvl6pPr>
              <a:defRPr sz="3300" b="1">
                <a:solidFill>
                  <a:srgbClr val="122C43"/>
                </a:solidFill>
                <a:latin typeface="Arial"/>
                <a:ea typeface="Arial"/>
                <a:cs typeface="Arial"/>
              </a:defRPr>
            </a:lvl6pPr>
            <a:lvl7pPr>
              <a:defRPr sz="3300" b="1">
                <a:solidFill>
                  <a:srgbClr val="122C43"/>
                </a:solidFill>
                <a:latin typeface="Arial"/>
                <a:ea typeface="Arial"/>
                <a:cs typeface="Arial"/>
              </a:defRPr>
            </a:lvl7pPr>
            <a:lvl8pPr>
              <a:defRPr sz="3300" b="1">
                <a:solidFill>
                  <a:srgbClr val="122C43"/>
                </a:solidFill>
                <a:latin typeface="Arial"/>
                <a:ea typeface="Arial"/>
                <a:cs typeface="Arial"/>
              </a:defRPr>
            </a:lvl8pPr>
            <a:lvl9pPr>
              <a:defRPr sz="3300" b="1">
                <a:solidFill>
                  <a:srgbClr val="122C43"/>
                </a:solidFill>
                <a:latin typeface="Arial"/>
                <a:ea typeface="Arial"/>
                <a:cs typeface="Arial"/>
              </a:defRPr>
            </a:lvl9pPr>
          </a:lstStyle>
          <a:p xmlns:a="http://schemas.openxmlformats.org/drawingml/2006/main">
            <a:pPr>
              <a:defRPr sz="3300" b="1">
                <a:solidFill>
                  <a:srgbClr val="122C43"/>
                </a:solidFill>
                <a:latin typeface="Arial"/>
                <a:ea typeface="Arial"/>
                <a:cs typeface="Arial"/>
              </a:defRPr>
            </a:pPr>
            <a:r>
              <a:rPr sz="3300" b="1">
                <a:solidFill>
                  <a:srgbClr val="122C43"/>
                </a:solidFill>
                <a:latin typeface="Arial"/>
                <a:ea typeface="Arial"/>
                <a:cs typeface="Arial"/>
              </a:rPr>
              <a:t>Business benefit: better use of HR review capacity</a:t>
            </a:r>
          </a:p>
        </p:txBody>
      </p:sp>
      <p:sp>
        <p:nvSpPr>
          <p:cNvPr id="4" name="">
            <a:extLst xmlns:a="http://schemas.openxmlformats.org/drawingml/2006/main">
              <a:ext uri="{FF2B5EF4-FFF2-40B4-BE49-F238E27FC236}">
                <a16:creationId xmlns:a16="http://schemas.microsoft.com/office/drawing/2014/main" id="{F37553A0-54DB-4B43-8447-6F870BE4598B}"/>
              </a:ext>
            </a:extLst>
          </p:cNvPr>
          <p:cNvSpPr>
            <a:spLocks xmlns:a="http://schemas.openxmlformats.org/drawingml/2006/main" noGrp="1"/>
          </p:cNvSpPr>
          <p:nvPr/>
        </p:nvSpPr>
        <p:spPr>
          <a:xfrm xmlns:a="http://schemas.openxmlformats.org/drawingml/2006/main">
            <a:off x="495300" y="1219200"/>
            <a:ext cx="11201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26879"/>
                </a:solidFill>
                <a:latin typeface="Arial"/>
                <a:ea typeface="Arial"/>
                <a:cs typeface="Arial"/>
              </a:defRPr>
            </a:defPPr>
            <a:lvl1pPr>
              <a:defRPr sz="1725" b="0">
                <a:solidFill>
                  <a:srgbClr val="526879"/>
                </a:solidFill>
                <a:latin typeface="Arial"/>
                <a:ea typeface="Arial"/>
                <a:cs typeface="Arial"/>
              </a:defRPr>
            </a:lvl1pPr>
            <a:lvl2pPr>
              <a:defRPr sz="1725" b="0">
                <a:solidFill>
                  <a:srgbClr val="526879"/>
                </a:solidFill>
                <a:latin typeface="Arial"/>
                <a:ea typeface="Arial"/>
                <a:cs typeface="Arial"/>
              </a:defRPr>
            </a:lvl2pPr>
            <a:lvl3pPr>
              <a:defRPr sz="1725" b="0">
                <a:solidFill>
                  <a:srgbClr val="526879"/>
                </a:solidFill>
                <a:latin typeface="Arial"/>
                <a:ea typeface="Arial"/>
                <a:cs typeface="Arial"/>
              </a:defRPr>
            </a:lvl3pPr>
            <a:lvl4pPr>
              <a:defRPr sz="1725" b="0">
                <a:solidFill>
                  <a:srgbClr val="526879"/>
                </a:solidFill>
                <a:latin typeface="Arial"/>
                <a:ea typeface="Arial"/>
                <a:cs typeface="Arial"/>
              </a:defRPr>
            </a:lvl4pPr>
            <a:lvl5pPr>
              <a:defRPr sz="1725" b="0">
                <a:solidFill>
                  <a:srgbClr val="526879"/>
                </a:solidFill>
                <a:latin typeface="Arial"/>
                <a:ea typeface="Arial"/>
                <a:cs typeface="Arial"/>
              </a:defRPr>
            </a:lvl5pPr>
            <a:lvl6pPr>
              <a:defRPr sz="1725" b="0">
                <a:solidFill>
                  <a:srgbClr val="526879"/>
                </a:solidFill>
                <a:latin typeface="Arial"/>
                <a:ea typeface="Arial"/>
                <a:cs typeface="Arial"/>
              </a:defRPr>
            </a:lvl6pPr>
            <a:lvl7pPr>
              <a:defRPr sz="1725" b="0">
                <a:solidFill>
                  <a:srgbClr val="526879"/>
                </a:solidFill>
                <a:latin typeface="Arial"/>
                <a:ea typeface="Arial"/>
                <a:cs typeface="Arial"/>
              </a:defRPr>
            </a:lvl7pPr>
            <a:lvl8pPr>
              <a:defRPr sz="1725" b="0">
                <a:solidFill>
                  <a:srgbClr val="526879"/>
                </a:solidFill>
                <a:latin typeface="Arial"/>
                <a:ea typeface="Arial"/>
                <a:cs typeface="Arial"/>
              </a:defRPr>
            </a:lvl8pPr>
            <a:lvl9pPr>
              <a:defRPr sz="1725" b="0">
                <a:solidFill>
                  <a:srgbClr val="526879"/>
                </a:solidFill>
                <a:latin typeface="Arial"/>
                <a:ea typeface="Arial"/>
                <a:cs typeface="Arial"/>
              </a:defRPr>
            </a:lvl9pPr>
          </a:lstStyle>
          <a:p xmlns:a="http://schemas.openxmlformats.org/drawingml/2006/main">
            <a:pPr>
              <a:defRPr sz="1725" b="0">
                <a:solidFill>
                  <a:srgbClr val="526879"/>
                </a:solidFill>
                <a:latin typeface="Arial"/>
                <a:ea typeface="Arial"/>
                <a:cs typeface="Arial"/>
              </a:defRPr>
            </a:pPr>
            <a:r>
              <a:rPr sz="1725" b="0">
                <a:solidFill>
                  <a:srgbClr val="526879"/>
                </a:solidFill>
                <a:latin typeface="Arial"/>
                <a:ea typeface="Arial"/>
                <a:cs typeface="Arial"/>
              </a:rPr>
              <a:t>Test set: 1,000 employees, 163 leavers. Thresholds fixed on validation.</a:t>
            </a:r>
          </a:p>
        </p:txBody>
      </p:sp>
      <p:sp>
        <p:nvSpPr>
          <p:cNvPr id="5" name="">
            <a:extLst xmlns:a="http://schemas.openxmlformats.org/drawingml/2006/main">
              <a:ext uri="{FF2B5EF4-FFF2-40B4-BE49-F238E27FC236}">
                <a16:creationId xmlns:a16="http://schemas.microsoft.com/office/drawing/2014/main" id="{E53B716A-F96F-4C38-9378-C0AF6B738F03}"/>
              </a:ext>
            </a:extLst>
          </p:cNvPr>
          <p:cNvSpPr>
            <a:spLocks xmlns:a="http://schemas.openxmlformats.org/drawingml/2006/main" noGrp="1"/>
          </p:cNvSpPr>
          <p:nvPr/>
        </p:nvSpPr>
        <p:spPr>
          <a:xfrm xmlns:a="http://schemas.openxmlformats.org/drawingml/2006/main">
            <a:off x="495300" y="6486525"/>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879"/>
                </a:solidFill>
                <a:latin typeface="Arial"/>
                <a:ea typeface="Arial"/>
                <a:cs typeface="Arial"/>
              </a:defRPr>
            </a:defPPr>
            <a:lvl1pPr>
              <a:defRPr sz="1200" b="0">
                <a:solidFill>
                  <a:srgbClr val="526879"/>
                </a:solidFill>
                <a:latin typeface="Arial"/>
                <a:ea typeface="Arial"/>
                <a:cs typeface="Arial"/>
              </a:defRPr>
            </a:lvl1pPr>
            <a:lvl2pPr>
              <a:defRPr sz="1200" b="0">
                <a:solidFill>
                  <a:srgbClr val="526879"/>
                </a:solidFill>
                <a:latin typeface="Arial"/>
                <a:ea typeface="Arial"/>
                <a:cs typeface="Arial"/>
              </a:defRPr>
            </a:lvl2pPr>
            <a:lvl3pPr>
              <a:defRPr sz="1200" b="0">
                <a:solidFill>
                  <a:srgbClr val="526879"/>
                </a:solidFill>
                <a:latin typeface="Arial"/>
                <a:ea typeface="Arial"/>
                <a:cs typeface="Arial"/>
              </a:defRPr>
            </a:lvl3pPr>
            <a:lvl4pPr>
              <a:defRPr sz="1200" b="0">
                <a:solidFill>
                  <a:srgbClr val="526879"/>
                </a:solidFill>
                <a:latin typeface="Arial"/>
                <a:ea typeface="Arial"/>
                <a:cs typeface="Arial"/>
              </a:defRPr>
            </a:lvl4pPr>
            <a:lvl5pPr>
              <a:defRPr sz="1200" b="0">
                <a:solidFill>
                  <a:srgbClr val="526879"/>
                </a:solidFill>
                <a:latin typeface="Arial"/>
                <a:ea typeface="Arial"/>
                <a:cs typeface="Arial"/>
              </a:defRPr>
            </a:lvl5pPr>
            <a:lvl6pPr>
              <a:defRPr sz="1200" b="0">
                <a:solidFill>
                  <a:srgbClr val="526879"/>
                </a:solidFill>
                <a:latin typeface="Arial"/>
                <a:ea typeface="Arial"/>
                <a:cs typeface="Arial"/>
              </a:defRPr>
            </a:lvl6pPr>
            <a:lvl7pPr>
              <a:defRPr sz="1200" b="0">
                <a:solidFill>
                  <a:srgbClr val="526879"/>
                </a:solidFill>
                <a:latin typeface="Arial"/>
                <a:ea typeface="Arial"/>
                <a:cs typeface="Arial"/>
              </a:defRPr>
            </a:lvl7pPr>
            <a:lvl8pPr>
              <a:defRPr sz="1200" b="0">
                <a:solidFill>
                  <a:srgbClr val="526879"/>
                </a:solidFill>
                <a:latin typeface="Arial"/>
                <a:ea typeface="Arial"/>
                <a:cs typeface="Arial"/>
              </a:defRPr>
            </a:lvl8pPr>
            <a:lvl9pPr>
              <a:defRPr sz="1200" b="0">
                <a:solidFill>
                  <a:srgbClr val="526879"/>
                </a:solidFill>
                <a:latin typeface="Arial"/>
                <a:ea typeface="Arial"/>
                <a:cs typeface="Arial"/>
              </a:defRPr>
            </a:lvl9pPr>
          </a:lstStyle>
          <a:p xmlns:a="http://schemas.openxmlformats.org/drawingml/2006/main">
            <a:pPr>
              <a:defRPr sz="1200" b="0">
                <a:solidFill>
                  <a:srgbClr val="526879"/>
                </a:solidFill>
                <a:latin typeface="Arial"/>
                <a:ea typeface="Arial"/>
                <a:cs typeface="Arial"/>
              </a:defRPr>
            </a:pPr>
            <a:r>
              <a:rPr sz="1200" b="0">
                <a:solidFill>
                  <a:srgbClr val="526879"/>
                </a:solidFill>
                <a:latin typeface="Arial"/>
                <a:ea typeface="Arial"/>
                <a:cs typeface="Arial"/>
              </a:rPr>
              <a:t>Hemanth Kumar Akunuri</a:t>
            </a:r>
          </a:p>
        </p:txBody>
      </p:sp>
      <p:sp>
        <p:nvSpPr>
          <p:cNvPr id="6" name="">
            <a:extLst xmlns:a="http://schemas.openxmlformats.org/drawingml/2006/main">
              <a:ext uri="{FF2B5EF4-FFF2-40B4-BE49-F238E27FC236}">
                <a16:creationId xmlns:a16="http://schemas.microsoft.com/office/drawing/2014/main" id="{A73FAF44-6C0A-4681-A82A-1BEE0C97B6FA}"/>
              </a:ext>
            </a:extLst>
          </p:cNvPr>
          <p:cNvSpPr>
            <a:spLocks xmlns:a="http://schemas.openxmlformats.org/drawingml/2006/main" noGrp="1"/>
          </p:cNvSpPr>
          <p:nvPr/>
        </p:nvSpPr>
        <p:spPr>
          <a:xfrm xmlns:a="http://schemas.openxmlformats.org/drawingml/2006/main">
            <a:off x="10763250" y="6486525"/>
            <a:ext cx="933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879"/>
                </a:solidFill>
                <a:latin typeface="Arial"/>
                <a:ea typeface="Arial"/>
                <a:cs typeface="Arial"/>
              </a:defRPr>
            </a:defPPr>
            <a:lvl1pPr>
              <a:defRPr sz="1200" b="0">
                <a:solidFill>
                  <a:srgbClr val="526879"/>
                </a:solidFill>
                <a:latin typeface="Arial"/>
                <a:ea typeface="Arial"/>
                <a:cs typeface="Arial"/>
              </a:defRPr>
            </a:lvl1pPr>
            <a:lvl2pPr>
              <a:defRPr sz="1200" b="0">
                <a:solidFill>
                  <a:srgbClr val="526879"/>
                </a:solidFill>
                <a:latin typeface="Arial"/>
                <a:ea typeface="Arial"/>
                <a:cs typeface="Arial"/>
              </a:defRPr>
            </a:lvl2pPr>
            <a:lvl3pPr>
              <a:defRPr sz="1200" b="0">
                <a:solidFill>
                  <a:srgbClr val="526879"/>
                </a:solidFill>
                <a:latin typeface="Arial"/>
                <a:ea typeface="Arial"/>
                <a:cs typeface="Arial"/>
              </a:defRPr>
            </a:lvl3pPr>
            <a:lvl4pPr>
              <a:defRPr sz="1200" b="0">
                <a:solidFill>
                  <a:srgbClr val="526879"/>
                </a:solidFill>
                <a:latin typeface="Arial"/>
                <a:ea typeface="Arial"/>
                <a:cs typeface="Arial"/>
              </a:defRPr>
            </a:lvl4pPr>
            <a:lvl5pPr>
              <a:defRPr sz="1200" b="0">
                <a:solidFill>
                  <a:srgbClr val="526879"/>
                </a:solidFill>
                <a:latin typeface="Arial"/>
                <a:ea typeface="Arial"/>
                <a:cs typeface="Arial"/>
              </a:defRPr>
            </a:lvl5pPr>
            <a:lvl6pPr>
              <a:defRPr sz="1200" b="0">
                <a:solidFill>
                  <a:srgbClr val="526879"/>
                </a:solidFill>
                <a:latin typeface="Arial"/>
                <a:ea typeface="Arial"/>
                <a:cs typeface="Arial"/>
              </a:defRPr>
            </a:lvl6pPr>
            <a:lvl7pPr>
              <a:defRPr sz="1200" b="0">
                <a:solidFill>
                  <a:srgbClr val="526879"/>
                </a:solidFill>
                <a:latin typeface="Arial"/>
                <a:ea typeface="Arial"/>
                <a:cs typeface="Arial"/>
              </a:defRPr>
            </a:lvl7pPr>
            <a:lvl8pPr>
              <a:defRPr sz="1200" b="0">
                <a:solidFill>
                  <a:srgbClr val="526879"/>
                </a:solidFill>
                <a:latin typeface="Arial"/>
                <a:ea typeface="Arial"/>
                <a:cs typeface="Arial"/>
              </a:defRPr>
            </a:lvl8pPr>
            <a:lvl9pPr>
              <a:defRPr sz="1200" b="0">
                <a:solidFill>
                  <a:srgbClr val="526879"/>
                </a:solidFill>
                <a:latin typeface="Arial"/>
                <a:ea typeface="Arial"/>
                <a:cs typeface="Arial"/>
              </a:defRPr>
            </a:lvl9pPr>
          </a:lstStyle>
          <a:p xmlns:a="http://schemas.openxmlformats.org/drawingml/2006/main">
            <a:pPr>
              <a:defRPr sz="1200" b="0">
                <a:solidFill>
                  <a:srgbClr val="526879"/>
                </a:solidFill>
                <a:latin typeface="Arial"/>
                <a:ea typeface="Arial"/>
                <a:cs typeface="Arial"/>
              </a:defRPr>
            </a:pPr>
            <a:r>
              <a:rPr sz="1200" b="0">
                <a:solidFill>
                  <a:srgbClr val="526879"/>
                </a:solidFill>
                <a:latin typeface="Arial"/>
                <a:ea typeface="Arial"/>
                <a:cs typeface="Arial"/>
              </a:rPr>
              <a:t>07 / 07</a:t>
            </a:r>
          </a:p>
        </p:txBody>
      </p:sp>
      <p:sp>
        <p:nvSpPr>
          <p:cNvPr id="7" name="">
            <a:extLst xmlns:a="http://schemas.openxmlformats.org/drawingml/2006/main">
              <a:ext uri="{FF2B5EF4-FFF2-40B4-BE49-F238E27FC236}">
                <a16:creationId xmlns:a16="http://schemas.microsoft.com/office/drawing/2014/main" id="{6EB536A2-3E4C-4B62-BFC8-B93837262E2C}"/>
              </a:ext>
            </a:extLst>
          </p:cNvPr>
          <p:cNvSpPr>
            <a:spLocks xmlns:a="http://schemas.openxmlformats.org/drawingml/2006/main" noGrp="1"/>
          </p:cNvSpPr>
          <p:nvPr/>
        </p:nvSpPr>
        <p:spPr>
          <a:xfrm xmlns:a="http://schemas.openxmlformats.org/drawingml/2006/main">
            <a:off x="495300" y="1752600"/>
            <a:ext cx="3333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5025" b="1">
                <a:solidFill>
                  <a:srgbClr val="087E8B"/>
                </a:solidFill>
                <a:latin typeface="Arial"/>
                <a:ea typeface="Arial"/>
                <a:cs typeface="Arial"/>
              </a:defRPr>
            </a:defPPr>
            <a:lvl1pPr>
              <a:defRPr sz="5025" b="1">
                <a:solidFill>
                  <a:srgbClr val="087E8B"/>
                </a:solidFill>
                <a:latin typeface="Arial"/>
                <a:ea typeface="Arial"/>
                <a:cs typeface="Arial"/>
              </a:defRPr>
            </a:lvl1pPr>
            <a:lvl2pPr>
              <a:defRPr sz="5025" b="1">
                <a:solidFill>
                  <a:srgbClr val="087E8B"/>
                </a:solidFill>
                <a:latin typeface="Arial"/>
                <a:ea typeface="Arial"/>
                <a:cs typeface="Arial"/>
              </a:defRPr>
            </a:lvl2pPr>
            <a:lvl3pPr>
              <a:defRPr sz="5025" b="1">
                <a:solidFill>
                  <a:srgbClr val="087E8B"/>
                </a:solidFill>
                <a:latin typeface="Arial"/>
                <a:ea typeface="Arial"/>
                <a:cs typeface="Arial"/>
              </a:defRPr>
            </a:lvl3pPr>
            <a:lvl4pPr>
              <a:defRPr sz="5025" b="1">
                <a:solidFill>
                  <a:srgbClr val="087E8B"/>
                </a:solidFill>
                <a:latin typeface="Arial"/>
                <a:ea typeface="Arial"/>
                <a:cs typeface="Arial"/>
              </a:defRPr>
            </a:lvl4pPr>
            <a:lvl5pPr>
              <a:defRPr sz="5025" b="1">
                <a:solidFill>
                  <a:srgbClr val="087E8B"/>
                </a:solidFill>
                <a:latin typeface="Arial"/>
                <a:ea typeface="Arial"/>
                <a:cs typeface="Arial"/>
              </a:defRPr>
            </a:lvl5pPr>
            <a:lvl6pPr>
              <a:defRPr sz="5025" b="1">
                <a:solidFill>
                  <a:srgbClr val="087E8B"/>
                </a:solidFill>
                <a:latin typeface="Arial"/>
                <a:ea typeface="Arial"/>
                <a:cs typeface="Arial"/>
              </a:defRPr>
            </a:lvl6pPr>
            <a:lvl7pPr>
              <a:defRPr sz="5025" b="1">
                <a:solidFill>
                  <a:srgbClr val="087E8B"/>
                </a:solidFill>
                <a:latin typeface="Arial"/>
                <a:ea typeface="Arial"/>
                <a:cs typeface="Arial"/>
              </a:defRPr>
            </a:lvl7pPr>
            <a:lvl8pPr>
              <a:defRPr sz="5025" b="1">
                <a:solidFill>
                  <a:srgbClr val="087E8B"/>
                </a:solidFill>
                <a:latin typeface="Arial"/>
                <a:ea typeface="Arial"/>
                <a:cs typeface="Arial"/>
              </a:defRPr>
            </a:lvl8pPr>
            <a:lvl9pPr>
              <a:defRPr sz="5025" b="1">
                <a:solidFill>
                  <a:srgbClr val="087E8B"/>
                </a:solidFill>
                <a:latin typeface="Arial"/>
                <a:ea typeface="Arial"/>
                <a:cs typeface="Arial"/>
              </a:defRPr>
            </a:lvl9pPr>
          </a:lstStyle>
          <a:p xmlns:a="http://schemas.openxmlformats.org/drawingml/2006/main">
            <a:pPr>
              <a:defRPr sz="5025" b="1">
                <a:solidFill>
                  <a:srgbClr val="087E8B"/>
                </a:solidFill>
                <a:latin typeface="Arial"/>
                <a:ea typeface="Arial"/>
                <a:cs typeface="Arial"/>
              </a:defRPr>
            </a:pPr>
            <a:r>
              <a:rPr sz="5025" b="1">
                <a:solidFill>
                  <a:srgbClr val="087E8B"/>
                </a:solidFill>
                <a:latin typeface="Arial"/>
                <a:ea typeface="Arial"/>
                <a:cs typeface="Arial"/>
              </a:rPr>
              <a:t>1.90×</a:t>
            </a:r>
          </a:p>
        </p:txBody>
      </p:sp>
      <p:sp>
        <p:nvSpPr>
          <p:cNvPr id="8" name="">
            <a:extLst xmlns:a="http://schemas.openxmlformats.org/drawingml/2006/main">
              <a:ext uri="{FF2B5EF4-FFF2-40B4-BE49-F238E27FC236}">
                <a16:creationId xmlns:a16="http://schemas.microsoft.com/office/drawing/2014/main" id="{09BA7F86-7625-4291-AEA2-C8F5D007765A}"/>
              </a:ext>
            </a:extLst>
          </p:cNvPr>
          <p:cNvSpPr>
            <a:spLocks xmlns:a="http://schemas.openxmlformats.org/drawingml/2006/main" noGrp="1"/>
          </p:cNvSpPr>
          <p:nvPr/>
        </p:nvSpPr>
        <p:spPr>
          <a:xfrm xmlns:a="http://schemas.openxmlformats.org/drawingml/2006/main">
            <a:off x="495300" y="2600325"/>
            <a:ext cx="6572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122C43"/>
                </a:solidFill>
                <a:latin typeface="Arial"/>
                <a:ea typeface="Arial"/>
                <a:cs typeface="Arial"/>
              </a:defRPr>
            </a:defPPr>
            <a:lvl1pPr>
              <a:defRPr sz="2025" b="1">
                <a:solidFill>
                  <a:srgbClr val="122C43"/>
                </a:solidFill>
                <a:latin typeface="Arial"/>
                <a:ea typeface="Arial"/>
                <a:cs typeface="Arial"/>
              </a:defRPr>
            </a:lvl1pPr>
            <a:lvl2pPr>
              <a:defRPr sz="2025" b="1">
                <a:solidFill>
                  <a:srgbClr val="122C43"/>
                </a:solidFill>
                <a:latin typeface="Arial"/>
                <a:ea typeface="Arial"/>
                <a:cs typeface="Arial"/>
              </a:defRPr>
            </a:lvl2pPr>
            <a:lvl3pPr>
              <a:defRPr sz="2025" b="1">
                <a:solidFill>
                  <a:srgbClr val="122C43"/>
                </a:solidFill>
                <a:latin typeface="Arial"/>
                <a:ea typeface="Arial"/>
                <a:cs typeface="Arial"/>
              </a:defRPr>
            </a:lvl3pPr>
            <a:lvl4pPr>
              <a:defRPr sz="2025" b="1">
                <a:solidFill>
                  <a:srgbClr val="122C43"/>
                </a:solidFill>
                <a:latin typeface="Arial"/>
                <a:ea typeface="Arial"/>
                <a:cs typeface="Arial"/>
              </a:defRPr>
            </a:lvl4pPr>
            <a:lvl5pPr>
              <a:defRPr sz="2025" b="1">
                <a:solidFill>
                  <a:srgbClr val="122C43"/>
                </a:solidFill>
                <a:latin typeface="Arial"/>
                <a:ea typeface="Arial"/>
                <a:cs typeface="Arial"/>
              </a:defRPr>
            </a:lvl5pPr>
            <a:lvl6pPr>
              <a:defRPr sz="2025" b="1">
                <a:solidFill>
                  <a:srgbClr val="122C43"/>
                </a:solidFill>
                <a:latin typeface="Arial"/>
                <a:ea typeface="Arial"/>
                <a:cs typeface="Arial"/>
              </a:defRPr>
            </a:lvl6pPr>
            <a:lvl7pPr>
              <a:defRPr sz="2025" b="1">
                <a:solidFill>
                  <a:srgbClr val="122C43"/>
                </a:solidFill>
                <a:latin typeface="Arial"/>
                <a:ea typeface="Arial"/>
                <a:cs typeface="Arial"/>
              </a:defRPr>
            </a:lvl7pPr>
            <a:lvl8pPr>
              <a:defRPr sz="2025" b="1">
                <a:solidFill>
                  <a:srgbClr val="122C43"/>
                </a:solidFill>
                <a:latin typeface="Arial"/>
                <a:ea typeface="Arial"/>
                <a:cs typeface="Arial"/>
              </a:defRPr>
            </a:lvl8pPr>
            <a:lvl9pPr>
              <a:defRPr sz="2025" b="1">
                <a:solidFill>
                  <a:srgbClr val="122C43"/>
                </a:solidFill>
                <a:latin typeface="Arial"/>
                <a:ea typeface="Arial"/>
                <a:cs typeface="Arial"/>
              </a:defRPr>
            </a:lvl9pPr>
          </a:lstStyle>
          <a:p xmlns:a="http://schemas.openxmlformats.org/drawingml/2006/main">
            <a:pPr>
              <a:defRPr sz="2025" b="1">
                <a:solidFill>
                  <a:srgbClr val="122C43"/>
                </a:solidFill>
                <a:latin typeface="Arial"/>
                <a:ea typeface="Arial"/>
                <a:cs typeface="Arial"/>
              </a:defRPr>
            </a:pPr>
            <a:r>
              <a:rPr sz="2025" b="1">
                <a:solidFill>
                  <a:srgbClr val="122C43"/>
                </a:solidFill>
                <a:latin typeface="Arial"/>
                <a:ea typeface="Arial"/>
                <a:cs typeface="Arial"/>
              </a:rPr>
              <a:t>the expected yield from random reviews</a:t>
            </a:r>
          </a:p>
        </p:txBody>
      </p:sp>
      <p:sp>
        <p:nvSpPr>
          <p:cNvPr id="9" name="">
            <a:extLst xmlns:a="http://schemas.openxmlformats.org/drawingml/2006/main">
              <a:ext uri="{FF2B5EF4-FFF2-40B4-BE49-F238E27FC236}">
                <a16:creationId xmlns:a16="http://schemas.microsoft.com/office/drawing/2014/main" id="{98F6CDB3-9DE9-42F8-BD2C-B6A903E0FDDF}"/>
              </a:ext>
            </a:extLst>
          </p:cNvPr>
          <p:cNvSpPr>
            <a:spLocks xmlns:a="http://schemas.openxmlformats.org/drawingml/2006/main" noGrp="1"/>
          </p:cNvSpPr>
          <p:nvPr/>
        </p:nvSpPr>
        <p:spPr>
          <a:xfrm xmlns:a="http://schemas.openxmlformats.org/drawingml/2006/main">
            <a:off x="495300" y="3038475"/>
            <a:ext cx="6810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17334A"/>
                </a:solidFill>
                <a:latin typeface="Arial"/>
                <a:ea typeface="Arial"/>
                <a:cs typeface="Arial"/>
              </a:defRPr>
            </a:defPPr>
            <a:lvl1pPr>
              <a:defRPr sz="1875" b="0">
                <a:solidFill>
                  <a:srgbClr val="17334A"/>
                </a:solidFill>
                <a:latin typeface="Arial"/>
                <a:ea typeface="Arial"/>
                <a:cs typeface="Arial"/>
              </a:defRPr>
            </a:lvl1pPr>
            <a:lvl2pPr>
              <a:defRPr sz="1875" b="0">
                <a:solidFill>
                  <a:srgbClr val="17334A"/>
                </a:solidFill>
                <a:latin typeface="Arial"/>
                <a:ea typeface="Arial"/>
                <a:cs typeface="Arial"/>
              </a:defRPr>
            </a:lvl2pPr>
            <a:lvl3pPr>
              <a:defRPr sz="1875" b="0">
                <a:solidFill>
                  <a:srgbClr val="17334A"/>
                </a:solidFill>
                <a:latin typeface="Arial"/>
                <a:ea typeface="Arial"/>
                <a:cs typeface="Arial"/>
              </a:defRPr>
            </a:lvl3pPr>
            <a:lvl4pPr>
              <a:defRPr sz="1875" b="0">
                <a:solidFill>
                  <a:srgbClr val="17334A"/>
                </a:solidFill>
                <a:latin typeface="Arial"/>
                <a:ea typeface="Arial"/>
                <a:cs typeface="Arial"/>
              </a:defRPr>
            </a:lvl4pPr>
            <a:lvl5pPr>
              <a:defRPr sz="1875" b="0">
                <a:solidFill>
                  <a:srgbClr val="17334A"/>
                </a:solidFill>
                <a:latin typeface="Arial"/>
                <a:ea typeface="Arial"/>
                <a:cs typeface="Arial"/>
              </a:defRPr>
            </a:lvl5pPr>
            <a:lvl6pPr>
              <a:defRPr sz="1875" b="0">
                <a:solidFill>
                  <a:srgbClr val="17334A"/>
                </a:solidFill>
                <a:latin typeface="Arial"/>
                <a:ea typeface="Arial"/>
                <a:cs typeface="Arial"/>
              </a:defRPr>
            </a:lvl6pPr>
            <a:lvl7pPr>
              <a:defRPr sz="1875" b="0">
                <a:solidFill>
                  <a:srgbClr val="17334A"/>
                </a:solidFill>
                <a:latin typeface="Arial"/>
                <a:ea typeface="Arial"/>
                <a:cs typeface="Arial"/>
              </a:defRPr>
            </a:lvl7pPr>
            <a:lvl8pPr>
              <a:defRPr sz="1875" b="0">
                <a:solidFill>
                  <a:srgbClr val="17334A"/>
                </a:solidFill>
                <a:latin typeface="Arial"/>
                <a:ea typeface="Arial"/>
                <a:cs typeface="Arial"/>
              </a:defRPr>
            </a:lvl8pPr>
            <a:lvl9pPr>
              <a:defRPr sz="1875" b="0">
                <a:solidFill>
                  <a:srgbClr val="17334A"/>
                </a:solidFill>
                <a:latin typeface="Arial"/>
                <a:ea typeface="Arial"/>
                <a:cs typeface="Arial"/>
              </a:defRPr>
            </a:lvl9pPr>
          </a:lstStyle>
          <a:p xmlns:a="http://schemas.openxmlformats.org/drawingml/2006/main">
            <a:pPr>
              <a:defRPr sz="1875" b="0">
                <a:solidFill>
                  <a:srgbClr val="17334A"/>
                </a:solidFill>
                <a:latin typeface="Arial"/>
                <a:ea typeface="Arial"/>
                <a:cs typeface="Arial"/>
              </a:defRPr>
            </a:pPr>
            <a:r>
              <a:rPr sz="1875" b="0">
                <a:solidFill>
                  <a:srgbClr val="17334A"/>
                </a:solidFill>
                <a:latin typeface="Arial"/>
                <a:ea typeface="Arial"/>
                <a:cs typeface="Arial"/>
              </a:rPr>
              <a:t>31.0% review yield vs 16.3% test prevalence</a:t>
            </a:r>
          </a:p>
        </p:txBody>
      </p:sp>
      <p:graphicFrame>
        <p:nvGraphicFramePr>
          <p:cNvPr id="10" name="">
            <a:extLst xmlns:a="http://schemas.openxmlformats.org/drawingml/2006/main">
              <a:ext uri="{FF2B5EF4-FFF2-40B4-BE49-F238E27FC236}">
                <a16:creationId xmlns:a16="http://schemas.microsoft.com/office/drawing/2014/main" id="{0D435AC2-CF29-4AE3-B498-18231075E1E2}"/>
              </a:ext>
            </a:extLst>
          </p:cNvPr>
          <p:cNvGraphicFramePr/>
          <p:nvPr/>
        </p:nvGraphicFramePr>
        <p:xfrm>
          <a:off xmlns:a="http://schemas.openxmlformats.org/drawingml/2006/main" x="495300" y="3676650"/>
          <a:ext xmlns:a="http://schemas.openxmlformats.org/drawingml/2006/main" cx="7429500" cy="1371600"/>
        </p:xfrm>
        <a:graphic xmlns:a="http://schemas.openxmlformats.org/drawingml/2006/main">
          <a:graphicData uri="http://schemas.openxmlformats.org/drawingml/2006/table">
            <a:tbl>
              <a:tblPr/>
              <a:tblGrid>
                <a:gridCol w="2667000"/>
                <a:gridCol w="1333500"/>
                <a:gridCol w="2000250"/>
                <a:gridCol w="1428750"/>
              </a:tblGrid>
              <a:tr h="457200">
                <a:tc>
                  <a:txBody>
                    <a:bodyPr lIns="95250" tIns="95250" rIns="95250" bIns="95250"/>
                    <a:lstStyle/>
                    <a:p>
                      <a:r>
                        <a:rPr sz="1725" b="1">
                          <a:solidFill>
                            <a:srgbClr val="FFFFFF"/>
                          </a:solidFill>
                          <a:latin typeface="Arial"/>
                          <a:ea typeface="Arial"/>
                          <a:cs typeface="Arial"/>
                        </a:rPr>
                        <a:t>Frozen review policy</a:t>
                      </a:r>
                    </a:p>
                  </a:txBody>
                  <a:tcPr marL="91440" marR="91440" marT="45720" marB="45720" anchor="ctr">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122C43"/>
                    </a:solidFill>
                  </a:tcPr>
                </a:tc>
                <a:tc>
                  <a:txBody>
                    <a:bodyPr lIns="95250" tIns="95250" rIns="95250" bIns="95250"/>
                    <a:lstStyle/>
                    <a:p>
                      <a:r>
                        <a:rPr sz="1725" b="1">
                          <a:solidFill>
                            <a:srgbClr val="FFFFFF"/>
                          </a:solidFill>
                          <a:latin typeface="Arial"/>
                          <a:ea typeface="Arial"/>
                          <a:cs typeface="Arial"/>
                        </a:rPr>
                        <a:t>Reviews</a:t>
                      </a:r>
                    </a:p>
                  </a:txBody>
                  <a:tcPr marL="91440" marR="91440" marT="45720" marB="45720" anchor="ctr">
                    <a:lnR w="9525">
                      <a:solidFill>
                        <a:srgbClr val="FFFFFF"/>
                      </a:solidFill>
                      <a:prstDash val="solid"/>
                    </a:lnR>
                    <a:lnT w="9525">
                      <a:solidFill>
                        <a:srgbClr val="FFFFFF"/>
                      </a:solidFill>
                      <a:prstDash val="solid"/>
                    </a:lnT>
                    <a:lnB w="9525">
                      <a:solidFill>
                        <a:srgbClr val="FFFFFF"/>
                      </a:solidFill>
                      <a:prstDash val="solid"/>
                    </a:lnB>
                    <a:solidFill>
                      <a:srgbClr val="122C43"/>
                    </a:solidFill>
                  </a:tcPr>
                </a:tc>
                <a:tc>
                  <a:txBody>
                    <a:bodyPr lIns="95250" tIns="95250" rIns="95250" bIns="95250"/>
                    <a:lstStyle/>
                    <a:p>
                      <a:r>
                        <a:rPr sz="1725" b="1">
                          <a:solidFill>
                            <a:srgbClr val="FFFFFF"/>
                          </a:solidFill>
                          <a:latin typeface="Arial"/>
                          <a:ea typeface="Arial"/>
                          <a:cs typeface="Arial"/>
                        </a:rPr>
                        <a:t>Leavers found</a:t>
                      </a:r>
                    </a:p>
                  </a:txBody>
                  <a:tcPr marL="91440" marR="91440" marT="45720" marB="45720" anchor="ctr">
                    <a:lnR w="9525">
                      <a:solidFill>
                        <a:srgbClr val="FFFFFF"/>
                      </a:solidFill>
                      <a:prstDash val="solid"/>
                    </a:lnR>
                    <a:lnT w="9525">
                      <a:solidFill>
                        <a:srgbClr val="FFFFFF"/>
                      </a:solidFill>
                      <a:prstDash val="solid"/>
                    </a:lnT>
                    <a:lnB w="9525">
                      <a:solidFill>
                        <a:srgbClr val="FFFFFF"/>
                      </a:solidFill>
                      <a:prstDash val="solid"/>
                    </a:lnB>
                    <a:solidFill>
                      <a:srgbClr val="122C43"/>
                    </a:solidFill>
                  </a:tcPr>
                </a:tc>
                <a:tc>
                  <a:txBody>
                    <a:bodyPr lIns="95250" tIns="95250" rIns="95250" bIns="95250"/>
                    <a:lstStyle/>
                    <a:p>
                      <a:r>
                        <a:rPr sz="1725" b="1">
                          <a:solidFill>
                            <a:srgbClr val="FFFFFF"/>
                          </a:solidFill>
                          <a:latin typeface="Arial"/>
                          <a:ea typeface="Arial"/>
                          <a:cs typeface="Arial"/>
                        </a:rPr>
                        <a:t>False alerts</a:t>
                      </a:r>
                    </a:p>
                  </a:txBody>
                  <a:tcPr marL="91440" marR="91440" marT="45720" marB="45720" anchor="ctr">
                    <a:lnR w="9525">
                      <a:solidFill>
                        <a:srgbClr val="FFFFFF"/>
                      </a:solidFill>
                      <a:prstDash val="solid"/>
                    </a:lnR>
                    <a:lnT w="9525">
                      <a:solidFill>
                        <a:srgbClr val="FFFFFF"/>
                      </a:solidFill>
                      <a:prstDash val="solid"/>
                    </a:lnT>
                    <a:lnB w="9525">
                      <a:solidFill>
                        <a:srgbClr val="FFFFFF"/>
                      </a:solidFill>
                      <a:prstDash val="solid"/>
                    </a:lnB>
                    <a:solidFill>
                      <a:srgbClr val="122C43"/>
                    </a:solidFill>
                  </a:tcPr>
                </a:tc>
              </a:tr>
              <a:tr h="457200">
                <a:tc>
                  <a:txBody>
                    <a:bodyPr lIns="95250" tIns="95250" rIns="95250" bIns="95250"/>
                    <a:lstStyle/>
                    <a:p>
                      <a:r>
                        <a:rPr sz="1725" b="0">
                          <a:solidFill>
                            <a:srgbClr val="17334A"/>
                          </a:solidFill>
                          <a:latin typeface="Arial"/>
                          <a:ea typeface="Arial"/>
                          <a:cs typeface="Arial"/>
                        </a:rPr>
                        <a:t>Lower workload</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EAF3F4"/>
                    </a:solidFill>
                  </a:tcPr>
                </a:tc>
                <a:tc>
                  <a:txBody>
                    <a:bodyPr lIns="95250" tIns="95250" rIns="95250" bIns="95250"/>
                    <a:lstStyle/>
                    <a:p>
                      <a:r>
                        <a:rPr sz="1725" b="0">
                          <a:solidFill>
                            <a:srgbClr val="17334A"/>
                          </a:solidFill>
                          <a:latin typeface="Arial"/>
                          <a:ea typeface="Arial"/>
                          <a:cs typeface="Arial"/>
                        </a:rPr>
                        <a:t>210</a:t>
                      </a:r>
                    </a:p>
                  </a:txBody>
                  <a:tcPr marL="91440" marR="91440" marT="45720" marB="45720" anchor="ctr">
                    <a:lnR w="9525">
                      <a:solidFill>
                        <a:srgbClr val="FFFFFF"/>
                      </a:solidFill>
                      <a:prstDash val="solid"/>
                    </a:lnR>
                    <a:lnB w="9525">
                      <a:solidFill>
                        <a:srgbClr val="FFFFFF"/>
                      </a:solidFill>
                      <a:prstDash val="solid"/>
                    </a:lnB>
                    <a:solidFill>
                      <a:srgbClr val="EAF3F4"/>
                    </a:solidFill>
                  </a:tcPr>
                </a:tc>
                <a:tc>
                  <a:txBody>
                    <a:bodyPr lIns="95250" tIns="95250" rIns="95250" bIns="95250"/>
                    <a:lstStyle/>
                    <a:p>
                      <a:r>
                        <a:rPr sz="1725" b="0">
                          <a:solidFill>
                            <a:srgbClr val="17334A"/>
                          </a:solidFill>
                          <a:latin typeface="Arial"/>
                          <a:ea typeface="Arial"/>
                          <a:cs typeface="Arial"/>
                        </a:rPr>
                        <a:t>65 / 163</a:t>
                      </a:r>
                    </a:p>
                  </a:txBody>
                  <a:tcPr marL="91440" marR="91440" marT="45720" marB="45720" anchor="ctr">
                    <a:lnR w="9525">
                      <a:solidFill>
                        <a:srgbClr val="FFFFFF"/>
                      </a:solidFill>
                      <a:prstDash val="solid"/>
                    </a:lnR>
                    <a:lnB w="9525">
                      <a:solidFill>
                        <a:srgbClr val="FFFFFF"/>
                      </a:solidFill>
                      <a:prstDash val="solid"/>
                    </a:lnB>
                    <a:solidFill>
                      <a:srgbClr val="EAF3F4"/>
                    </a:solidFill>
                  </a:tcPr>
                </a:tc>
                <a:tc>
                  <a:txBody>
                    <a:bodyPr lIns="95250" tIns="95250" rIns="95250" bIns="95250"/>
                    <a:lstStyle/>
                    <a:p>
                      <a:r>
                        <a:rPr sz="1725" b="0">
                          <a:solidFill>
                            <a:srgbClr val="17334A"/>
                          </a:solidFill>
                          <a:latin typeface="Arial"/>
                          <a:ea typeface="Arial"/>
                          <a:cs typeface="Arial"/>
                        </a:rPr>
                        <a:t>145</a:t>
                      </a:r>
                    </a:p>
                  </a:txBody>
                  <a:tcPr marL="91440" marR="91440" marT="45720" marB="45720" anchor="ctr">
                    <a:lnR w="9525">
                      <a:solidFill>
                        <a:srgbClr val="FFFFFF"/>
                      </a:solidFill>
                      <a:prstDash val="solid"/>
                    </a:lnR>
                    <a:lnB w="9525">
                      <a:solidFill>
                        <a:srgbClr val="FFFFFF"/>
                      </a:solidFill>
                      <a:prstDash val="solid"/>
                    </a:lnB>
                    <a:solidFill>
                      <a:srgbClr val="EAF3F4"/>
                    </a:solidFill>
                  </a:tcPr>
                </a:tc>
              </a:tr>
              <a:tr h="457200">
                <a:tc>
                  <a:txBody>
                    <a:bodyPr lIns="95250" tIns="95250" rIns="95250" bIns="95250"/>
                    <a:lstStyle/>
                    <a:p>
                      <a:r>
                        <a:rPr sz="1725" b="0">
                          <a:solidFill>
                            <a:srgbClr val="17334A"/>
                          </a:solidFill>
                          <a:latin typeface="Arial"/>
                          <a:ea typeface="Arial"/>
                          <a:cs typeface="Arial"/>
                        </a:rPr>
                        <a:t>Higher recall</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FFFFFF"/>
                    </a:solidFill>
                  </a:tcPr>
                </a:tc>
                <a:tc>
                  <a:txBody>
                    <a:bodyPr lIns="95250" tIns="95250" rIns="95250" bIns="95250"/>
                    <a:lstStyle/>
                    <a:p>
                      <a:r>
                        <a:rPr sz="1725" b="0">
                          <a:solidFill>
                            <a:srgbClr val="17334A"/>
                          </a:solidFill>
                          <a:latin typeface="Arial"/>
                          <a:ea typeface="Arial"/>
                          <a:cs typeface="Arial"/>
                        </a:rPr>
                        <a:t>398</a:t>
                      </a:r>
                    </a:p>
                  </a:txBody>
                  <a:tcPr marL="91440" marR="91440" marT="45720" marB="45720" anchor="ctr">
                    <a:lnR w="9525">
                      <a:solidFill>
                        <a:srgbClr val="FFFFFF"/>
                      </a:solidFill>
                      <a:prstDash val="solid"/>
                    </a:lnR>
                    <a:lnB w="9525">
                      <a:solidFill>
                        <a:srgbClr val="FFFFFF"/>
                      </a:solidFill>
                      <a:prstDash val="solid"/>
                    </a:lnB>
                    <a:solidFill>
                      <a:srgbClr val="FFFFFF"/>
                    </a:solidFill>
                  </a:tcPr>
                </a:tc>
                <a:tc>
                  <a:txBody>
                    <a:bodyPr lIns="95250" tIns="95250" rIns="95250" bIns="95250"/>
                    <a:lstStyle/>
                    <a:p>
                      <a:r>
                        <a:rPr sz="1725" b="0">
                          <a:solidFill>
                            <a:srgbClr val="17334A"/>
                          </a:solidFill>
                          <a:latin typeface="Arial"/>
                          <a:ea typeface="Arial"/>
                          <a:cs typeface="Arial"/>
                        </a:rPr>
                        <a:t>107 / 163</a:t>
                      </a:r>
                    </a:p>
                  </a:txBody>
                  <a:tcPr marL="91440" marR="91440" marT="45720" marB="45720" anchor="ctr">
                    <a:lnR w="9525">
                      <a:solidFill>
                        <a:srgbClr val="FFFFFF"/>
                      </a:solidFill>
                      <a:prstDash val="solid"/>
                    </a:lnR>
                    <a:lnB w="9525">
                      <a:solidFill>
                        <a:srgbClr val="FFFFFF"/>
                      </a:solidFill>
                      <a:prstDash val="solid"/>
                    </a:lnB>
                    <a:solidFill>
                      <a:srgbClr val="FFFFFF"/>
                    </a:solidFill>
                  </a:tcPr>
                </a:tc>
                <a:tc>
                  <a:txBody>
                    <a:bodyPr lIns="95250" tIns="95250" rIns="95250" bIns="95250"/>
                    <a:lstStyle/>
                    <a:p>
                      <a:r>
                        <a:rPr sz="1725" b="0">
                          <a:solidFill>
                            <a:srgbClr val="17334A"/>
                          </a:solidFill>
                          <a:latin typeface="Arial"/>
                          <a:ea typeface="Arial"/>
                          <a:cs typeface="Arial"/>
                        </a:rPr>
                        <a:t>291</a:t>
                      </a:r>
                    </a:p>
                  </a:txBody>
                  <a:tcPr marL="91440" marR="91440" marT="45720" marB="45720" anchor="ctr">
                    <a:lnR w="9525">
                      <a:solidFill>
                        <a:srgbClr val="FFFFFF"/>
                      </a:solidFill>
                      <a:prstDash val="solid"/>
                    </a:lnR>
                    <a:lnB w="9525">
                      <a:solidFill>
                        <a:srgbClr val="FFFFFF"/>
                      </a:solidFill>
                      <a:prstDash val="solid"/>
                    </a:lnB>
                    <a:solidFill>
                      <a:srgbClr val="FFFFFF"/>
                    </a:solidFill>
                  </a:tcPr>
                </a:tc>
              </a:tr>
            </a:tbl>
          </a:graphicData>
        </a:graphic>
      </p:graphicFrame>
      <p:sp>
        <p:nvSpPr>
          <p:cNvPr id="11" name="">
            <a:extLst xmlns:a="http://schemas.openxmlformats.org/drawingml/2006/main">
              <a:ext uri="{FF2B5EF4-FFF2-40B4-BE49-F238E27FC236}">
                <a16:creationId xmlns:a16="http://schemas.microsoft.com/office/drawing/2014/main" id="{66E5C44D-F3D0-46FD-A68B-89598E51DFF6}"/>
              </a:ext>
            </a:extLst>
          </p:cNvPr>
          <p:cNvSpPr>
            <a:spLocks xmlns:a="http://schemas.openxmlformats.org/drawingml/2006/main" noGrp="1"/>
          </p:cNvSpPr>
          <p:nvPr/>
        </p:nvSpPr>
        <p:spPr>
          <a:xfrm xmlns:a="http://schemas.openxmlformats.org/drawingml/2006/main">
            <a:off x="495300" y="5305425"/>
            <a:ext cx="476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122C43"/>
                </a:solidFill>
                <a:latin typeface="Arial"/>
                <a:ea typeface="Arial"/>
                <a:cs typeface="Arial"/>
              </a:defRPr>
            </a:defPPr>
            <a:lvl1pPr>
              <a:defRPr sz="2100" b="1">
                <a:solidFill>
                  <a:srgbClr val="122C43"/>
                </a:solidFill>
                <a:latin typeface="Arial"/>
                <a:ea typeface="Arial"/>
                <a:cs typeface="Arial"/>
              </a:defRPr>
            </a:lvl1pPr>
            <a:lvl2pPr>
              <a:defRPr sz="2100" b="1">
                <a:solidFill>
                  <a:srgbClr val="122C43"/>
                </a:solidFill>
                <a:latin typeface="Arial"/>
                <a:ea typeface="Arial"/>
                <a:cs typeface="Arial"/>
              </a:defRPr>
            </a:lvl2pPr>
            <a:lvl3pPr>
              <a:defRPr sz="2100" b="1">
                <a:solidFill>
                  <a:srgbClr val="122C43"/>
                </a:solidFill>
                <a:latin typeface="Arial"/>
                <a:ea typeface="Arial"/>
                <a:cs typeface="Arial"/>
              </a:defRPr>
            </a:lvl3pPr>
            <a:lvl4pPr>
              <a:defRPr sz="2100" b="1">
                <a:solidFill>
                  <a:srgbClr val="122C43"/>
                </a:solidFill>
                <a:latin typeface="Arial"/>
                <a:ea typeface="Arial"/>
                <a:cs typeface="Arial"/>
              </a:defRPr>
            </a:lvl4pPr>
            <a:lvl5pPr>
              <a:defRPr sz="2100" b="1">
                <a:solidFill>
                  <a:srgbClr val="122C43"/>
                </a:solidFill>
                <a:latin typeface="Arial"/>
                <a:ea typeface="Arial"/>
                <a:cs typeface="Arial"/>
              </a:defRPr>
            </a:lvl5pPr>
            <a:lvl6pPr>
              <a:defRPr sz="2100" b="1">
                <a:solidFill>
                  <a:srgbClr val="122C43"/>
                </a:solidFill>
                <a:latin typeface="Arial"/>
                <a:ea typeface="Arial"/>
                <a:cs typeface="Arial"/>
              </a:defRPr>
            </a:lvl6pPr>
            <a:lvl7pPr>
              <a:defRPr sz="2100" b="1">
                <a:solidFill>
                  <a:srgbClr val="122C43"/>
                </a:solidFill>
                <a:latin typeface="Arial"/>
                <a:ea typeface="Arial"/>
                <a:cs typeface="Arial"/>
              </a:defRPr>
            </a:lvl7pPr>
            <a:lvl8pPr>
              <a:defRPr sz="2100" b="1">
                <a:solidFill>
                  <a:srgbClr val="122C43"/>
                </a:solidFill>
                <a:latin typeface="Arial"/>
                <a:ea typeface="Arial"/>
                <a:cs typeface="Arial"/>
              </a:defRPr>
            </a:lvl8pPr>
            <a:lvl9pPr>
              <a:defRPr sz="2100" b="1">
                <a:solidFill>
                  <a:srgbClr val="122C43"/>
                </a:solidFill>
                <a:latin typeface="Arial"/>
                <a:ea typeface="Arial"/>
                <a:cs typeface="Arial"/>
              </a:defRPr>
            </a:lvl9pPr>
          </a:lstStyle>
          <a:p xmlns:a="http://schemas.openxmlformats.org/drawingml/2006/main">
            <a:pPr>
              <a:defRPr sz="2100" b="1">
                <a:solidFill>
                  <a:srgbClr val="122C43"/>
                </a:solidFill>
                <a:latin typeface="Arial"/>
                <a:ea typeface="Arial"/>
                <a:cs typeface="Arial"/>
              </a:defRPr>
            </a:pPr>
            <a:r>
              <a:rPr sz="2100" b="1">
                <a:solidFill>
                  <a:srgbClr val="122C43"/>
                </a:solidFill>
                <a:latin typeface="Arial"/>
                <a:ea typeface="Arial"/>
                <a:cs typeface="Arial"/>
              </a:rPr>
              <a:t>Why logistic regression</a:t>
            </a:r>
          </a:p>
        </p:txBody>
      </p:sp>
      <p:sp>
        <p:nvSpPr>
          <p:cNvPr id="12" name="">
            <a:extLst xmlns:a="http://schemas.openxmlformats.org/drawingml/2006/main">
              <a:ext uri="{FF2B5EF4-FFF2-40B4-BE49-F238E27FC236}">
                <a16:creationId xmlns:a16="http://schemas.microsoft.com/office/drawing/2014/main" id="{2DB585BD-36CF-4CF9-A803-CF63B8F55CEF}"/>
              </a:ext>
            </a:extLst>
          </p:cNvPr>
          <p:cNvSpPr>
            <a:spLocks xmlns:a="http://schemas.openxmlformats.org/drawingml/2006/main" noGrp="1"/>
          </p:cNvSpPr>
          <p:nvPr/>
        </p:nvSpPr>
        <p:spPr>
          <a:xfrm xmlns:a="http://schemas.openxmlformats.org/drawingml/2006/main">
            <a:off x="495300" y="5705475"/>
            <a:ext cx="619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17334A"/>
                </a:solidFill>
                <a:latin typeface="Arial"/>
                <a:ea typeface="Arial"/>
                <a:cs typeface="Arial"/>
              </a:defRPr>
            </a:defPPr>
            <a:lvl1pPr>
              <a:defRPr sz="1800" b="0">
                <a:solidFill>
                  <a:srgbClr val="17334A"/>
                </a:solidFill>
                <a:latin typeface="Arial"/>
                <a:ea typeface="Arial"/>
                <a:cs typeface="Arial"/>
              </a:defRPr>
            </a:lvl1pPr>
            <a:lvl2pPr>
              <a:defRPr sz="1800" b="0">
                <a:solidFill>
                  <a:srgbClr val="17334A"/>
                </a:solidFill>
                <a:latin typeface="Arial"/>
                <a:ea typeface="Arial"/>
                <a:cs typeface="Arial"/>
              </a:defRPr>
            </a:lvl2pPr>
            <a:lvl3pPr>
              <a:defRPr sz="1800" b="0">
                <a:solidFill>
                  <a:srgbClr val="17334A"/>
                </a:solidFill>
                <a:latin typeface="Arial"/>
                <a:ea typeface="Arial"/>
                <a:cs typeface="Arial"/>
              </a:defRPr>
            </a:lvl3pPr>
            <a:lvl4pPr>
              <a:defRPr sz="1800" b="0">
                <a:solidFill>
                  <a:srgbClr val="17334A"/>
                </a:solidFill>
                <a:latin typeface="Arial"/>
                <a:ea typeface="Arial"/>
                <a:cs typeface="Arial"/>
              </a:defRPr>
            </a:lvl4pPr>
            <a:lvl5pPr>
              <a:defRPr sz="1800" b="0">
                <a:solidFill>
                  <a:srgbClr val="17334A"/>
                </a:solidFill>
                <a:latin typeface="Arial"/>
                <a:ea typeface="Arial"/>
                <a:cs typeface="Arial"/>
              </a:defRPr>
            </a:lvl5pPr>
            <a:lvl6pPr>
              <a:defRPr sz="1800" b="0">
                <a:solidFill>
                  <a:srgbClr val="17334A"/>
                </a:solidFill>
                <a:latin typeface="Arial"/>
                <a:ea typeface="Arial"/>
                <a:cs typeface="Arial"/>
              </a:defRPr>
            </a:lvl6pPr>
            <a:lvl7pPr>
              <a:defRPr sz="1800" b="0">
                <a:solidFill>
                  <a:srgbClr val="17334A"/>
                </a:solidFill>
                <a:latin typeface="Arial"/>
                <a:ea typeface="Arial"/>
                <a:cs typeface="Arial"/>
              </a:defRPr>
            </a:lvl7pPr>
            <a:lvl8pPr>
              <a:defRPr sz="1800" b="0">
                <a:solidFill>
                  <a:srgbClr val="17334A"/>
                </a:solidFill>
                <a:latin typeface="Arial"/>
                <a:ea typeface="Arial"/>
                <a:cs typeface="Arial"/>
              </a:defRPr>
            </a:lvl8pPr>
            <a:lvl9pPr>
              <a:defRPr sz="1800" b="0">
                <a:solidFill>
                  <a:srgbClr val="17334A"/>
                </a:solidFill>
                <a:latin typeface="Arial"/>
                <a:ea typeface="Arial"/>
                <a:cs typeface="Arial"/>
              </a:defRPr>
            </a:lvl9pPr>
          </a:lstStyle>
          <a:p xmlns:a="http://schemas.openxmlformats.org/drawingml/2006/main">
            <a:pPr>
              <a:defRPr sz="1800" b="0">
                <a:solidFill>
                  <a:srgbClr val="17334A"/>
                </a:solidFill>
                <a:latin typeface="Arial"/>
                <a:ea typeface="Arial"/>
                <a:cs typeface="Arial"/>
              </a:defRPr>
            </a:pPr>
            <a:r>
              <a:rPr sz="1800" b="0">
                <a:solidFill>
                  <a:srgbClr val="17334A"/>
                </a:solidFill>
                <a:latin typeface="Arial"/>
                <a:ea typeface="Arial"/>
                <a:cs typeface="Arial"/>
              </a:rPr>
              <a:t>Stronger CV AP, 40 weights and a shorter</a:t>
            </a:r>
          </a:p>
          <a:p xmlns:a="http://schemas.openxmlformats.org/drawingml/2006/main">
            <a:pPr>
              <a:defRPr sz="1800" b="0">
                <a:solidFill>
                  <a:srgbClr val="17334A"/>
                </a:solidFill>
                <a:latin typeface="Arial"/>
                <a:ea typeface="Arial"/>
                <a:cs typeface="Arial"/>
              </a:defRPr>
            </a:pPr>
            <a:r>
              <a:rPr sz="1800" b="0">
                <a:solidFill>
                  <a:srgbClr val="17334A"/>
                </a:solidFill>
                <a:latin typeface="Arial"/>
                <a:ea typeface="Arial"/>
                <a:cs typeface="Arial"/>
              </a:rPr>
              <a:t>fit. NN stays as a challenger.</a:t>
            </a:r>
          </a:p>
        </p:txBody>
      </p:sp>
      <p:sp>
        <p:nvSpPr>
          <p:cNvPr id="13" name="">
            <a:extLst xmlns:a="http://schemas.openxmlformats.org/drawingml/2006/main">
              <a:ext uri="{FF2B5EF4-FFF2-40B4-BE49-F238E27FC236}">
                <a16:creationId xmlns:a16="http://schemas.microsoft.com/office/drawing/2014/main" id="{19A620BB-CC39-4AE1-89DB-F9329E050F48}"/>
              </a:ext>
            </a:extLst>
          </p:cNvPr>
          <p:cNvSpPr>
            <a:spLocks xmlns:a="http://schemas.openxmlformats.org/drawingml/2006/main" noGrp="1"/>
          </p:cNvSpPr>
          <p:nvPr/>
        </p:nvSpPr>
        <p:spPr>
          <a:xfrm xmlns:a="http://schemas.openxmlformats.org/drawingml/2006/main">
            <a:off x="7048500" y="5305425"/>
            <a:ext cx="4648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122C43"/>
                </a:solidFill>
                <a:latin typeface="Arial"/>
                <a:ea typeface="Arial"/>
                <a:cs typeface="Arial"/>
              </a:defRPr>
            </a:defPPr>
            <a:lvl1pPr>
              <a:defRPr sz="2100" b="1">
                <a:solidFill>
                  <a:srgbClr val="122C43"/>
                </a:solidFill>
                <a:latin typeface="Arial"/>
                <a:ea typeface="Arial"/>
                <a:cs typeface="Arial"/>
              </a:defRPr>
            </a:lvl1pPr>
            <a:lvl2pPr>
              <a:defRPr sz="2100" b="1">
                <a:solidFill>
                  <a:srgbClr val="122C43"/>
                </a:solidFill>
                <a:latin typeface="Arial"/>
                <a:ea typeface="Arial"/>
                <a:cs typeface="Arial"/>
              </a:defRPr>
            </a:lvl2pPr>
            <a:lvl3pPr>
              <a:defRPr sz="2100" b="1">
                <a:solidFill>
                  <a:srgbClr val="122C43"/>
                </a:solidFill>
                <a:latin typeface="Arial"/>
                <a:ea typeface="Arial"/>
                <a:cs typeface="Arial"/>
              </a:defRPr>
            </a:lvl3pPr>
            <a:lvl4pPr>
              <a:defRPr sz="2100" b="1">
                <a:solidFill>
                  <a:srgbClr val="122C43"/>
                </a:solidFill>
                <a:latin typeface="Arial"/>
                <a:ea typeface="Arial"/>
                <a:cs typeface="Arial"/>
              </a:defRPr>
            </a:lvl4pPr>
            <a:lvl5pPr>
              <a:defRPr sz="2100" b="1">
                <a:solidFill>
                  <a:srgbClr val="122C43"/>
                </a:solidFill>
                <a:latin typeface="Arial"/>
                <a:ea typeface="Arial"/>
                <a:cs typeface="Arial"/>
              </a:defRPr>
            </a:lvl5pPr>
            <a:lvl6pPr>
              <a:defRPr sz="2100" b="1">
                <a:solidFill>
                  <a:srgbClr val="122C43"/>
                </a:solidFill>
                <a:latin typeface="Arial"/>
                <a:ea typeface="Arial"/>
                <a:cs typeface="Arial"/>
              </a:defRPr>
            </a:lvl6pPr>
            <a:lvl7pPr>
              <a:defRPr sz="2100" b="1">
                <a:solidFill>
                  <a:srgbClr val="122C43"/>
                </a:solidFill>
                <a:latin typeface="Arial"/>
                <a:ea typeface="Arial"/>
                <a:cs typeface="Arial"/>
              </a:defRPr>
            </a:lvl7pPr>
            <a:lvl8pPr>
              <a:defRPr sz="2100" b="1">
                <a:solidFill>
                  <a:srgbClr val="122C43"/>
                </a:solidFill>
                <a:latin typeface="Arial"/>
                <a:ea typeface="Arial"/>
                <a:cs typeface="Arial"/>
              </a:defRPr>
            </a:lvl8pPr>
            <a:lvl9pPr>
              <a:defRPr sz="2100" b="1">
                <a:solidFill>
                  <a:srgbClr val="122C43"/>
                </a:solidFill>
                <a:latin typeface="Arial"/>
                <a:ea typeface="Arial"/>
                <a:cs typeface="Arial"/>
              </a:defRPr>
            </a:lvl9pPr>
          </a:lstStyle>
          <a:p xmlns:a="http://schemas.openxmlformats.org/drawingml/2006/main">
            <a:pPr>
              <a:defRPr sz="2100" b="1">
                <a:solidFill>
                  <a:srgbClr val="122C43"/>
                </a:solidFill>
                <a:latin typeface="Arial"/>
                <a:ea typeface="Arial"/>
                <a:cs typeface="Arial"/>
              </a:defRPr>
            </a:pPr>
            <a:r>
              <a:rPr sz="2100" b="1">
                <a:solidFill>
                  <a:srgbClr val="122C43"/>
                </a:solidFill>
                <a:latin typeface="Arial"/>
                <a:ea typeface="Arial"/>
                <a:cs typeface="Arial"/>
              </a:rPr>
              <a:t>Value a pilot must verify</a:t>
            </a:r>
          </a:p>
        </p:txBody>
      </p:sp>
      <p:sp>
        <p:nvSpPr>
          <p:cNvPr id="14" name="">
            <a:extLst xmlns:a="http://schemas.openxmlformats.org/drawingml/2006/main">
              <a:ext uri="{FF2B5EF4-FFF2-40B4-BE49-F238E27FC236}">
                <a16:creationId xmlns:a16="http://schemas.microsoft.com/office/drawing/2014/main" id="{91FF4C04-58E1-4D6E-BD15-6FC3884F16A0}"/>
              </a:ext>
            </a:extLst>
          </p:cNvPr>
          <p:cNvSpPr>
            <a:spLocks xmlns:a="http://schemas.openxmlformats.org/drawingml/2006/main" noGrp="1"/>
          </p:cNvSpPr>
          <p:nvPr/>
        </p:nvSpPr>
        <p:spPr>
          <a:xfrm xmlns:a="http://schemas.openxmlformats.org/drawingml/2006/main">
            <a:off x="7048500" y="5705475"/>
            <a:ext cx="4648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17334A"/>
                </a:solidFill>
                <a:latin typeface="Arial"/>
                <a:ea typeface="Arial"/>
                <a:cs typeface="Arial"/>
              </a:defRPr>
            </a:defPPr>
            <a:lvl1pPr>
              <a:defRPr sz="1800" b="0">
                <a:solidFill>
                  <a:srgbClr val="17334A"/>
                </a:solidFill>
                <a:latin typeface="Arial"/>
                <a:ea typeface="Arial"/>
                <a:cs typeface="Arial"/>
              </a:defRPr>
            </a:lvl1pPr>
            <a:lvl2pPr>
              <a:defRPr sz="1800" b="0">
                <a:solidFill>
                  <a:srgbClr val="17334A"/>
                </a:solidFill>
                <a:latin typeface="Arial"/>
                <a:ea typeface="Arial"/>
                <a:cs typeface="Arial"/>
              </a:defRPr>
            </a:lvl2pPr>
            <a:lvl3pPr>
              <a:defRPr sz="1800" b="0">
                <a:solidFill>
                  <a:srgbClr val="17334A"/>
                </a:solidFill>
                <a:latin typeface="Arial"/>
                <a:ea typeface="Arial"/>
                <a:cs typeface="Arial"/>
              </a:defRPr>
            </a:lvl3pPr>
            <a:lvl4pPr>
              <a:defRPr sz="1800" b="0">
                <a:solidFill>
                  <a:srgbClr val="17334A"/>
                </a:solidFill>
                <a:latin typeface="Arial"/>
                <a:ea typeface="Arial"/>
                <a:cs typeface="Arial"/>
              </a:defRPr>
            </a:lvl4pPr>
            <a:lvl5pPr>
              <a:defRPr sz="1800" b="0">
                <a:solidFill>
                  <a:srgbClr val="17334A"/>
                </a:solidFill>
                <a:latin typeface="Arial"/>
                <a:ea typeface="Arial"/>
                <a:cs typeface="Arial"/>
              </a:defRPr>
            </a:lvl5pPr>
            <a:lvl6pPr>
              <a:defRPr sz="1800" b="0">
                <a:solidFill>
                  <a:srgbClr val="17334A"/>
                </a:solidFill>
                <a:latin typeface="Arial"/>
                <a:ea typeface="Arial"/>
                <a:cs typeface="Arial"/>
              </a:defRPr>
            </a:lvl6pPr>
            <a:lvl7pPr>
              <a:defRPr sz="1800" b="0">
                <a:solidFill>
                  <a:srgbClr val="17334A"/>
                </a:solidFill>
                <a:latin typeface="Arial"/>
                <a:ea typeface="Arial"/>
                <a:cs typeface="Arial"/>
              </a:defRPr>
            </a:lvl7pPr>
            <a:lvl8pPr>
              <a:defRPr sz="1800" b="0">
                <a:solidFill>
                  <a:srgbClr val="17334A"/>
                </a:solidFill>
                <a:latin typeface="Arial"/>
                <a:ea typeface="Arial"/>
                <a:cs typeface="Arial"/>
              </a:defRPr>
            </a:lvl8pPr>
            <a:lvl9pPr>
              <a:defRPr sz="1800" b="0">
                <a:solidFill>
                  <a:srgbClr val="17334A"/>
                </a:solidFill>
                <a:latin typeface="Arial"/>
                <a:ea typeface="Arial"/>
                <a:cs typeface="Arial"/>
              </a:defRPr>
            </a:lvl9pPr>
          </a:lstStyle>
          <a:p xmlns:a="http://schemas.openxmlformats.org/drawingml/2006/main">
            <a:pPr>
              <a:defRPr sz="1800" b="0">
                <a:solidFill>
                  <a:srgbClr val="17334A"/>
                </a:solidFill>
                <a:latin typeface="Arial"/>
                <a:ea typeface="Arial"/>
                <a:cs typeface="Arial"/>
              </a:defRPr>
            </a:pPr>
            <a:r>
              <a:rPr sz="1800" b="0">
                <a:solidFill>
                  <a:srgbClr val="17334A"/>
                </a:solidFill>
                <a:latin typeface="Arial"/>
                <a:ea typeface="Arial"/>
                <a:cs typeface="Arial"/>
              </a:rPr>
              <a:t>Fewer avoidable exits and net savings.</a:t>
            </a:r>
          </a:p>
          <a:p xmlns:a="http://schemas.openxmlformats.org/drawingml/2006/main">
            <a:pPr>
              <a:defRPr sz="1800" b="0">
                <a:solidFill>
                  <a:srgbClr val="17334A"/>
                </a:solidFill>
                <a:latin typeface="Arial"/>
                <a:ea typeface="Arial"/>
                <a:cs typeface="Arial"/>
              </a:defRPr>
            </a:pPr>
            <a:r>
              <a:rPr sz="1800" b="0">
                <a:solidFill>
                  <a:srgbClr val="17334A"/>
                </a:solidFill>
                <a:latin typeface="Arial"/>
                <a:ea typeface="Arial"/>
                <a:cs typeface="Arial"/>
              </a:rPr>
              <a:t>Measure retention lift and review costs.</a:t>
            </a:r>
          </a:p>
        </p:txBody>
      </p:sp>
      <p:sp>
        <p:nvSpPr>
          <p:cNvPr id="15" name="">
            <a:extLst xmlns:a="http://schemas.openxmlformats.org/drawingml/2006/main">
              <a:ext uri="{FF2B5EF4-FFF2-40B4-BE49-F238E27FC236}">
                <a16:creationId xmlns:a16="http://schemas.microsoft.com/office/drawing/2014/main" id="{1E183EF6-C7B9-4FC9-B1AD-CA3A27E3FF4D}"/>
              </a:ext>
            </a:extLst>
          </p:cNvPr>
          <p:cNvSpPr>
            <a:spLocks xmlns:a="http://schemas.openxmlformats.org/drawingml/2006/main" noGrp="1"/>
          </p:cNvSpPr>
          <p:nvPr/>
        </p:nvSpPr>
        <p:spPr>
          <a:xfrm xmlns:a="http://schemas.openxmlformats.org/drawingml/2006/main">
            <a:off x="8210550" y="1733550"/>
            <a:ext cx="34861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122C43"/>
                </a:solidFill>
                <a:latin typeface="Arial"/>
                <a:ea typeface="Arial"/>
                <a:cs typeface="Arial"/>
              </a:defRPr>
            </a:defPPr>
            <a:lvl1pPr>
              <a:defRPr sz="2100" b="1">
                <a:solidFill>
                  <a:srgbClr val="122C43"/>
                </a:solidFill>
                <a:latin typeface="Arial"/>
                <a:ea typeface="Arial"/>
                <a:cs typeface="Arial"/>
              </a:defRPr>
            </a:lvl1pPr>
            <a:lvl2pPr>
              <a:defRPr sz="2100" b="1">
                <a:solidFill>
                  <a:srgbClr val="122C43"/>
                </a:solidFill>
                <a:latin typeface="Arial"/>
                <a:ea typeface="Arial"/>
                <a:cs typeface="Arial"/>
              </a:defRPr>
            </a:lvl2pPr>
            <a:lvl3pPr>
              <a:defRPr sz="2100" b="1">
                <a:solidFill>
                  <a:srgbClr val="122C43"/>
                </a:solidFill>
                <a:latin typeface="Arial"/>
                <a:ea typeface="Arial"/>
                <a:cs typeface="Arial"/>
              </a:defRPr>
            </a:lvl3pPr>
            <a:lvl4pPr>
              <a:defRPr sz="2100" b="1">
                <a:solidFill>
                  <a:srgbClr val="122C43"/>
                </a:solidFill>
                <a:latin typeface="Arial"/>
                <a:ea typeface="Arial"/>
                <a:cs typeface="Arial"/>
              </a:defRPr>
            </a:lvl4pPr>
            <a:lvl5pPr>
              <a:defRPr sz="2100" b="1">
                <a:solidFill>
                  <a:srgbClr val="122C43"/>
                </a:solidFill>
                <a:latin typeface="Arial"/>
                <a:ea typeface="Arial"/>
                <a:cs typeface="Arial"/>
              </a:defRPr>
            </a:lvl5pPr>
            <a:lvl6pPr>
              <a:defRPr sz="2100" b="1">
                <a:solidFill>
                  <a:srgbClr val="122C43"/>
                </a:solidFill>
                <a:latin typeface="Arial"/>
                <a:ea typeface="Arial"/>
                <a:cs typeface="Arial"/>
              </a:defRPr>
            </a:lvl6pPr>
            <a:lvl7pPr>
              <a:defRPr sz="2100" b="1">
                <a:solidFill>
                  <a:srgbClr val="122C43"/>
                </a:solidFill>
                <a:latin typeface="Arial"/>
                <a:ea typeface="Arial"/>
                <a:cs typeface="Arial"/>
              </a:defRPr>
            </a:lvl7pPr>
            <a:lvl8pPr>
              <a:defRPr sz="2100" b="1">
                <a:solidFill>
                  <a:srgbClr val="122C43"/>
                </a:solidFill>
                <a:latin typeface="Arial"/>
                <a:ea typeface="Arial"/>
                <a:cs typeface="Arial"/>
              </a:defRPr>
            </a:lvl8pPr>
            <a:lvl9pPr>
              <a:defRPr sz="2100" b="1">
                <a:solidFill>
                  <a:srgbClr val="122C43"/>
                </a:solidFill>
                <a:latin typeface="Arial"/>
                <a:ea typeface="Arial"/>
                <a:cs typeface="Arial"/>
              </a:defRPr>
            </a:lvl9pPr>
          </a:lstStyle>
          <a:p xmlns:a="http://schemas.openxmlformats.org/drawingml/2006/main">
            <a:pPr>
              <a:defRPr sz="2100" b="1">
                <a:solidFill>
                  <a:srgbClr val="122C43"/>
                </a:solidFill>
                <a:latin typeface="Arial"/>
                <a:ea typeface="Arial"/>
                <a:cs typeface="Arial"/>
              </a:defRPr>
            </a:pPr>
            <a:r>
              <a:rPr sz="2100" b="1">
                <a:solidFill>
                  <a:srgbClr val="122C43"/>
                </a:solidFill>
                <a:latin typeface="Arial"/>
                <a:ea typeface="Arial"/>
                <a:cs typeface="Arial"/>
              </a:rPr>
              <a:t>Equal review budget</a:t>
            </a:r>
          </a:p>
        </p:txBody>
      </p:sp>
      <p:sp>
        <p:nvSpPr>
          <p:cNvPr id="16" name="">
            <a:extLst xmlns:a="http://schemas.openxmlformats.org/drawingml/2006/main">
              <a:ext uri="{FF2B5EF4-FFF2-40B4-BE49-F238E27FC236}">
                <a16:creationId xmlns:a16="http://schemas.microsoft.com/office/drawing/2014/main" id="{9BB16396-BEB6-476F-9B67-713FDB6E70D5}"/>
              </a:ext>
            </a:extLst>
          </p:cNvPr>
          <p:cNvSpPr>
            <a:spLocks xmlns:a="http://schemas.openxmlformats.org/drawingml/2006/main" noGrp="1"/>
          </p:cNvSpPr>
          <p:nvPr/>
        </p:nvSpPr>
        <p:spPr>
          <a:xfrm xmlns:a="http://schemas.openxmlformats.org/drawingml/2006/main">
            <a:off x="8210550" y="2171700"/>
            <a:ext cx="34861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087E8B"/>
                </a:solidFill>
                <a:latin typeface="Arial"/>
                <a:ea typeface="Arial"/>
                <a:cs typeface="Arial"/>
              </a:defRPr>
            </a:defPPr>
            <a:lvl1pPr>
              <a:defRPr sz="3450" b="1">
                <a:solidFill>
                  <a:srgbClr val="087E8B"/>
                </a:solidFill>
                <a:latin typeface="Arial"/>
                <a:ea typeface="Arial"/>
                <a:cs typeface="Arial"/>
              </a:defRPr>
            </a:lvl1pPr>
            <a:lvl2pPr>
              <a:defRPr sz="3450" b="1">
                <a:solidFill>
                  <a:srgbClr val="087E8B"/>
                </a:solidFill>
                <a:latin typeface="Arial"/>
                <a:ea typeface="Arial"/>
                <a:cs typeface="Arial"/>
              </a:defRPr>
            </a:lvl2pPr>
            <a:lvl3pPr>
              <a:defRPr sz="3450" b="1">
                <a:solidFill>
                  <a:srgbClr val="087E8B"/>
                </a:solidFill>
                <a:latin typeface="Arial"/>
                <a:ea typeface="Arial"/>
                <a:cs typeface="Arial"/>
              </a:defRPr>
            </a:lvl3pPr>
            <a:lvl4pPr>
              <a:defRPr sz="3450" b="1">
                <a:solidFill>
                  <a:srgbClr val="087E8B"/>
                </a:solidFill>
                <a:latin typeface="Arial"/>
                <a:ea typeface="Arial"/>
                <a:cs typeface="Arial"/>
              </a:defRPr>
            </a:lvl4pPr>
            <a:lvl5pPr>
              <a:defRPr sz="3450" b="1">
                <a:solidFill>
                  <a:srgbClr val="087E8B"/>
                </a:solidFill>
                <a:latin typeface="Arial"/>
                <a:ea typeface="Arial"/>
                <a:cs typeface="Arial"/>
              </a:defRPr>
            </a:lvl5pPr>
            <a:lvl6pPr>
              <a:defRPr sz="3450" b="1">
                <a:solidFill>
                  <a:srgbClr val="087E8B"/>
                </a:solidFill>
                <a:latin typeface="Arial"/>
                <a:ea typeface="Arial"/>
                <a:cs typeface="Arial"/>
              </a:defRPr>
            </a:lvl6pPr>
            <a:lvl7pPr>
              <a:defRPr sz="3450" b="1">
                <a:solidFill>
                  <a:srgbClr val="087E8B"/>
                </a:solidFill>
                <a:latin typeface="Arial"/>
                <a:ea typeface="Arial"/>
                <a:cs typeface="Arial"/>
              </a:defRPr>
            </a:lvl7pPr>
            <a:lvl8pPr>
              <a:defRPr sz="3450" b="1">
                <a:solidFill>
                  <a:srgbClr val="087E8B"/>
                </a:solidFill>
                <a:latin typeface="Arial"/>
                <a:ea typeface="Arial"/>
                <a:cs typeface="Arial"/>
              </a:defRPr>
            </a:lvl8pPr>
            <a:lvl9pPr>
              <a:defRPr sz="3450" b="1">
                <a:solidFill>
                  <a:srgbClr val="087E8B"/>
                </a:solidFill>
                <a:latin typeface="Arial"/>
                <a:ea typeface="Arial"/>
                <a:cs typeface="Arial"/>
              </a:defRPr>
            </a:lvl9pPr>
          </a:lstStyle>
          <a:p xmlns:a="http://schemas.openxmlformats.org/drawingml/2006/main">
            <a:pPr>
              <a:defRPr sz="3450" b="1">
                <a:solidFill>
                  <a:srgbClr val="087E8B"/>
                </a:solidFill>
                <a:latin typeface="Arial"/>
                <a:ea typeface="Arial"/>
                <a:cs typeface="Arial"/>
              </a:defRPr>
            </a:pPr>
            <a:r>
              <a:rPr sz="3450" b="1">
                <a:solidFill>
                  <a:srgbClr val="087E8B"/>
                </a:solidFill>
                <a:latin typeface="Arial"/>
                <a:ea typeface="Arial"/>
                <a:cs typeface="Arial"/>
              </a:rPr>
              <a:t>210 reviews</a:t>
            </a:r>
          </a:p>
        </p:txBody>
      </p:sp>
      <p:sp>
        <p:nvSpPr>
          <p:cNvPr id="17" name="">
            <a:extLst xmlns:a="http://schemas.openxmlformats.org/drawingml/2006/main">
              <a:ext uri="{FF2B5EF4-FFF2-40B4-BE49-F238E27FC236}">
                <a16:creationId xmlns:a16="http://schemas.microsoft.com/office/drawing/2014/main" id="{929572F3-F356-4A98-B877-FE2F02B9FB65}"/>
              </a:ext>
            </a:extLst>
          </p:cNvPr>
          <p:cNvSpPr>
            <a:spLocks xmlns:a="http://schemas.openxmlformats.org/drawingml/2006/main" noGrp="1"/>
          </p:cNvSpPr>
          <p:nvPr/>
        </p:nvSpPr>
        <p:spPr>
          <a:xfrm xmlns:a="http://schemas.openxmlformats.org/drawingml/2006/main">
            <a:off x="8210550" y="2800350"/>
            <a:ext cx="3486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17334A"/>
                </a:solidFill>
                <a:latin typeface="Arial"/>
                <a:ea typeface="Arial"/>
                <a:cs typeface="Arial"/>
              </a:defRPr>
            </a:defPPr>
            <a:lvl1pPr>
              <a:defRPr sz="1725" b="0">
                <a:solidFill>
                  <a:srgbClr val="17334A"/>
                </a:solidFill>
                <a:latin typeface="Arial"/>
                <a:ea typeface="Arial"/>
                <a:cs typeface="Arial"/>
              </a:defRPr>
            </a:lvl1pPr>
            <a:lvl2pPr>
              <a:defRPr sz="1725" b="0">
                <a:solidFill>
                  <a:srgbClr val="17334A"/>
                </a:solidFill>
                <a:latin typeface="Arial"/>
                <a:ea typeface="Arial"/>
                <a:cs typeface="Arial"/>
              </a:defRPr>
            </a:lvl2pPr>
            <a:lvl3pPr>
              <a:defRPr sz="1725" b="0">
                <a:solidFill>
                  <a:srgbClr val="17334A"/>
                </a:solidFill>
                <a:latin typeface="Arial"/>
                <a:ea typeface="Arial"/>
                <a:cs typeface="Arial"/>
              </a:defRPr>
            </a:lvl3pPr>
            <a:lvl4pPr>
              <a:defRPr sz="1725" b="0">
                <a:solidFill>
                  <a:srgbClr val="17334A"/>
                </a:solidFill>
                <a:latin typeface="Arial"/>
                <a:ea typeface="Arial"/>
                <a:cs typeface="Arial"/>
              </a:defRPr>
            </a:lvl4pPr>
            <a:lvl5pPr>
              <a:defRPr sz="1725" b="0">
                <a:solidFill>
                  <a:srgbClr val="17334A"/>
                </a:solidFill>
                <a:latin typeface="Arial"/>
                <a:ea typeface="Arial"/>
                <a:cs typeface="Arial"/>
              </a:defRPr>
            </a:lvl5pPr>
            <a:lvl6pPr>
              <a:defRPr sz="1725" b="0">
                <a:solidFill>
                  <a:srgbClr val="17334A"/>
                </a:solidFill>
                <a:latin typeface="Arial"/>
                <a:ea typeface="Arial"/>
                <a:cs typeface="Arial"/>
              </a:defRPr>
            </a:lvl6pPr>
            <a:lvl7pPr>
              <a:defRPr sz="1725" b="0">
                <a:solidFill>
                  <a:srgbClr val="17334A"/>
                </a:solidFill>
                <a:latin typeface="Arial"/>
                <a:ea typeface="Arial"/>
                <a:cs typeface="Arial"/>
              </a:defRPr>
            </a:lvl7pPr>
            <a:lvl8pPr>
              <a:defRPr sz="1725" b="0">
                <a:solidFill>
                  <a:srgbClr val="17334A"/>
                </a:solidFill>
                <a:latin typeface="Arial"/>
                <a:ea typeface="Arial"/>
                <a:cs typeface="Arial"/>
              </a:defRPr>
            </a:lvl8pPr>
            <a:lvl9pPr>
              <a:defRPr sz="1725" b="0">
                <a:solidFill>
                  <a:srgbClr val="17334A"/>
                </a:solidFill>
                <a:latin typeface="Arial"/>
                <a:ea typeface="Arial"/>
                <a:cs typeface="Arial"/>
              </a:defRPr>
            </a:lvl9pPr>
          </a:lstStyle>
          <a:p xmlns:a="http://schemas.openxmlformats.org/drawingml/2006/main">
            <a:pPr>
              <a:defRPr sz="1725" b="0">
                <a:solidFill>
                  <a:srgbClr val="17334A"/>
                </a:solidFill>
                <a:latin typeface="Arial"/>
                <a:ea typeface="Arial"/>
                <a:cs typeface="Arial"/>
              </a:defRPr>
            </a:pPr>
            <a:r>
              <a:rPr sz="1725" b="0">
                <a:solidFill>
                  <a:srgbClr val="17334A"/>
                </a:solidFill>
                <a:latin typeface="Arial"/>
                <a:ea typeface="Arial"/>
                <a:cs typeface="Arial"/>
              </a:rPr>
              <a:t>out of 1,000 test employees</a:t>
            </a:r>
          </a:p>
        </p:txBody>
      </p:sp>
      <p:graphicFrame>
        <p:nvGraphicFramePr>
          <p:cNvPr id="18" name="">
            <a:extLst xmlns:a="http://schemas.openxmlformats.org/drawingml/2006/main">
              <a:ext uri="{FF2B5EF4-FFF2-40B4-BE49-F238E27FC236}">
                <a16:creationId xmlns:a16="http://schemas.microsoft.com/office/drawing/2014/main" id="{6505B23D-DA26-4E69-8707-0CC56FF69110}"/>
              </a:ext>
            </a:extLst>
          </p:cNvPr>
          <p:cNvGraphicFramePr/>
          <p:nvPr/>
        </p:nvGraphicFramePr>
        <p:xfrm>
          <a:off xmlns:a="http://schemas.openxmlformats.org/drawingml/2006/main" x="8210550" y="3228975"/>
          <a:ext xmlns:a="http://schemas.openxmlformats.org/drawingml/2006/main" cx="3486150" cy="1200150"/>
        </p:xfrm>
        <a:graphic xmlns:a="http://schemas.openxmlformats.org/drawingml/2006/main">
          <a:graphicData uri="http://schemas.openxmlformats.org/drawingml/2006/table">
            <a:tbl>
              <a:tblPr/>
              <a:tblGrid>
                <a:gridCol w="2085975"/>
                <a:gridCol w="1400175"/>
              </a:tblGrid>
              <a:tr h="400050">
                <a:tc>
                  <a:txBody>
                    <a:bodyPr lIns="66675" tIns="66675" rIns="66675" bIns="66675"/>
                    <a:lstStyle/>
                    <a:p>
                      <a:r>
                        <a:rPr sz="1575" b="1">
                          <a:solidFill>
                            <a:srgbClr val="FFFFFF"/>
                          </a:solidFill>
                          <a:latin typeface="Arial"/>
                          <a:ea typeface="Arial"/>
                          <a:cs typeface="Arial"/>
                        </a:rPr>
                        <a:t>Review method</a:t>
                      </a:r>
                    </a:p>
                  </a:txBody>
                  <a:tcPr marL="91440" marR="91440" marT="45720" marB="45720" anchor="ctr">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122C43"/>
                    </a:solidFill>
                  </a:tcPr>
                </a:tc>
                <a:tc>
                  <a:txBody>
                    <a:bodyPr lIns="66675" tIns="66675" rIns="66675" bIns="66675"/>
                    <a:lstStyle/>
                    <a:p>
                      <a:r>
                        <a:rPr sz="1575" b="1">
                          <a:solidFill>
                            <a:srgbClr val="FFFFFF"/>
                          </a:solidFill>
                          <a:latin typeface="Arial"/>
                          <a:ea typeface="Arial"/>
                          <a:cs typeface="Arial"/>
                        </a:rPr>
                        <a:t>Leavers found</a:t>
                      </a:r>
                    </a:p>
                  </a:txBody>
                  <a:tcPr marL="91440" marR="91440" marT="45720" marB="45720" anchor="ctr">
                    <a:lnR w="9525">
                      <a:solidFill>
                        <a:srgbClr val="FFFFFF"/>
                      </a:solidFill>
                      <a:prstDash val="solid"/>
                    </a:lnR>
                    <a:lnT w="9525">
                      <a:solidFill>
                        <a:srgbClr val="FFFFFF"/>
                      </a:solidFill>
                      <a:prstDash val="solid"/>
                    </a:lnT>
                    <a:lnB w="9525">
                      <a:solidFill>
                        <a:srgbClr val="FFFFFF"/>
                      </a:solidFill>
                      <a:prstDash val="solid"/>
                    </a:lnB>
                    <a:solidFill>
                      <a:srgbClr val="122C43"/>
                    </a:solidFill>
                  </a:tcPr>
                </a:tc>
              </a:tr>
              <a:tr h="400050">
                <a:tc>
                  <a:txBody>
                    <a:bodyPr lIns="66675" tIns="66675" rIns="66675" bIns="66675"/>
                    <a:lstStyle/>
                    <a:p>
                      <a:r>
                        <a:rPr sz="1575" b="0">
                          <a:solidFill>
                            <a:srgbClr val="17334A"/>
                          </a:solidFill>
                          <a:latin typeface="Arial"/>
                          <a:ea typeface="Arial"/>
                          <a:cs typeface="Arial"/>
                        </a:rPr>
                        <a:t>Random, expected</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EAF3F4"/>
                    </a:solidFill>
                  </a:tcPr>
                </a:tc>
                <a:tc>
                  <a:txBody>
                    <a:bodyPr lIns="66675" tIns="66675" rIns="66675" bIns="66675"/>
                    <a:lstStyle/>
                    <a:p>
                      <a:r>
                        <a:rPr sz="1575" b="0">
                          <a:solidFill>
                            <a:srgbClr val="17334A"/>
                          </a:solidFill>
                          <a:latin typeface="Arial"/>
                          <a:ea typeface="Arial"/>
                          <a:cs typeface="Arial"/>
                        </a:rPr>
                        <a:t>~34</a:t>
                      </a:r>
                    </a:p>
                  </a:txBody>
                  <a:tcPr marL="91440" marR="91440" marT="45720" marB="45720" anchor="ctr">
                    <a:lnR w="9525">
                      <a:solidFill>
                        <a:srgbClr val="FFFFFF"/>
                      </a:solidFill>
                      <a:prstDash val="solid"/>
                    </a:lnR>
                    <a:lnB w="9525">
                      <a:solidFill>
                        <a:srgbClr val="FFFFFF"/>
                      </a:solidFill>
                      <a:prstDash val="solid"/>
                    </a:lnB>
                    <a:solidFill>
                      <a:srgbClr val="EAF3F4"/>
                    </a:solidFill>
                  </a:tcPr>
                </a:tc>
              </a:tr>
              <a:tr h="400050">
                <a:tc>
                  <a:txBody>
                    <a:bodyPr lIns="66675" tIns="66675" rIns="66675" bIns="66675"/>
                    <a:lstStyle/>
                    <a:p>
                      <a:r>
                        <a:rPr sz="1575" b="0">
                          <a:solidFill>
                            <a:srgbClr val="17334A"/>
                          </a:solidFill>
                          <a:latin typeface="Arial"/>
                          <a:ea typeface="Arial"/>
                          <a:cs typeface="Arial"/>
                        </a:rPr>
                        <a:t>Logistic regression</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FFFFFF"/>
                    </a:solidFill>
                  </a:tcPr>
                </a:tc>
                <a:tc>
                  <a:txBody>
                    <a:bodyPr lIns="66675" tIns="66675" rIns="66675" bIns="66675"/>
                    <a:lstStyle/>
                    <a:p>
                      <a:r>
                        <a:rPr sz="1575" b="0">
                          <a:solidFill>
                            <a:srgbClr val="17334A"/>
                          </a:solidFill>
                          <a:latin typeface="Arial"/>
                          <a:ea typeface="Arial"/>
                          <a:cs typeface="Arial"/>
                        </a:rPr>
                        <a:t>65</a:t>
                      </a:r>
                    </a:p>
                  </a:txBody>
                  <a:tcPr marL="91440" marR="91440" marT="45720" marB="45720" anchor="ctr">
                    <a:lnR w="9525">
                      <a:solidFill>
                        <a:srgbClr val="FFFFFF"/>
                      </a:solidFill>
                      <a:prstDash val="solid"/>
                    </a:lnR>
                    <a:lnB w="9525">
                      <a:solidFill>
                        <a:srgbClr val="FFFFFF"/>
                      </a:solidFill>
                      <a:prstDash val="solid"/>
                    </a:lnB>
                    <a:solidFill>
                      <a:srgbClr val="FFFFFF"/>
                    </a:solidFill>
                  </a:tcPr>
                </a:tc>
              </a:tr>
            </a:tbl>
          </a:graphicData>
        </a:graphic>
      </p:graphicFrame>
      <p:sp>
        <p:nvSpPr>
          <p:cNvPr id="19" name="">
            <a:extLst xmlns:a="http://schemas.openxmlformats.org/drawingml/2006/main">
              <a:ext uri="{FF2B5EF4-FFF2-40B4-BE49-F238E27FC236}">
                <a16:creationId xmlns:a16="http://schemas.microsoft.com/office/drawing/2014/main" id="{32A1A06B-22CE-4B8F-A55A-089398FE1094}"/>
              </a:ext>
            </a:extLst>
          </p:cNvPr>
          <p:cNvSpPr>
            <a:spLocks xmlns:a="http://schemas.openxmlformats.org/drawingml/2006/main" noGrp="1"/>
          </p:cNvSpPr>
          <p:nvPr/>
        </p:nvSpPr>
        <p:spPr>
          <a:xfrm xmlns:a="http://schemas.openxmlformats.org/drawingml/2006/main">
            <a:off x="8210550" y="4572000"/>
            <a:ext cx="34861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26879"/>
                </a:solidFill>
                <a:latin typeface="Arial"/>
                <a:ea typeface="Arial"/>
                <a:cs typeface="Arial"/>
              </a:defRPr>
            </a:defPPr>
            <a:lvl1pPr>
              <a:defRPr sz="1650" b="0">
                <a:solidFill>
                  <a:srgbClr val="526879"/>
                </a:solidFill>
                <a:latin typeface="Arial"/>
                <a:ea typeface="Arial"/>
                <a:cs typeface="Arial"/>
              </a:defRPr>
            </a:lvl1pPr>
            <a:lvl2pPr>
              <a:defRPr sz="1650" b="0">
                <a:solidFill>
                  <a:srgbClr val="526879"/>
                </a:solidFill>
                <a:latin typeface="Arial"/>
                <a:ea typeface="Arial"/>
                <a:cs typeface="Arial"/>
              </a:defRPr>
            </a:lvl2pPr>
            <a:lvl3pPr>
              <a:defRPr sz="1650" b="0">
                <a:solidFill>
                  <a:srgbClr val="526879"/>
                </a:solidFill>
                <a:latin typeface="Arial"/>
                <a:ea typeface="Arial"/>
                <a:cs typeface="Arial"/>
              </a:defRPr>
            </a:lvl3pPr>
            <a:lvl4pPr>
              <a:defRPr sz="1650" b="0">
                <a:solidFill>
                  <a:srgbClr val="526879"/>
                </a:solidFill>
                <a:latin typeface="Arial"/>
                <a:ea typeface="Arial"/>
                <a:cs typeface="Arial"/>
              </a:defRPr>
            </a:lvl4pPr>
            <a:lvl5pPr>
              <a:defRPr sz="1650" b="0">
                <a:solidFill>
                  <a:srgbClr val="526879"/>
                </a:solidFill>
                <a:latin typeface="Arial"/>
                <a:ea typeface="Arial"/>
                <a:cs typeface="Arial"/>
              </a:defRPr>
            </a:lvl5pPr>
            <a:lvl6pPr>
              <a:defRPr sz="1650" b="0">
                <a:solidFill>
                  <a:srgbClr val="526879"/>
                </a:solidFill>
                <a:latin typeface="Arial"/>
                <a:ea typeface="Arial"/>
                <a:cs typeface="Arial"/>
              </a:defRPr>
            </a:lvl6pPr>
            <a:lvl7pPr>
              <a:defRPr sz="1650" b="0">
                <a:solidFill>
                  <a:srgbClr val="526879"/>
                </a:solidFill>
                <a:latin typeface="Arial"/>
                <a:ea typeface="Arial"/>
                <a:cs typeface="Arial"/>
              </a:defRPr>
            </a:lvl7pPr>
            <a:lvl8pPr>
              <a:defRPr sz="1650" b="0">
                <a:solidFill>
                  <a:srgbClr val="526879"/>
                </a:solidFill>
                <a:latin typeface="Arial"/>
                <a:ea typeface="Arial"/>
                <a:cs typeface="Arial"/>
              </a:defRPr>
            </a:lvl8pPr>
            <a:lvl9pPr>
              <a:defRPr sz="1650" b="0">
                <a:solidFill>
                  <a:srgbClr val="526879"/>
                </a:solidFill>
                <a:latin typeface="Arial"/>
                <a:ea typeface="Arial"/>
                <a:cs typeface="Arial"/>
              </a:defRPr>
            </a:lvl9pPr>
          </a:lstStyle>
          <a:p xmlns:a="http://schemas.openxmlformats.org/drawingml/2006/main">
            <a:pPr>
              <a:defRPr sz="1650" b="0">
                <a:solidFill>
                  <a:srgbClr val="526879"/>
                </a:solidFill>
                <a:latin typeface="Arial"/>
                <a:ea typeface="Arial"/>
                <a:cs typeface="Arial"/>
              </a:defRPr>
            </a:pPr>
            <a:r>
              <a:rPr sz="1650" b="0">
                <a:solidFill>
                  <a:srgbClr val="526879"/>
                </a:solidFill>
                <a:latin typeface="Arial"/>
                <a:ea typeface="Arial"/>
                <a:cs typeface="Arial"/>
              </a:rPr>
              <a:t>~31 additional leavers identified.</a:t>
            </a:r>
          </a:p>
          <a:p xmlns:a="http://schemas.openxmlformats.org/drawingml/2006/main">
            <a:pPr>
              <a:defRPr sz="1650" b="0">
                <a:solidFill>
                  <a:srgbClr val="526879"/>
                </a:solidFill>
                <a:latin typeface="Arial"/>
                <a:ea typeface="Arial"/>
                <a:cs typeface="Arial"/>
              </a:defRPr>
            </a:pPr>
            <a:r>
              <a:rPr sz="1650" b="0">
                <a:solidFill>
                  <a:srgbClr val="526879"/>
                </a:solidFill>
                <a:latin typeface="Arial"/>
                <a:ea typeface="Arial"/>
                <a:cs typeface="Arial"/>
              </a:rPr>
              <a:t>98 leavers still missed.</a:t>
            </a:r>
          </a:p>
        </p:txBody>
      </p:sp>
    </p:spTree>
    <p:extLst>
      <p:ext uri="{BB962C8B-B14F-4D97-AF65-F5344CB8AC3E}">
        <p14:creationId xmlns:p14="http://schemas.microsoft.com/office/powerpoint/2010/main" val="143716550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2026-10-22T18:18:44.1260000Z</dcterms:created>
  <dcterms:modified xsi:type="dcterms:W3CDTF">2026-10-22T18:18:44.1260000Z</dcterms:modified>
</coreProperties>
</file>